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handoutMasterIdLst>
    <p:handoutMasterId r:id="rId29"/>
  </p:handoutMasterIdLst>
  <p:sldIdLst>
    <p:sldId id="256" r:id="rId3"/>
    <p:sldId id="259" r:id="rId4"/>
    <p:sldId id="257" r:id="rId5"/>
    <p:sldId id="260" r:id="rId6"/>
    <p:sldId id="310" r:id="rId7"/>
    <p:sldId id="311" r:id="rId9"/>
    <p:sldId id="312" r:id="rId10"/>
    <p:sldId id="313" r:id="rId11"/>
    <p:sldId id="314" r:id="rId12"/>
    <p:sldId id="315" r:id="rId13"/>
    <p:sldId id="316" r:id="rId14"/>
    <p:sldId id="317" r:id="rId15"/>
    <p:sldId id="318" r:id="rId16"/>
    <p:sldId id="319" r:id="rId17"/>
    <p:sldId id="320" r:id="rId18"/>
    <p:sldId id="322" r:id="rId19"/>
    <p:sldId id="321" r:id="rId20"/>
    <p:sldId id="323" r:id="rId21"/>
    <p:sldId id="324" r:id="rId22"/>
    <p:sldId id="325" r:id="rId23"/>
    <p:sldId id="326" r:id="rId24"/>
    <p:sldId id="327" r:id="rId25"/>
    <p:sldId id="328" r:id="rId26"/>
    <p:sldId id="329" r:id="rId27"/>
    <p:sldId id="287" r:id="rId28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FF6347"/>
    <a:srgbClr val="FFB1A3"/>
    <a:srgbClr val="B0CFF8"/>
    <a:srgbClr val="F3D34B"/>
    <a:srgbClr val="EE82EE"/>
    <a:srgbClr val="F19352"/>
    <a:srgbClr val="E3F2FD"/>
    <a:srgbClr val="6BA7F2"/>
    <a:srgbClr val="B2B2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510" y="102"/>
      </p:cViewPr>
      <p:guideLst>
        <p:guide orient="horz" pos="2160"/>
        <p:guide pos="3839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" Target="slides/slide1.xml"/><Relationship Id="rId29" Type="http://schemas.openxmlformats.org/officeDocument/2006/relationships/handoutMaster" Target="handoutMasters/handoutMaster1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мещающий образ слайда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Замещающий текст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ru-RU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мещающий образ слайда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Замещающий текст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ru-RU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мещающий образ слайда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Замещающий текст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ru-RU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мещающий образ слайда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Замещающий текст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ru-RU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мещающий образ слайда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Замещающий текст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ru-RU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мещающий образ слайда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Замещающий текст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ru-RU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мещающий образ слайда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Замещающий текст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ru-RU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мещающий образ слайда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Замещающий текст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ru-RU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мещающий образ слайда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Замещающий текст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ru-RU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мещающий образ слайда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Замещающий текст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ru-RU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мещающий образ слайда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Замещающий текст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ru-RU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мещающий образ слайда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Замещающий текст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ru-RU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мещающий образ слайда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Замещающий текст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ru-RU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мещающий образ слайда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Замещающий текст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ru-RU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мещающий образ слайда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Замещающий текст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ru-RU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мещающий образ слайда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Замещающий текст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ru-RU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мещающий образ слайда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Замещающий текст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ru-RU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мещающий образ слайда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Замещающий текст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ru-RU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мещающий образ слайда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Замещающий текст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ru-RU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мещающий образ слайда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Замещающий текст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ru-RU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1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/>
              <a:t>Second level 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3135" cy="811530"/>
          </a:xfrm>
        </p:spPr>
        <p:txBody>
          <a:bodyPr anchor="b">
            <a:no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 smtClean="0">
              <a:sym typeface="+mn-e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kumimoji="0" lang="en-US" sz="28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/>
          </a:p>
          <a:p>
            <a:pPr lvl="3"/>
            <a:r>
              <a:rPr lang="en-US" dirty="0" smtClean="0"/>
              <a:t>Fourth level</a:t>
            </a:r>
            <a:endParaRPr lang="en-US" dirty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None/>
        <a:defRPr sz="2800" b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hyperlink" Target="https://kangax.github.io/compat-table/es6/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6.GIF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8.png"/><Relationship Id="rId8" Type="http://schemas.openxmlformats.org/officeDocument/2006/relationships/tags" Target="../tags/tag6.xml"/><Relationship Id="rId7" Type="http://schemas.openxmlformats.org/officeDocument/2006/relationships/hyperlink" Target="https://roadmap.sh/frontend" TargetMode="Externa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image" Target="../media/image27.jpeg"/><Relationship Id="rId13" Type="http://schemas.openxmlformats.org/officeDocument/2006/relationships/slideLayout" Target="../slideLayouts/slideLayout7.xml"/><Relationship Id="rId12" Type="http://schemas.openxmlformats.org/officeDocument/2006/relationships/tags" Target="../tags/tag8.xml"/><Relationship Id="rId11" Type="http://schemas.openxmlformats.org/officeDocument/2006/relationships/hyperlink" Target="https://roadmap.sh/javascript" TargetMode="External"/><Relationship Id="rId10" Type="http://schemas.openxmlformats.org/officeDocument/2006/relationships/tags" Target="../tags/tag7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0C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8103310" y="629653"/>
            <a:ext cx="3779528" cy="377952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1797" y="426332"/>
            <a:ext cx="6432096" cy="6432096"/>
          </a:xfrm>
          <a:prstGeom prst="rect">
            <a:avLst/>
          </a:prstGeom>
        </p:spPr>
      </p:pic>
      <p:sp>
        <p:nvSpPr>
          <p:cNvPr id="6" name="椭圆 5"/>
          <p:cNvSpPr/>
          <p:nvPr/>
        </p:nvSpPr>
        <p:spPr>
          <a:xfrm>
            <a:off x="536889" y="1140979"/>
            <a:ext cx="809219" cy="809219"/>
          </a:xfrm>
          <a:prstGeom prst="ellipse">
            <a:avLst/>
          </a:prstGeom>
          <a:solidFill>
            <a:srgbClr val="F3D3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black">
          <a:xfrm>
            <a:off x="573405" y="2296795"/>
            <a:ext cx="5485765" cy="169418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no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altLang="ru-RU" sz="60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Введение</a:t>
            </a:r>
            <a:endParaRPr lang="ru-RU" altLang="ru-RU" sz="6000" b="1" dirty="0" smtClean="0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 charset="0"/>
              <a:ea typeface="Calibri" panose="020F0502020204030204" charset="0"/>
              <a:cs typeface="Calibri" panose="020F0502020204030204" charset="0"/>
            </a:endParaRPr>
          </a:p>
          <a:p>
            <a:pPr algn="l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altLang="ru-RU" sz="60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в </a:t>
            </a:r>
            <a:r>
              <a:rPr lang="en-US" altLang="ru-RU" sz="60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JavaScript</a:t>
            </a:r>
            <a:endParaRPr lang="en-US" altLang="ru-RU" sz="6000" b="1" dirty="0" smtClean="0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 charset="0"/>
              <a:ea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30555" y="3990975"/>
            <a:ext cx="1242060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l"/>
            <a:r>
              <a:rPr lang="ru-RU" altLang="zh-CN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Лекция 5</a:t>
            </a:r>
            <a:endParaRPr lang="en-US" altLang="ru-RU" sz="2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charset="0"/>
              <a:ea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0C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467360" y="1977390"/>
            <a:ext cx="5456555" cy="4496435"/>
          </a:xfrm>
          <a:prstGeom prst="roundRect">
            <a:avLst>
              <a:gd name="adj" fmla="val 805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800100" lvl="2" indent="0">
              <a:buNone/>
            </a:pPr>
            <a:r>
              <a:rPr lang="ru-RU" altLang="en-US" sz="2400" b="1" dirty="0">
                <a:solidFill>
                  <a:schemeClr val="tx1"/>
                </a:solidFill>
                <a:sym typeface="+mn-ea"/>
              </a:rPr>
              <a:t>Встраивание в страницу</a:t>
            </a:r>
            <a:endParaRPr lang="en-US" sz="2400" b="1" dirty="0">
              <a:solidFill>
                <a:schemeClr val="tx1"/>
              </a:solidFill>
              <a:sym typeface="+mn-ea"/>
            </a:endParaRPr>
          </a:p>
          <a:p>
            <a:pPr marL="800100" lvl="2" indent="0">
              <a:buNone/>
            </a:pPr>
            <a:endParaRPr lang="en-US" b="1" dirty="0">
              <a:solidFill>
                <a:schemeClr val="tx1"/>
              </a:solidFill>
              <a:sym typeface="+mn-ea"/>
            </a:endParaRPr>
          </a:p>
          <a:p>
            <a:pPr marL="800100" lvl="2" indent="0">
              <a:buNone/>
            </a:pPr>
            <a:endParaRPr lang="en-US" b="1" dirty="0">
              <a:solidFill>
                <a:schemeClr val="tx1"/>
              </a:solidFill>
              <a:sym typeface="+mn-ea"/>
            </a:endParaRPr>
          </a:p>
          <a:p>
            <a:pPr marL="800100" lvl="2" indent="0">
              <a:buNone/>
            </a:pPr>
            <a:endParaRPr lang="en-US" b="1" dirty="0">
              <a:solidFill>
                <a:schemeClr val="tx1"/>
              </a:solidFill>
              <a:sym typeface="+mn-ea"/>
            </a:endParaRPr>
          </a:p>
          <a:p>
            <a:pPr marL="800100" lvl="2" indent="0">
              <a:buNone/>
            </a:pPr>
            <a:endParaRPr lang="en-US" b="1" dirty="0">
              <a:solidFill>
                <a:schemeClr val="tx1"/>
              </a:solidFill>
              <a:sym typeface="+mn-ea"/>
            </a:endParaRPr>
          </a:p>
          <a:p>
            <a:pPr marL="800100" lvl="2" indent="0">
              <a:buNone/>
            </a:pPr>
            <a:r>
              <a:rPr lang="en-US" b="1" dirty="0">
                <a:solidFill>
                  <a:schemeClr val="tx1"/>
                </a:solidFill>
                <a:sym typeface="+mn-ea"/>
              </a:rPr>
              <a:t>&lt;script&gt;</a:t>
            </a:r>
            <a:endParaRPr lang="en-US" b="1" dirty="0">
              <a:solidFill>
                <a:schemeClr val="tx1"/>
              </a:solidFill>
            </a:endParaRPr>
          </a:p>
          <a:p>
            <a:pPr marL="800100" lvl="2" indent="0">
              <a:buNone/>
            </a:pPr>
            <a:r>
              <a:rPr lang="en-US" dirty="0">
                <a:solidFill>
                  <a:schemeClr val="tx1"/>
                </a:solidFill>
                <a:sym typeface="+mn-ea"/>
              </a:rPr>
              <a:t>	console.log("Hello, world!");</a:t>
            </a:r>
            <a:endParaRPr lang="en-US" dirty="0">
              <a:solidFill>
                <a:schemeClr val="tx1"/>
              </a:solidFill>
            </a:endParaRPr>
          </a:p>
          <a:p>
            <a:pPr marL="800100" lvl="2" indent="0">
              <a:buNone/>
            </a:pPr>
            <a:r>
              <a:rPr lang="en-US" b="1" dirty="0">
                <a:solidFill>
                  <a:schemeClr val="tx1"/>
                </a:solidFill>
                <a:sym typeface="+mn-ea"/>
              </a:rPr>
              <a:t>&lt;/script&gt;</a:t>
            </a:r>
            <a:endParaRPr lang="en-US" b="1" dirty="0">
              <a:solidFill>
                <a:schemeClr val="tx1"/>
              </a:solidFill>
              <a:sym typeface="+mn-ea"/>
            </a:endParaRPr>
          </a:p>
          <a:p>
            <a:pPr marL="800100" lvl="2" indent="0">
              <a:buNone/>
            </a:pPr>
            <a:endParaRPr lang="en-US" altLang="ru-RU" dirty="0" smtClean="0">
              <a:solidFill>
                <a:schemeClr val="tx1"/>
              </a:solidFill>
              <a:ea typeface="Calibri" panose="020F0502020204030204" charset="0"/>
              <a:cs typeface="+mn-lt"/>
              <a:sym typeface="+mn-ea"/>
            </a:endParaRPr>
          </a:p>
          <a:p>
            <a:pPr marL="800100" lvl="2" indent="0">
              <a:buNone/>
            </a:pPr>
            <a:endParaRPr lang="en-US" altLang="ru-RU" dirty="0" smtClean="0">
              <a:solidFill>
                <a:schemeClr val="tx1"/>
              </a:solidFill>
              <a:ea typeface="Calibri" panose="020F0502020204030204" charset="0"/>
              <a:cs typeface="+mn-lt"/>
              <a:sym typeface="+mn-ea"/>
            </a:endParaRPr>
          </a:p>
          <a:p>
            <a:pPr marL="800100" lvl="2" indent="0">
              <a:buNone/>
            </a:pPr>
            <a:endParaRPr lang="en-US" altLang="ru-RU" dirty="0" smtClean="0">
              <a:solidFill>
                <a:schemeClr val="tx1"/>
              </a:solidFill>
              <a:ea typeface="Calibri" panose="020F0502020204030204" charset="0"/>
              <a:cs typeface="+mn-lt"/>
              <a:sym typeface="+mn-ea"/>
            </a:endParaRPr>
          </a:p>
          <a:p>
            <a:pPr marL="800100" lvl="2" indent="0">
              <a:buNone/>
            </a:pPr>
            <a:endParaRPr lang="en-US" altLang="ru-RU" dirty="0" smtClean="0">
              <a:solidFill>
                <a:schemeClr val="tx1"/>
              </a:solidFill>
              <a:ea typeface="Calibri" panose="020F0502020204030204" charset="0"/>
              <a:cs typeface="+mn-lt"/>
              <a:sym typeface="+mn-ea"/>
            </a:endParaRPr>
          </a:p>
          <a:p>
            <a:pPr marL="800100" lvl="2" indent="0">
              <a:buNone/>
            </a:pPr>
            <a:endParaRPr lang="en-US" altLang="ru-RU" dirty="0" smtClean="0">
              <a:solidFill>
                <a:schemeClr val="tx1"/>
              </a:solidFill>
              <a:ea typeface="Calibri" panose="020F0502020204030204" charset="0"/>
              <a:cs typeface="+mn-lt"/>
              <a:sym typeface="+mn-ea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467360" y="497840"/>
            <a:ext cx="10920730" cy="87439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ru-RU" altLang="en-US" sz="3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  <a:sym typeface="+mn-ea"/>
              </a:rPr>
              <a:t>Как использовать </a:t>
            </a:r>
            <a:r>
              <a:rPr lang="en-US" altLang="en-US" sz="3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  <a:sym typeface="+mn-ea"/>
              </a:rPr>
              <a:t>JS</a:t>
            </a:r>
            <a:r>
              <a:rPr lang="en-US" altLang="ru-RU" sz="3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  <a:sym typeface="+mn-ea"/>
              </a:rPr>
              <a:t>?</a:t>
            </a:r>
            <a:endParaRPr lang="en-US" altLang="ru-RU" sz="3600" b="1" dirty="0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 charset="0"/>
              <a:ea typeface="Calibri" panose="020F0502020204030204" charset="0"/>
              <a:cs typeface="Calibri" panose="020F0502020204030204" charset="0"/>
              <a:sym typeface="+mn-ea"/>
            </a:endParaRPr>
          </a:p>
        </p:txBody>
      </p:sp>
      <p:sp>
        <p:nvSpPr>
          <p:cNvPr id="3" name="圆角矩形 5"/>
          <p:cNvSpPr/>
          <p:nvPr/>
        </p:nvSpPr>
        <p:spPr>
          <a:xfrm>
            <a:off x="6077585" y="1977390"/>
            <a:ext cx="5310505" cy="4496435"/>
          </a:xfrm>
          <a:prstGeom prst="roundRect">
            <a:avLst>
              <a:gd name="adj" fmla="val 805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800100" lvl="2" algn="l">
              <a:buClrTx/>
              <a:buSzTx/>
              <a:buFontTx/>
            </a:pPr>
            <a:r>
              <a:rPr lang="ru-RU" altLang="en-US" sz="2400" b="1" dirty="0">
                <a:solidFill>
                  <a:schemeClr val="tx1"/>
                </a:solidFill>
                <a:sym typeface="+mn-ea"/>
              </a:rPr>
              <a:t>Отдельный файл </a:t>
            </a:r>
            <a:endParaRPr lang="ru-RU" altLang="en-US" sz="2400" b="1" dirty="0">
              <a:solidFill>
                <a:schemeClr val="tx1"/>
              </a:solidFill>
              <a:sym typeface="+mn-ea"/>
            </a:endParaRPr>
          </a:p>
          <a:p>
            <a:pPr marL="800100" lvl="2" algn="l">
              <a:buClrTx/>
              <a:buSzTx/>
              <a:buFontTx/>
            </a:pPr>
            <a:endParaRPr lang="ru-RU" altLang="en-US" sz="2400" b="1" dirty="0">
              <a:solidFill>
                <a:schemeClr val="tx1"/>
              </a:solidFill>
              <a:sym typeface="+mn-ea"/>
            </a:endParaRPr>
          </a:p>
          <a:p>
            <a:pPr marL="800100" lvl="2" algn="l">
              <a:buClrTx/>
              <a:buSzTx/>
              <a:buFontTx/>
            </a:pPr>
            <a:r>
              <a:rPr lang="ru-RU" altLang="en-US" b="1" i="1" dirty="0">
                <a:solidFill>
                  <a:schemeClr val="tx1"/>
                </a:solidFill>
                <a:sym typeface="+mn-ea"/>
              </a:rPr>
              <a:t>myScript.js:</a:t>
            </a:r>
            <a:endParaRPr lang="ru-RU" altLang="en-US" b="1" i="1" dirty="0">
              <a:solidFill>
                <a:schemeClr val="tx1"/>
              </a:solidFill>
              <a:sym typeface="+mn-ea"/>
            </a:endParaRPr>
          </a:p>
          <a:p>
            <a:pPr marL="800100" lvl="2" algn="l">
              <a:buClrTx/>
              <a:buSzTx/>
              <a:buFontTx/>
            </a:pPr>
            <a:r>
              <a:rPr lang="ru-RU" altLang="en-US" dirty="0">
                <a:solidFill>
                  <a:schemeClr val="tx1"/>
                </a:solidFill>
                <a:sym typeface="+mn-ea"/>
              </a:rPr>
              <a:t>function </a:t>
            </a:r>
            <a:r>
              <a:rPr lang="ru-RU" altLang="en-US" dirty="0">
                <a:solidFill>
                  <a:schemeClr val="tx1"/>
                </a:solidFill>
                <a:sym typeface="+mn-ea"/>
              </a:rPr>
              <a:t>helloWorld</a:t>
            </a:r>
            <a:r>
              <a:rPr lang="ru-RU" altLang="en-US" dirty="0">
                <a:solidFill>
                  <a:schemeClr val="tx1"/>
                </a:solidFill>
                <a:sym typeface="+mn-ea"/>
              </a:rPr>
              <a:t>() {</a:t>
            </a:r>
            <a:endParaRPr lang="ru-RU" altLang="en-US" dirty="0">
              <a:solidFill>
                <a:schemeClr val="tx1"/>
              </a:solidFill>
              <a:sym typeface="+mn-ea"/>
            </a:endParaRPr>
          </a:p>
          <a:p>
            <a:pPr marL="800100" lvl="2" algn="l">
              <a:buClrTx/>
              <a:buSzTx/>
              <a:buFontTx/>
            </a:pPr>
            <a:r>
              <a:rPr lang="ru-RU" altLang="en-US" dirty="0">
                <a:solidFill>
                  <a:schemeClr val="tx1"/>
                </a:solidFill>
                <a:sym typeface="+mn-ea"/>
              </a:rPr>
              <a:t>  console.log("Hello, world!");</a:t>
            </a:r>
            <a:endParaRPr lang="ru-RU" altLang="en-US" dirty="0">
              <a:solidFill>
                <a:schemeClr val="tx1"/>
              </a:solidFill>
              <a:sym typeface="+mn-ea"/>
            </a:endParaRPr>
          </a:p>
          <a:p>
            <a:pPr marL="800100" lvl="2" algn="l">
              <a:buClrTx/>
              <a:buSzTx/>
              <a:buFontTx/>
            </a:pPr>
            <a:r>
              <a:rPr lang="ru-RU" altLang="en-US" dirty="0">
                <a:solidFill>
                  <a:schemeClr val="tx1"/>
                </a:solidFill>
                <a:sym typeface="+mn-ea"/>
              </a:rPr>
              <a:t>}</a:t>
            </a:r>
            <a:endParaRPr lang="ru-RU" altLang="en-US" dirty="0">
              <a:solidFill>
                <a:schemeClr val="tx1"/>
              </a:solidFill>
              <a:sym typeface="+mn-ea"/>
            </a:endParaRPr>
          </a:p>
          <a:p>
            <a:pPr marL="800100" lvl="2" algn="l">
              <a:buClrTx/>
              <a:buSzTx/>
              <a:buFontTx/>
            </a:pPr>
            <a:endParaRPr lang="ru-RU" altLang="en-US" dirty="0">
              <a:solidFill>
                <a:schemeClr val="tx1"/>
              </a:solidFill>
              <a:sym typeface="+mn-ea"/>
            </a:endParaRPr>
          </a:p>
          <a:p>
            <a:pPr marL="800100" lvl="2" algn="l">
              <a:buClrTx/>
              <a:buSzTx/>
              <a:buFontTx/>
            </a:pPr>
            <a:endParaRPr lang="ru-RU" altLang="en-US" dirty="0">
              <a:solidFill>
                <a:schemeClr val="tx1"/>
              </a:solidFill>
              <a:sym typeface="+mn-ea"/>
            </a:endParaRPr>
          </a:p>
          <a:p>
            <a:pPr marL="800100" lvl="2" algn="l">
              <a:buClrTx/>
              <a:buSzTx/>
              <a:buFontTx/>
            </a:pPr>
            <a:r>
              <a:rPr lang="ru-RU" altLang="en-US" b="1" dirty="0">
                <a:solidFill>
                  <a:schemeClr val="tx1"/>
                </a:solidFill>
                <a:sym typeface="+mn-ea"/>
              </a:rPr>
              <a:t>&lt;script </a:t>
            </a:r>
            <a:r>
              <a:rPr lang="ru-RU" altLang="en-US" b="1" dirty="0">
                <a:solidFill>
                  <a:schemeClr val="tx1"/>
                </a:solidFill>
                <a:sym typeface="+mn-ea"/>
              </a:rPr>
              <a:t>src</a:t>
            </a:r>
            <a:r>
              <a:rPr lang="ru-RU" altLang="en-US" b="1" dirty="0">
                <a:solidFill>
                  <a:schemeClr val="tx1"/>
                </a:solidFill>
                <a:sym typeface="+mn-ea"/>
              </a:rPr>
              <a:t>="</a:t>
            </a:r>
            <a:r>
              <a:rPr lang="ru-RU" altLang="en-US" b="1" i="1" dirty="0">
                <a:solidFill>
                  <a:schemeClr val="tx1"/>
                </a:solidFill>
                <a:sym typeface="+mn-ea"/>
              </a:rPr>
              <a:t>myScript.js</a:t>
            </a:r>
            <a:r>
              <a:rPr lang="ru-RU" altLang="en-US" b="1" dirty="0">
                <a:solidFill>
                  <a:schemeClr val="tx1"/>
                </a:solidFill>
                <a:sym typeface="+mn-ea"/>
              </a:rPr>
              <a:t>"&gt;&lt;/script&gt;</a:t>
            </a:r>
            <a:endParaRPr lang="ru-RU" altLang="en-US" dirty="0">
              <a:solidFill>
                <a:schemeClr val="tx1"/>
              </a:solidFill>
              <a:sym typeface="+mn-ea"/>
            </a:endParaRPr>
          </a:p>
          <a:p>
            <a:pPr marL="800100" lvl="2" algn="l">
              <a:buClrTx/>
              <a:buSzTx/>
              <a:buFontTx/>
            </a:pPr>
            <a:r>
              <a:rPr lang="ru-RU" altLang="en-US" b="1" dirty="0">
                <a:solidFill>
                  <a:schemeClr val="tx1"/>
                </a:solidFill>
                <a:sym typeface="+mn-ea"/>
              </a:rPr>
              <a:t>&lt;</a:t>
            </a:r>
            <a:r>
              <a:rPr lang="ru-RU" altLang="en-US" b="1" dirty="0">
                <a:solidFill>
                  <a:schemeClr val="tx1"/>
                </a:solidFill>
                <a:sym typeface="+mn-ea"/>
              </a:rPr>
              <a:t>script&gt;</a:t>
            </a:r>
            <a:endParaRPr lang="ru-RU" altLang="en-US" b="1" dirty="0">
              <a:solidFill>
                <a:schemeClr val="tx1"/>
              </a:solidFill>
              <a:sym typeface="+mn-ea"/>
            </a:endParaRPr>
          </a:p>
          <a:p>
            <a:pPr marL="800100" lvl="2" algn="l">
              <a:buClrTx/>
              <a:buSzTx/>
              <a:buFontTx/>
            </a:pPr>
            <a:r>
              <a:rPr lang="ru-RU" altLang="en-US" dirty="0">
                <a:solidFill>
                  <a:schemeClr val="tx1"/>
                </a:solidFill>
                <a:sym typeface="+mn-ea"/>
              </a:rPr>
              <a:t>	</a:t>
            </a:r>
            <a:r>
              <a:rPr lang="ru-RU" altLang="en-US" dirty="0">
                <a:solidFill>
                  <a:schemeClr val="tx1"/>
                </a:solidFill>
                <a:sym typeface="+mn-ea"/>
              </a:rPr>
              <a:t>helloWorld</a:t>
            </a:r>
            <a:r>
              <a:rPr lang="ru-RU" altLang="en-US" dirty="0">
                <a:solidFill>
                  <a:schemeClr val="tx1"/>
                </a:solidFill>
                <a:sym typeface="+mn-ea"/>
              </a:rPr>
              <a:t>();</a:t>
            </a:r>
            <a:endParaRPr lang="ru-RU" altLang="en-US" dirty="0">
              <a:solidFill>
                <a:schemeClr val="tx1"/>
              </a:solidFill>
              <a:sym typeface="+mn-ea"/>
            </a:endParaRPr>
          </a:p>
          <a:p>
            <a:pPr marL="800100" lvl="2" algn="l">
              <a:buClrTx/>
              <a:buSzTx/>
              <a:buFontTx/>
            </a:pPr>
            <a:r>
              <a:rPr lang="ru-RU" altLang="en-US" b="1" dirty="0">
                <a:solidFill>
                  <a:schemeClr val="tx1"/>
                </a:solidFill>
                <a:sym typeface="+mn-ea"/>
              </a:rPr>
              <a:t>&lt;/script&gt;</a:t>
            </a:r>
            <a:endParaRPr lang="ru-RU" altLang="en-US" b="1" dirty="0">
              <a:solidFill>
                <a:schemeClr val="tx1"/>
              </a:solidFill>
              <a:sym typeface="+mn-ea"/>
            </a:endParaRPr>
          </a:p>
          <a:p>
            <a:pPr lvl="0" algn="l"/>
            <a:endParaRPr lang="ru-RU" altLang="en-US" b="1" dirty="0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0C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5443855" y="2057400"/>
            <a:ext cx="5944235" cy="4174490"/>
          </a:xfrm>
          <a:prstGeom prst="roundRect">
            <a:avLst>
              <a:gd name="adj" fmla="val 805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indent="0" algn="ctr">
              <a:buFont typeface="Arial" panose="020B0604020202020204" pitchFamily="34" charset="0"/>
              <a:buNone/>
            </a:pPr>
            <a:r>
              <a:rPr lang="ru-RU" sz="2000" b="1" dirty="0" smtClean="0">
                <a:solidFill>
                  <a:schemeClr val="tx1"/>
                </a:solidFill>
                <a:sym typeface="+mn-ea"/>
                <a:hlinkClick r:id="rId1" tooltip="" action="ppaction://hlinkfile"/>
              </a:rPr>
              <a:t>Современный стандарт </a:t>
            </a:r>
            <a:r>
              <a:rPr lang="en-US" sz="2000" b="1" dirty="0" smtClean="0">
                <a:solidFill>
                  <a:schemeClr val="tx1"/>
                </a:solidFill>
                <a:sym typeface="+mn-ea"/>
                <a:hlinkClick r:id="rId1" tooltip="" action="ppaction://hlinkfile"/>
              </a:rPr>
              <a:t>ES-2015</a:t>
            </a:r>
            <a:r>
              <a:rPr lang="ru-RU" sz="2000" b="1" dirty="0" smtClean="0">
                <a:solidFill>
                  <a:schemeClr val="tx1"/>
                </a:solidFill>
                <a:sym typeface="+mn-ea"/>
                <a:hlinkClick r:id="rId1" tooltip="" action="ppaction://hlinkfile"/>
              </a:rPr>
              <a:t> (</a:t>
            </a:r>
            <a:r>
              <a:rPr lang="en-US" sz="2000" b="1" dirty="0" smtClean="0">
                <a:solidFill>
                  <a:schemeClr val="tx1"/>
                </a:solidFill>
                <a:sym typeface="+mn-ea"/>
                <a:hlinkClick r:id="rId1" tooltip="" action="ppaction://hlinkfile"/>
              </a:rPr>
              <a:t>ES6)</a:t>
            </a:r>
            <a:endParaRPr lang="en-US" sz="2000" b="1" dirty="0" smtClean="0">
              <a:solidFill>
                <a:schemeClr val="tx1"/>
              </a:solidFill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altLang="ru-RU" sz="2000" b="1" dirty="0" smtClean="0">
              <a:solidFill>
                <a:schemeClr val="tx1"/>
              </a:solidFill>
              <a:ea typeface="Calibri" panose="020F0502020204030204" charset="0"/>
              <a:cs typeface="Calibri" panose="020F0502020204030204" charset="0"/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altLang="ru-RU" sz="2000" b="1" dirty="0" smtClean="0">
              <a:solidFill>
                <a:schemeClr val="tx1"/>
              </a:solidFill>
              <a:ea typeface="Calibri" panose="020F0502020204030204" charset="0"/>
              <a:cs typeface="Calibri" panose="020F0502020204030204" charset="0"/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altLang="ru-RU" sz="2000" b="1" dirty="0" smtClean="0">
              <a:solidFill>
                <a:schemeClr val="tx1"/>
              </a:solidFill>
              <a:ea typeface="Calibri" panose="020F0502020204030204" charset="0"/>
              <a:cs typeface="Calibri" panose="020F0502020204030204" charset="0"/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altLang="ru-RU" sz="2000" b="1" dirty="0" smtClean="0">
              <a:solidFill>
                <a:schemeClr val="tx1"/>
              </a:solidFill>
              <a:ea typeface="Calibri" panose="020F0502020204030204" charset="0"/>
              <a:cs typeface="Calibri" panose="020F0502020204030204" charset="0"/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altLang="ru-RU" sz="2000" b="1" dirty="0" smtClean="0">
              <a:solidFill>
                <a:schemeClr val="tx1"/>
              </a:solidFill>
              <a:ea typeface="Calibri" panose="020F0502020204030204" charset="0"/>
              <a:cs typeface="Calibri" panose="020F0502020204030204" charset="0"/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altLang="ru-RU" sz="2000" b="1" dirty="0" smtClean="0">
              <a:solidFill>
                <a:schemeClr val="tx1"/>
              </a:solidFill>
              <a:ea typeface="Calibri" panose="020F0502020204030204" charset="0"/>
              <a:cs typeface="Calibri" panose="020F0502020204030204" charset="0"/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altLang="ru-RU" sz="2000" b="1" dirty="0" smtClean="0">
              <a:solidFill>
                <a:schemeClr val="tx1"/>
              </a:solidFill>
              <a:ea typeface="Calibri" panose="020F0502020204030204" charset="0"/>
              <a:cs typeface="Calibri" panose="020F0502020204030204" charset="0"/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altLang="ru-RU" sz="2000" b="1" dirty="0" smtClean="0">
              <a:solidFill>
                <a:schemeClr val="tx1"/>
              </a:solidFill>
              <a:ea typeface="Calibri" panose="020F0502020204030204" charset="0"/>
              <a:cs typeface="Calibri" panose="020F0502020204030204" charset="0"/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altLang="ru-RU" sz="2000" b="1" dirty="0" smtClean="0">
              <a:solidFill>
                <a:schemeClr val="tx1"/>
              </a:solidFill>
              <a:ea typeface="Calibri" panose="020F0502020204030204" charset="0"/>
              <a:cs typeface="Calibri" panose="020F0502020204030204" charset="0"/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altLang="ru-RU" sz="2000" b="1" dirty="0" smtClean="0">
              <a:solidFill>
                <a:schemeClr val="tx1"/>
              </a:solidFill>
              <a:ea typeface="Calibri" panose="020F0502020204030204" charset="0"/>
              <a:cs typeface="Calibri" panose="020F0502020204030204" charset="0"/>
              <a:sym typeface="+mn-ea"/>
            </a:endParaRPr>
          </a:p>
        </p:txBody>
      </p:sp>
      <p:sp>
        <p:nvSpPr>
          <p:cNvPr id="7" name="圆角矩形 3"/>
          <p:cNvSpPr/>
          <p:nvPr/>
        </p:nvSpPr>
        <p:spPr>
          <a:xfrm>
            <a:off x="1062355" y="497840"/>
            <a:ext cx="3134360" cy="155892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ru-RU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  <a:sym typeface="+mn-ea"/>
              </a:rPr>
              <a:t>Немного о языке</a:t>
            </a:r>
            <a:endParaRPr lang="ru-RU" sz="4000" b="1" dirty="0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 charset="0"/>
              <a:ea typeface="Calibri" panose="020F0502020204030204" charset="0"/>
              <a:cs typeface="Calibri" panose="020F0502020204030204" charset="0"/>
              <a:sym typeface="+mn-ea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0625" y="3083560"/>
            <a:ext cx="4290695" cy="284353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0C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467360" y="1978025"/>
            <a:ext cx="5456555" cy="4495800"/>
          </a:xfrm>
          <a:prstGeom prst="roundRect">
            <a:avLst>
              <a:gd name="adj" fmla="val 805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b="1" dirty="0" err="1" smtClean="0">
              <a:solidFill>
                <a:schemeClr val="tx1"/>
              </a:solidFill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b="1" dirty="0" err="1" smtClean="0">
              <a:solidFill>
                <a:schemeClr val="tx1"/>
              </a:solidFill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 err="1" smtClean="0">
                <a:solidFill>
                  <a:schemeClr val="tx1"/>
                </a:solidFill>
                <a:sym typeface="+mn-ea"/>
              </a:rPr>
              <a:t>const</a:t>
            </a:r>
            <a:r>
              <a:rPr lang="en-US" sz="2000" b="1" dirty="0" smtClean="0">
                <a:solidFill>
                  <a:schemeClr val="tx1"/>
                </a:solidFill>
                <a:sym typeface="+mn-ea"/>
              </a:rPr>
              <a:t> </a:t>
            </a:r>
            <a:r>
              <a:rPr lang="en-US" sz="2000" dirty="0" smtClean="0">
                <a:solidFill>
                  <a:schemeClr val="tx1"/>
                </a:solidFill>
                <a:sym typeface="+mn-ea"/>
              </a:rPr>
              <a:t>x = 3;</a:t>
            </a:r>
            <a:endParaRPr lang="en-US" sz="2000" dirty="0" smtClean="0">
              <a:solidFill>
                <a:schemeClr val="tx1"/>
              </a:solidFill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 err="1" smtClean="0">
                <a:solidFill>
                  <a:schemeClr val="tx1"/>
                </a:solidFill>
                <a:sym typeface="+mn-ea"/>
              </a:rPr>
              <a:t>var</a:t>
            </a:r>
            <a:r>
              <a:rPr lang="en-US" sz="2000" b="1" dirty="0" smtClean="0">
                <a:solidFill>
                  <a:schemeClr val="tx1"/>
                </a:solidFill>
                <a:sym typeface="+mn-ea"/>
              </a:rPr>
              <a:t> </a:t>
            </a:r>
            <a:r>
              <a:rPr lang="en-US" sz="2000" dirty="0" smtClean="0">
                <a:solidFill>
                  <a:schemeClr val="tx1"/>
                </a:solidFill>
                <a:sym typeface="+mn-ea"/>
              </a:rPr>
              <a:t>y = 5</a:t>
            </a:r>
            <a:r>
              <a:rPr lang="ru-RU" sz="2000" dirty="0" smtClean="0">
                <a:solidFill>
                  <a:schemeClr val="tx1"/>
                </a:solidFill>
                <a:sym typeface="+mn-ea"/>
              </a:rPr>
              <a:t>.0</a:t>
            </a:r>
            <a:r>
              <a:rPr lang="en-US" sz="2000" dirty="0" smtClean="0">
                <a:solidFill>
                  <a:schemeClr val="tx1"/>
                </a:solidFill>
                <a:sym typeface="+mn-ea"/>
              </a:rPr>
              <a:t>;</a:t>
            </a:r>
            <a:endParaRPr lang="en-US" sz="2000" dirty="0" smtClean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b="1" dirty="0" smtClean="0">
              <a:solidFill>
                <a:schemeClr val="tx1"/>
              </a:solidFill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 smtClean="0">
                <a:solidFill>
                  <a:schemeClr val="tx1"/>
                </a:solidFill>
                <a:sym typeface="+mn-ea"/>
              </a:rPr>
              <a:t>let </a:t>
            </a:r>
            <a:r>
              <a:rPr lang="en-US" sz="2000" dirty="0" smtClean="0">
                <a:solidFill>
                  <a:schemeClr val="tx1"/>
                </a:solidFill>
                <a:sym typeface="+mn-ea"/>
              </a:rPr>
              <a:t>z;</a:t>
            </a:r>
            <a:endParaRPr lang="en-US" sz="2000" dirty="0" smtClean="0">
              <a:solidFill>
                <a:schemeClr val="tx1"/>
              </a:solidFill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>
              <a:solidFill>
                <a:schemeClr val="tx1"/>
              </a:solidFill>
              <a:sym typeface="+mn-ea"/>
            </a:endParaRPr>
          </a:p>
          <a:p>
            <a:pPr marL="0" indent="457200">
              <a:buNone/>
            </a:pPr>
            <a:r>
              <a:rPr lang="en-US" sz="2000" dirty="0" smtClean="0">
                <a:solidFill>
                  <a:schemeClr val="tx1"/>
                </a:solidFill>
                <a:sym typeface="+mn-ea"/>
              </a:rPr>
              <a:t>y = 2;</a:t>
            </a:r>
            <a:endParaRPr lang="en-US" sz="2000" dirty="0" smtClean="0">
              <a:solidFill>
                <a:schemeClr val="tx1"/>
              </a:solidFill>
            </a:endParaRPr>
          </a:p>
          <a:p>
            <a:pPr marL="0" indent="457200">
              <a:buNone/>
            </a:pPr>
            <a:r>
              <a:rPr lang="en-US" sz="2000" dirty="0" smtClean="0">
                <a:solidFill>
                  <a:schemeClr val="tx1"/>
                </a:solidFill>
                <a:sym typeface="+mn-ea"/>
              </a:rPr>
              <a:t>z = x + y;</a:t>
            </a:r>
            <a:endParaRPr lang="en-US" sz="2000" dirty="0" smtClean="0">
              <a:solidFill>
                <a:schemeClr val="tx1"/>
              </a:solidFill>
            </a:endParaRPr>
          </a:p>
          <a:p>
            <a:pPr marL="0" indent="457200">
              <a:buNone/>
            </a:pPr>
            <a:r>
              <a:rPr lang="en-US" sz="2000" dirty="0" smtClean="0">
                <a:solidFill>
                  <a:schemeClr val="tx1"/>
                </a:solidFill>
                <a:sym typeface="+mn-ea"/>
              </a:rPr>
              <a:t>console.log(z);  </a:t>
            </a:r>
            <a:r>
              <a:rPr lang="en-US" sz="2000" dirty="0" smtClean="0">
                <a:solidFill>
                  <a:schemeClr val="bg1">
                    <a:lumMod val="65000"/>
                  </a:schemeClr>
                </a:solidFill>
                <a:sym typeface="+mn-ea"/>
              </a:rPr>
              <a:t>// 5</a:t>
            </a:r>
            <a:endParaRPr lang="en-US" sz="2000" dirty="0" smtClean="0">
              <a:solidFill>
                <a:schemeClr val="bg1">
                  <a:lumMod val="65000"/>
                </a:schemeClr>
              </a:solidFill>
              <a:sym typeface="+mn-ea"/>
            </a:endParaRPr>
          </a:p>
          <a:p>
            <a:pPr marL="0" indent="457200">
              <a:buNone/>
            </a:pPr>
            <a:endParaRPr lang="en-US" sz="2000" dirty="0" smtClean="0">
              <a:solidFill>
                <a:schemeClr val="bg1">
                  <a:lumMod val="65000"/>
                </a:schemeClr>
              </a:solidFill>
            </a:endParaRPr>
          </a:p>
          <a:p>
            <a:pPr marL="0" indent="457200">
              <a:buNone/>
            </a:pPr>
            <a:r>
              <a:rPr lang="en-US" sz="2000" dirty="0" smtClean="0">
                <a:solidFill>
                  <a:schemeClr val="tx1"/>
                </a:solidFill>
                <a:sym typeface="+mn-ea"/>
              </a:rPr>
              <a:t>z = “test” + z;</a:t>
            </a:r>
            <a:endParaRPr lang="en-US" sz="2000" dirty="0" smtClean="0">
              <a:solidFill>
                <a:schemeClr val="tx1"/>
              </a:solidFill>
            </a:endParaRPr>
          </a:p>
          <a:p>
            <a:pPr marL="0" indent="457200">
              <a:buNone/>
            </a:pPr>
            <a:r>
              <a:rPr lang="en-US" sz="2000" dirty="0">
                <a:solidFill>
                  <a:schemeClr val="tx1"/>
                </a:solidFill>
                <a:sym typeface="+mn-ea"/>
              </a:rPr>
              <a:t>console.log(z</a:t>
            </a:r>
            <a:r>
              <a:rPr lang="en-US" sz="2000" dirty="0" smtClean="0">
                <a:solidFill>
                  <a:schemeClr val="tx1"/>
                </a:solidFill>
                <a:sym typeface="+mn-ea"/>
              </a:rPr>
              <a:t>);  </a:t>
            </a:r>
            <a:r>
              <a:rPr lang="en-US" sz="2000" dirty="0" smtClean="0">
                <a:solidFill>
                  <a:schemeClr val="bg1">
                    <a:lumMod val="65000"/>
                  </a:schemeClr>
                </a:solidFill>
                <a:sym typeface="+mn-ea"/>
              </a:rPr>
              <a:t>// “test5” </a:t>
            </a:r>
            <a:endParaRPr lang="en-US" sz="200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ru-RU" sz="2000" b="1" dirty="0" smtClean="0">
              <a:solidFill>
                <a:schemeClr val="tx1"/>
              </a:solidFill>
              <a:ea typeface="Calibri" panose="020F0502020204030204" charset="0"/>
              <a:cs typeface="+mn-lt"/>
              <a:sym typeface="+mn-ea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467360" y="497840"/>
            <a:ext cx="10920730" cy="87439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ru-RU" altLang="ru-RU" sz="3600" b="1" dirty="0" smtClean="0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  <a:sym typeface="+mn-ea"/>
              </a:rPr>
              <a:t>Переменные</a:t>
            </a:r>
            <a:endParaRPr lang="ru-RU" altLang="ru-RU" sz="3600" b="1" dirty="0" smtClean="0">
              <a:solidFill>
                <a:schemeClr val="tx1"/>
              </a:solidFill>
              <a:latin typeface="Calibri" panose="020F0502020204030204" charset="0"/>
              <a:ea typeface="Calibri" panose="020F0502020204030204" charset="0"/>
              <a:cs typeface="Calibri" panose="020F0502020204030204" charset="0"/>
              <a:sym typeface="+mn-ea"/>
            </a:endParaRPr>
          </a:p>
        </p:txBody>
      </p:sp>
      <p:sp>
        <p:nvSpPr>
          <p:cNvPr id="3" name="圆角矩形 5"/>
          <p:cNvSpPr/>
          <p:nvPr/>
        </p:nvSpPr>
        <p:spPr>
          <a:xfrm>
            <a:off x="6077585" y="1977390"/>
            <a:ext cx="5310505" cy="4496435"/>
          </a:xfrm>
          <a:prstGeom prst="roundRect">
            <a:avLst>
              <a:gd name="adj" fmla="val 805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b="1" i="1" dirty="0" smtClean="0">
                <a:solidFill>
                  <a:schemeClr val="tx1"/>
                </a:solidFill>
                <a:ea typeface="Calibri" panose="020F0502020204030204" charset="0"/>
                <a:cs typeface="+mn-lt"/>
                <a:sym typeface="+mn-ea"/>
              </a:rPr>
              <a:t>var</a:t>
            </a:r>
            <a:r>
              <a:rPr lang="en-US" b="1" dirty="0" smtClean="0">
                <a:solidFill>
                  <a:schemeClr val="tx1"/>
                </a:solidFill>
                <a:sym typeface="+mn-ea"/>
              </a:rPr>
              <a:t> </a:t>
            </a:r>
            <a:r>
              <a:rPr lang="en-US" dirty="0" smtClean="0">
                <a:solidFill>
                  <a:schemeClr val="tx1"/>
                </a:solidFill>
                <a:sym typeface="+mn-ea"/>
              </a:rPr>
              <a:t>– </a:t>
            </a:r>
            <a:r>
              <a:rPr lang="ru-RU" altLang="en-US" dirty="0" smtClean="0">
                <a:solidFill>
                  <a:schemeClr val="tx1"/>
                </a:solidFill>
                <a:ea typeface="Calibri" panose="020F0502020204030204" charset="0"/>
                <a:cs typeface="+mn-lt"/>
                <a:sym typeface="+mn-ea"/>
              </a:rPr>
              <a:t>устаревший формат, обладает своими особенностями</a:t>
            </a:r>
            <a:endParaRPr lang="en-US" altLang="en-US" b="1" i="1" dirty="0" smtClean="0">
              <a:solidFill>
                <a:schemeClr val="tx1"/>
              </a:solidFill>
              <a:ea typeface="Calibri" panose="020F0502020204030204" charset="0"/>
              <a:cs typeface="+mn-lt"/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b="1" i="1" dirty="0" smtClean="0">
              <a:solidFill>
                <a:schemeClr val="tx1"/>
              </a:solidFill>
              <a:ea typeface="Calibri" panose="020F0502020204030204" charset="0"/>
              <a:cs typeface="+mn-lt"/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b="1" i="1" dirty="0" smtClean="0">
                <a:solidFill>
                  <a:schemeClr val="tx1"/>
                </a:solidFill>
                <a:ea typeface="Calibri" panose="020F0502020204030204" charset="0"/>
                <a:cs typeface="+mn-lt"/>
                <a:sym typeface="+mn-ea"/>
              </a:rPr>
              <a:t>let</a:t>
            </a:r>
            <a:r>
              <a:rPr lang="en-US" b="1" dirty="0" smtClean="0">
                <a:solidFill>
                  <a:schemeClr val="tx1"/>
                </a:solidFill>
                <a:sym typeface="+mn-ea"/>
              </a:rPr>
              <a:t> </a:t>
            </a:r>
            <a:r>
              <a:rPr lang="en-US" dirty="0" smtClean="0">
                <a:solidFill>
                  <a:schemeClr val="tx1"/>
                </a:solidFill>
                <a:sym typeface="+mn-ea"/>
              </a:rPr>
              <a:t>– </a:t>
            </a:r>
            <a:r>
              <a:rPr lang="ru-RU" altLang="en-US" dirty="0" smtClean="0">
                <a:solidFill>
                  <a:schemeClr val="tx1"/>
                </a:solidFill>
                <a:ea typeface="Calibri" panose="020F0502020204030204" charset="0"/>
                <a:cs typeface="+mn-lt"/>
                <a:sym typeface="+mn-ea"/>
              </a:rPr>
              <a:t>современный формат </a:t>
            </a:r>
            <a:r>
              <a:rPr lang="ru-RU" altLang="en-US" dirty="0" smtClean="0">
                <a:solidFill>
                  <a:schemeClr val="bg1">
                    <a:lumMod val="65000"/>
                  </a:schemeClr>
                </a:solidFill>
                <a:ea typeface="Calibri" panose="020F0502020204030204" charset="0"/>
                <a:cs typeface="+mn-lt"/>
                <a:sym typeface="+mn-ea"/>
              </a:rPr>
              <a:t>(рекомендованный)</a:t>
            </a:r>
            <a:endParaRPr lang="en-US" altLang="en-US" b="1" i="1" dirty="0" smtClean="0">
              <a:solidFill>
                <a:schemeClr val="tx1"/>
              </a:solidFill>
              <a:ea typeface="Calibri" panose="020F0502020204030204" charset="0"/>
              <a:cs typeface="+mn-lt"/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b="1" i="1" dirty="0" smtClean="0">
              <a:solidFill>
                <a:schemeClr val="tx1"/>
              </a:solidFill>
              <a:ea typeface="Calibri" panose="020F0502020204030204" charset="0"/>
              <a:cs typeface="+mn-lt"/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b="1" i="1" dirty="0" smtClean="0">
                <a:solidFill>
                  <a:schemeClr val="tx1"/>
                </a:solidFill>
                <a:ea typeface="Calibri" panose="020F0502020204030204" charset="0"/>
                <a:cs typeface="+mn-lt"/>
                <a:sym typeface="+mn-ea"/>
              </a:rPr>
              <a:t>const</a:t>
            </a:r>
            <a:r>
              <a:rPr lang="en-US" b="1" dirty="0" smtClean="0">
                <a:solidFill>
                  <a:schemeClr val="tx1"/>
                </a:solidFill>
                <a:sym typeface="+mn-ea"/>
              </a:rPr>
              <a:t> </a:t>
            </a:r>
            <a:r>
              <a:rPr lang="en-US" dirty="0" smtClean="0">
                <a:solidFill>
                  <a:schemeClr val="tx1"/>
                </a:solidFill>
                <a:sym typeface="+mn-ea"/>
              </a:rPr>
              <a:t>– </a:t>
            </a:r>
            <a:r>
              <a:rPr lang="ru-RU" altLang="en-US" dirty="0" smtClean="0">
                <a:solidFill>
                  <a:schemeClr val="tx1"/>
                </a:solidFill>
                <a:ea typeface="Calibri" panose="020F0502020204030204" charset="0"/>
                <a:cs typeface="+mn-lt"/>
                <a:sym typeface="+mn-ea"/>
              </a:rPr>
              <a:t>константы </a:t>
            </a:r>
            <a:r>
              <a:rPr lang="ru-RU" altLang="en-US" dirty="0" smtClean="0">
                <a:solidFill>
                  <a:schemeClr val="bg1">
                    <a:lumMod val="65000"/>
                  </a:schemeClr>
                </a:solidFill>
                <a:ea typeface="Calibri" panose="020F0502020204030204" charset="0"/>
                <a:cs typeface="+mn-lt"/>
                <a:sym typeface="+mn-ea"/>
              </a:rPr>
              <a:t>(но необычные)</a:t>
            </a:r>
            <a:endParaRPr lang="ru-RU" altLang="en-US" dirty="0" smtClean="0">
              <a:solidFill>
                <a:schemeClr val="bg1">
                  <a:lumMod val="65000"/>
                </a:schemeClr>
              </a:solidFill>
              <a:ea typeface="Calibri" panose="020F0502020204030204" charset="0"/>
              <a:cs typeface="+mn-lt"/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0C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467360" y="1978025"/>
            <a:ext cx="5456555" cy="4495800"/>
          </a:xfrm>
          <a:prstGeom prst="roundRect">
            <a:avLst>
              <a:gd name="adj" fmla="val 805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endParaRPr lang="en-US" sz="2000" b="1" dirty="0">
              <a:solidFill>
                <a:schemeClr val="tx1"/>
              </a:solidFill>
              <a:sym typeface="+mn-ea"/>
            </a:endParaRPr>
          </a:p>
          <a:p>
            <a:pPr marL="0" indent="0">
              <a:buNone/>
            </a:pPr>
            <a:endParaRPr lang="en-US" sz="2000" b="1" dirty="0">
              <a:solidFill>
                <a:schemeClr val="tx1"/>
              </a:solidFill>
              <a:sym typeface="+mn-ea"/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sym typeface="+mn-ea"/>
              </a:rPr>
              <a:t>l</a:t>
            </a:r>
            <a:r>
              <a:rPr lang="en-US" sz="2000" b="1" dirty="0" smtClean="0">
                <a:solidFill>
                  <a:schemeClr val="tx1"/>
                </a:solidFill>
                <a:sym typeface="+mn-ea"/>
              </a:rPr>
              <a:t>et  </a:t>
            </a:r>
            <a:r>
              <a:rPr lang="en-US" sz="2000" dirty="0" smtClean="0">
                <a:solidFill>
                  <a:schemeClr val="tx1"/>
                </a:solidFill>
                <a:sym typeface="+mn-ea"/>
              </a:rPr>
              <a:t>x</a:t>
            </a:r>
            <a:endParaRPr lang="en-US" sz="2000" dirty="0" smtClean="0">
              <a:solidFill>
                <a:schemeClr val="tx1"/>
              </a:solidFill>
              <a:sym typeface="+mn-ea"/>
            </a:endParaRPr>
          </a:p>
          <a:p>
            <a:pPr marL="0" indent="0">
              <a:buNone/>
            </a:pPr>
            <a:r>
              <a:rPr lang="en-US" sz="2000" b="1" dirty="0" smtClean="0">
                <a:solidFill>
                  <a:schemeClr val="tx1"/>
                </a:solidFill>
                <a:sym typeface="+mn-ea"/>
              </a:rPr>
              <a:t>const </a:t>
            </a:r>
            <a:r>
              <a:rPr lang="en-US" sz="2000" dirty="0" smtClean="0">
                <a:solidFill>
                  <a:schemeClr val="tx1"/>
                </a:solidFill>
                <a:sym typeface="+mn-ea"/>
              </a:rPr>
              <a:t>X</a:t>
            </a:r>
            <a:endParaRPr lang="en-US" sz="2000" dirty="0" smtClean="0">
              <a:solidFill>
                <a:schemeClr val="tx1"/>
              </a:solidFill>
              <a:sym typeface="+mn-ea"/>
            </a:endParaRPr>
          </a:p>
          <a:p>
            <a:pPr marL="0" indent="0">
              <a:buNone/>
            </a:pPr>
            <a:r>
              <a:rPr lang="en-US" sz="2000" b="1" dirty="0" smtClean="0">
                <a:solidFill>
                  <a:schemeClr val="tx1"/>
                </a:solidFill>
                <a:sym typeface="+mn-ea"/>
              </a:rPr>
              <a:t>var  </a:t>
            </a:r>
            <a:r>
              <a:rPr lang="en-US" sz="2000" dirty="0" smtClean="0">
                <a:solidFill>
                  <a:schemeClr val="tx1"/>
                </a:solidFill>
                <a:sym typeface="+mn-ea"/>
              </a:rPr>
              <a:t>_x</a:t>
            </a:r>
            <a:endParaRPr lang="en-US" sz="2000" dirty="0" smtClean="0">
              <a:solidFill>
                <a:schemeClr val="tx1"/>
              </a:solidFill>
              <a:sym typeface="+mn-ea"/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sym typeface="+mn-ea"/>
              </a:rPr>
              <a:t>l</a:t>
            </a:r>
            <a:r>
              <a:rPr lang="en-US" sz="2000" b="1" dirty="0" smtClean="0">
                <a:solidFill>
                  <a:schemeClr val="tx1"/>
                </a:solidFill>
                <a:sym typeface="+mn-ea"/>
              </a:rPr>
              <a:t>et  </a:t>
            </a:r>
            <a:r>
              <a:rPr lang="en-US" sz="2000" dirty="0" smtClean="0">
                <a:solidFill>
                  <a:schemeClr val="tx1"/>
                </a:solidFill>
                <a:sym typeface="+mn-ea"/>
              </a:rPr>
              <a:t>x12</a:t>
            </a:r>
            <a:r>
              <a:rPr lang="ru-RU" altLang="en-US" sz="2000" dirty="0" smtClean="0">
                <a:solidFill>
                  <a:schemeClr val="tx1"/>
                </a:solidFill>
                <a:sym typeface="+mn-ea"/>
              </a:rPr>
              <a:t>3</a:t>
            </a:r>
            <a:endParaRPr lang="ru-RU" altLang="en-US" sz="2000" dirty="0" smtClean="0">
              <a:solidFill>
                <a:schemeClr val="tx1"/>
              </a:solidFill>
              <a:sym typeface="+mn-ea"/>
            </a:endParaRPr>
          </a:p>
          <a:p>
            <a:pPr marL="0" indent="0">
              <a:buNone/>
            </a:pPr>
            <a:r>
              <a:rPr lang="en-US" sz="2000" b="1" dirty="0" smtClean="0">
                <a:solidFill>
                  <a:schemeClr val="tx1"/>
                </a:solidFill>
                <a:sym typeface="+mn-ea"/>
              </a:rPr>
              <a:t>const  </a:t>
            </a:r>
            <a:r>
              <a:rPr lang="en-US" sz="2000" dirty="0" smtClean="0">
                <a:solidFill>
                  <a:schemeClr val="tx1"/>
                </a:solidFill>
                <a:sym typeface="+mn-ea"/>
              </a:rPr>
              <a:t>$x321</a:t>
            </a:r>
            <a:endParaRPr lang="en-US" sz="2000" dirty="0" smtClean="0">
              <a:solidFill>
                <a:schemeClr val="tx1"/>
              </a:solidFill>
              <a:sym typeface="+mn-ea"/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sym typeface="+mn-ea"/>
              </a:rPr>
              <a:t>var </a:t>
            </a:r>
            <a:r>
              <a:rPr lang="en-US" sz="2000" b="1" dirty="0" smtClean="0">
                <a:solidFill>
                  <a:schemeClr val="tx1"/>
                </a:solidFill>
                <a:sym typeface="+mn-ea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sym typeface="+mn-ea"/>
              </a:rPr>
              <a:t>varInLowerCamelCase</a:t>
            </a:r>
            <a:endParaRPr lang="en-US" sz="2000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2000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2000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2000" b="1" dirty="0" smtClean="0">
                <a:solidFill>
                  <a:schemeClr val="tx1"/>
                </a:solidFill>
                <a:sym typeface="+mn-ea"/>
              </a:rPr>
              <a:t>A-Z  </a:t>
            </a:r>
            <a:r>
              <a:rPr lang="en-US" sz="2000" b="1" dirty="0" err="1" smtClean="0">
                <a:solidFill>
                  <a:schemeClr val="tx1"/>
                </a:solidFill>
                <a:sym typeface="+mn-ea"/>
              </a:rPr>
              <a:t>a-z</a:t>
            </a:r>
            <a:r>
              <a:rPr lang="en-US" sz="2000" b="1" dirty="0" smtClean="0">
                <a:solidFill>
                  <a:schemeClr val="tx1"/>
                </a:solidFill>
                <a:sym typeface="+mn-ea"/>
              </a:rPr>
              <a:t>  _  $  0-9</a:t>
            </a:r>
            <a:endParaRPr lang="en-US" sz="2000" b="1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sym typeface="+mn-ea"/>
              </a:rPr>
              <a:t>Unicode</a:t>
            </a:r>
            <a:endParaRPr lang="en-US" altLang="ru-RU" sz="2000" b="1" dirty="0" smtClean="0">
              <a:solidFill>
                <a:schemeClr val="tx1"/>
              </a:solidFill>
              <a:ea typeface="Calibri" panose="020F0502020204030204" charset="0"/>
              <a:cs typeface="+mn-lt"/>
              <a:sym typeface="+mn-ea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467360" y="497840"/>
            <a:ext cx="10920730" cy="87439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ru-RU" altLang="ru-RU" sz="3600" b="1" dirty="0" smtClean="0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  <a:sym typeface="+mn-ea"/>
              </a:rPr>
              <a:t>Именование переменных</a:t>
            </a:r>
            <a:endParaRPr lang="ru-RU" altLang="ru-RU" sz="3600" b="1" dirty="0" smtClean="0">
              <a:solidFill>
                <a:schemeClr val="tx1"/>
              </a:solidFill>
              <a:latin typeface="Calibri" panose="020F0502020204030204" charset="0"/>
              <a:ea typeface="Calibri" panose="020F0502020204030204" charset="0"/>
              <a:cs typeface="Calibri" panose="020F0502020204030204" charset="0"/>
              <a:sym typeface="+mn-ea"/>
            </a:endParaRPr>
          </a:p>
        </p:txBody>
      </p:sp>
      <p:sp>
        <p:nvSpPr>
          <p:cNvPr id="3" name="圆角矩形 5"/>
          <p:cNvSpPr/>
          <p:nvPr/>
        </p:nvSpPr>
        <p:spPr>
          <a:xfrm>
            <a:off x="6077585" y="1977390"/>
            <a:ext cx="5310505" cy="4496435"/>
          </a:xfrm>
          <a:prstGeom prst="roundRect">
            <a:avLst>
              <a:gd name="adj" fmla="val 805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342900" indent="-342900">
              <a:buFont typeface="Arial" panose="020B0604020202020204" pitchFamily="34" charset="0"/>
              <a:buChar char="•"/>
            </a:pPr>
            <a:endParaRPr lang="ru-RU" altLang="en-US" dirty="0" smtClean="0">
              <a:solidFill>
                <a:schemeClr val="bg1">
                  <a:lumMod val="65000"/>
                </a:schemeClr>
              </a:solidFill>
              <a:ea typeface="Calibri" panose="020F0502020204030204" charset="0"/>
              <a:cs typeface="+mn-lt"/>
              <a:sym typeface="+mn-ea"/>
            </a:endParaRPr>
          </a:p>
        </p:txBody>
      </p:sp>
      <p:pic>
        <p:nvPicPr>
          <p:cNvPr id="5" name="Рисунок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92290" y="2264410"/>
            <a:ext cx="3681095" cy="392303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0C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467360" y="1978025"/>
            <a:ext cx="5456555" cy="4495800"/>
          </a:xfrm>
          <a:prstGeom prst="roundRect">
            <a:avLst>
              <a:gd name="adj" fmla="val 805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b="1" dirty="0" smtClean="0">
                <a:solidFill>
                  <a:schemeClr val="tx1"/>
                </a:solidFill>
                <a:sym typeface="+mn-ea"/>
              </a:rPr>
              <a:t>Целые числа</a:t>
            </a:r>
            <a:r>
              <a:rPr lang="en-US" altLang="ru-RU" sz="2000" b="1" dirty="0" smtClean="0">
                <a:solidFill>
                  <a:schemeClr val="tx1"/>
                </a:solidFill>
                <a:sym typeface="+mn-ea"/>
              </a:rPr>
              <a:t>:</a:t>
            </a:r>
            <a:r>
              <a:rPr lang="ru-RU" sz="2000" dirty="0" smtClean="0">
                <a:solidFill>
                  <a:schemeClr val="tx1"/>
                </a:solidFill>
                <a:sym typeface="+mn-ea"/>
              </a:rPr>
              <a:t> </a:t>
            </a:r>
            <a:r>
              <a:rPr lang="ru-RU" sz="2000" dirty="0" smtClean="0">
                <a:solidFill>
                  <a:schemeClr val="bg1">
                    <a:lumMod val="50000"/>
                  </a:schemeClr>
                </a:solidFill>
                <a:sym typeface="+mn-ea"/>
              </a:rPr>
              <a:t> </a:t>
            </a:r>
            <a:r>
              <a:rPr lang="en-US" sz="2000" dirty="0" smtClean="0">
                <a:solidFill>
                  <a:schemeClr val="bg1">
                    <a:lumMod val="50000"/>
                  </a:schemeClr>
                </a:solidFill>
                <a:sym typeface="+mn-ea"/>
              </a:rPr>
              <a:t>let a = </a:t>
            </a:r>
            <a:r>
              <a:rPr lang="ru-RU" sz="2000" b="1" dirty="0" smtClean="0">
                <a:solidFill>
                  <a:schemeClr val="bg1">
                    <a:lumMod val="50000"/>
                  </a:schemeClr>
                </a:solidFill>
                <a:sym typeface="+mn-ea"/>
              </a:rPr>
              <a:t>123</a:t>
            </a:r>
            <a:endParaRPr lang="ru-RU" sz="2000" dirty="0" smtClean="0">
              <a:solidFill>
                <a:schemeClr val="bg1">
                  <a:lumMod val="5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b="1" dirty="0" smtClean="0">
                <a:solidFill>
                  <a:schemeClr val="tx1"/>
                </a:solidFill>
                <a:sym typeface="+mn-ea"/>
              </a:rPr>
              <a:t>Дробные числа</a:t>
            </a:r>
            <a:r>
              <a:rPr lang="en-US" altLang="ru-RU" sz="2000" b="1" dirty="0" smtClean="0">
                <a:solidFill>
                  <a:schemeClr val="tx1"/>
                </a:solidFill>
                <a:sym typeface="+mn-ea"/>
              </a:rPr>
              <a:t>:</a:t>
            </a:r>
            <a:r>
              <a:rPr lang="ru-RU" sz="2000" dirty="0" smtClean="0">
                <a:solidFill>
                  <a:schemeClr val="tx1"/>
                </a:solidFill>
                <a:sym typeface="+mn-ea"/>
              </a:rPr>
              <a:t>  </a:t>
            </a:r>
            <a:r>
              <a:rPr lang="ru-RU" sz="2000" dirty="0" smtClean="0">
                <a:solidFill>
                  <a:schemeClr val="bg1">
                    <a:lumMod val="50000"/>
                  </a:schemeClr>
                </a:solidFill>
                <a:sym typeface="+mn-ea"/>
              </a:rPr>
              <a:t>let b = </a:t>
            </a:r>
            <a:r>
              <a:rPr lang="ru-RU" sz="2000" b="1" dirty="0" smtClean="0">
                <a:solidFill>
                  <a:schemeClr val="bg1">
                    <a:lumMod val="50000"/>
                  </a:schemeClr>
                </a:solidFill>
                <a:sym typeface="+mn-ea"/>
              </a:rPr>
              <a:t>12.3</a:t>
            </a:r>
            <a:endParaRPr lang="en-US" sz="2000" b="1" dirty="0" smtClean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b="1" dirty="0" smtClean="0">
                <a:solidFill>
                  <a:schemeClr val="tx1"/>
                </a:solidFill>
                <a:sym typeface="+mn-ea"/>
              </a:rPr>
              <a:t>Логические</a:t>
            </a:r>
            <a:r>
              <a:rPr lang="en-US" altLang="ru-RU" sz="2000" b="1" dirty="0" smtClean="0">
                <a:solidFill>
                  <a:schemeClr val="tx1"/>
                </a:solidFill>
                <a:sym typeface="+mn-ea"/>
              </a:rPr>
              <a:t>: </a:t>
            </a:r>
            <a:r>
              <a:rPr lang="ru-RU" sz="2000" dirty="0" smtClean="0">
                <a:solidFill>
                  <a:schemeClr val="bg1">
                    <a:lumMod val="50000"/>
                  </a:schemeClr>
                </a:solidFill>
                <a:sym typeface="+mn-ea"/>
              </a:rPr>
              <a:t>const </a:t>
            </a:r>
            <a:r>
              <a:rPr lang="en-US" altLang="ru-RU" sz="2000" dirty="0" smtClean="0">
                <a:solidFill>
                  <a:schemeClr val="bg1">
                    <a:lumMod val="50000"/>
                  </a:schemeClr>
                </a:solidFill>
                <a:sym typeface="+mn-ea"/>
              </a:rPr>
              <a:t>flag =</a:t>
            </a:r>
            <a:r>
              <a:rPr lang="ru-RU" sz="2000" dirty="0" smtClean="0">
                <a:solidFill>
                  <a:schemeClr val="bg1">
                    <a:lumMod val="50000"/>
                  </a:schemeClr>
                </a:solidFill>
                <a:sym typeface="+mn-ea"/>
              </a:rPr>
              <a:t> </a:t>
            </a:r>
            <a:r>
              <a:rPr lang="ru-RU" sz="2000" b="1" dirty="0" smtClean="0">
                <a:solidFill>
                  <a:schemeClr val="bg1">
                    <a:lumMod val="50000"/>
                  </a:schemeClr>
                </a:solidFill>
                <a:sym typeface="+mn-ea"/>
              </a:rPr>
              <a:t>true | false</a:t>
            </a:r>
            <a:endParaRPr lang="ru-RU" sz="2000" dirty="0" smtClean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b="1" dirty="0" smtClean="0">
                <a:solidFill>
                  <a:schemeClr val="tx1"/>
                </a:solidFill>
                <a:sym typeface="+mn-ea"/>
              </a:rPr>
              <a:t>Строки</a:t>
            </a:r>
            <a:r>
              <a:rPr lang="en-US" altLang="ru-RU" sz="2000" b="1" dirty="0" smtClean="0">
                <a:solidFill>
                  <a:schemeClr val="tx1"/>
                </a:solidFill>
                <a:sym typeface="+mn-ea"/>
              </a:rPr>
              <a:t>:</a:t>
            </a:r>
            <a:r>
              <a:rPr lang="ru-RU" sz="2000" dirty="0" smtClean="0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ru-RU" sz="2000" dirty="0" smtClean="0">
                <a:solidFill>
                  <a:schemeClr val="bg1">
                    <a:lumMod val="50000"/>
                  </a:schemeClr>
                </a:solidFill>
                <a:sym typeface="+mn-ea"/>
              </a:rPr>
              <a:t>let someStr = </a:t>
            </a:r>
            <a:r>
              <a:rPr lang="en-US" sz="2000" b="1" dirty="0" smtClean="0">
                <a:solidFill>
                  <a:schemeClr val="bg1">
                    <a:lumMod val="50000"/>
                  </a:schemeClr>
                </a:solidFill>
                <a:sym typeface="+mn-ea"/>
              </a:rPr>
              <a:t>“123”</a:t>
            </a:r>
            <a:endParaRPr lang="ru-RU" sz="2000" dirty="0" smtClean="0">
              <a:solidFill>
                <a:schemeClr val="bg1">
                  <a:lumMod val="5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b="1" dirty="0" smtClean="0">
                <a:solidFill>
                  <a:schemeClr val="tx1"/>
                </a:solidFill>
                <a:sym typeface="+mn-ea"/>
              </a:rPr>
              <a:t>Массивы</a:t>
            </a:r>
            <a:r>
              <a:rPr lang="en-US" altLang="ru-RU" sz="2000" b="1" dirty="0" smtClean="0">
                <a:solidFill>
                  <a:schemeClr val="tx1"/>
                </a:solidFill>
                <a:sym typeface="+mn-ea"/>
              </a:rPr>
              <a:t>:</a:t>
            </a:r>
            <a:r>
              <a:rPr lang="ru-RU" sz="2000" dirty="0" smtClean="0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ru-RU" sz="2000" dirty="0" smtClean="0">
                <a:solidFill>
                  <a:schemeClr val="bg1">
                    <a:lumMod val="50000"/>
                  </a:schemeClr>
                </a:solidFill>
                <a:sym typeface="+mn-ea"/>
              </a:rPr>
              <a:t>const arr = </a:t>
            </a:r>
            <a:r>
              <a:rPr lang="en-US" sz="2000" b="1" dirty="0" smtClean="0">
                <a:solidFill>
                  <a:schemeClr val="bg1">
                    <a:lumMod val="50000"/>
                  </a:schemeClr>
                </a:solidFill>
                <a:sym typeface="+mn-ea"/>
              </a:rPr>
              <a:t>[123, “123”]</a:t>
            </a:r>
            <a:endParaRPr lang="en-US" sz="2000" dirty="0" smtClean="0">
              <a:solidFill>
                <a:schemeClr val="bg1">
                  <a:lumMod val="5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b="1" dirty="0" smtClean="0">
                <a:solidFill>
                  <a:schemeClr val="tx1"/>
                </a:solidFill>
                <a:sym typeface="+mn-ea"/>
              </a:rPr>
              <a:t>Объекты</a:t>
            </a:r>
            <a:r>
              <a:rPr lang="en-US" altLang="ru-RU" sz="2000" b="1" dirty="0" smtClean="0">
                <a:solidFill>
                  <a:schemeClr val="tx1"/>
                </a:solidFill>
                <a:sym typeface="+mn-ea"/>
              </a:rPr>
              <a:t>:</a:t>
            </a:r>
            <a:r>
              <a:rPr lang="en-US" altLang="ru-RU" sz="2000" b="1" dirty="0" smtClean="0">
                <a:solidFill>
                  <a:schemeClr val="bg1">
                    <a:lumMod val="50000"/>
                  </a:schemeClr>
                </a:solidFill>
                <a:sym typeface="+mn-ea"/>
              </a:rPr>
              <a:t> </a:t>
            </a:r>
            <a:r>
              <a:rPr lang="en-US" altLang="ru-RU" sz="2000" dirty="0" smtClean="0">
                <a:solidFill>
                  <a:schemeClr val="bg1">
                    <a:lumMod val="50000"/>
                  </a:schemeClr>
                </a:solidFill>
                <a:sym typeface="+mn-ea"/>
              </a:rPr>
              <a:t>const tmp =</a:t>
            </a:r>
            <a:r>
              <a:rPr lang="ru-RU" sz="2000" dirty="0" smtClean="0">
                <a:solidFill>
                  <a:schemeClr val="bg1">
                    <a:lumMod val="50000"/>
                  </a:schemeClr>
                </a:solidFill>
                <a:sym typeface="+mn-ea"/>
              </a:rPr>
              <a:t> </a:t>
            </a:r>
            <a:r>
              <a:rPr lang="en-US" sz="2000" b="1" dirty="0" smtClean="0">
                <a:solidFill>
                  <a:schemeClr val="bg1">
                    <a:lumMod val="50000"/>
                  </a:schemeClr>
                </a:solidFill>
                <a:sym typeface="+mn-ea"/>
              </a:rPr>
              <a:t>{x: 123, y: “123”}</a:t>
            </a:r>
            <a:endParaRPr lang="en-US" sz="2000" dirty="0" smtClean="0">
              <a:solidFill>
                <a:schemeClr val="bg1">
                  <a:lumMod val="5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b="1" dirty="0" smtClean="0">
                <a:solidFill>
                  <a:schemeClr val="tx1"/>
                </a:solidFill>
                <a:sym typeface="+mn-ea"/>
              </a:rPr>
              <a:t>Функции</a:t>
            </a:r>
            <a:r>
              <a:rPr lang="en-US" altLang="ru-RU" sz="2000" b="1" dirty="0" smtClean="0">
                <a:solidFill>
                  <a:schemeClr val="tx1"/>
                </a:solidFill>
                <a:sym typeface="+mn-ea"/>
              </a:rPr>
              <a:t>:</a:t>
            </a:r>
            <a:r>
              <a:rPr lang="ru-RU" sz="2000" dirty="0" smtClean="0">
                <a:solidFill>
                  <a:schemeClr val="tx1"/>
                </a:solidFill>
                <a:sym typeface="+mn-ea"/>
              </a:rPr>
              <a:t>  </a:t>
            </a:r>
            <a:r>
              <a:rPr lang="en-US" sz="2000" dirty="0" smtClean="0">
                <a:solidFill>
                  <a:schemeClr val="bg1">
                    <a:lumMod val="50000"/>
                  </a:schemeClr>
                </a:solidFill>
                <a:sym typeface="+mn-ea"/>
              </a:rPr>
              <a:t>let f = </a:t>
            </a:r>
            <a:r>
              <a:rPr lang="en-US" sz="2000" b="1" dirty="0" smtClean="0">
                <a:solidFill>
                  <a:schemeClr val="bg1">
                    <a:lumMod val="50000"/>
                  </a:schemeClr>
                </a:solidFill>
                <a:sym typeface="+mn-ea"/>
              </a:rPr>
              <a:t>(x) =&gt; {  return x*x; }</a:t>
            </a:r>
            <a:endParaRPr lang="en-US" sz="2000" b="1" dirty="0" smtClean="0">
              <a:solidFill>
                <a:schemeClr val="bg1">
                  <a:lumMod val="50000"/>
                </a:schemeClr>
              </a:solidFill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ru-RU" sz="2000" b="1" dirty="0" smtClean="0">
              <a:solidFill>
                <a:schemeClr val="bg1">
                  <a:lumMod val="50000"/>
                </a:schemeClr>
              </a:solidFill>
              <a:ea typeface="Calibri" panose="020F0502020204030204" charset="0"/>
              <a:cs typeface="+mn-lt"/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ru-RU" sz="2000" b="1" dirty="0" smtClean="0">
              <a:solidFill>
                <a:schemeClr val="bg1">
                  <a:lumMod val="50000"/>
                </a:schemeClr>
              </a:solidFill>
              <a:ea typeface="Calibri" panose="020F0502020204030204" charset="0"/>
              <a:cs typeface="+mn-lt"/>
              <a:sym typeface="+mn-ea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ru-RU" altLang="ru-RU" sz="2000" dirty="0" smtClean="0">
                <a:solidFill>
                  <a:schemeClr val="tx1"/>
                </a:solidFill>
                <a:ea typeface="Calibri" panose="020F0502020204030204" charset="0"/>
                <a:cs typeface="+mn-lt"/>
                <a:sym typeface="+mn-ea"/>
              </a:rPr>
              <a:t>Чтобы узнать тип используем </a:t>
            </a:r>
            <a:r>
              <a:rPr lang="en-US" altLang="ru-RU" sz="2000" b="1" i="1" dirty="0" smtClean="0">
                <a:solidFill>
                  <a:schemeClr val="tx1"/>
                </a:solidFill>
                <a:ea typeface="Calibri" panose="020F0502020204030204" charset="0"/>
                <a:cs typeface="+mn-lt"/>
                <a:sym typeface="+mn-ea"/>
              </a:rPr>
              <a:t>typeof a</a:t>
            </a:r>
            <a:endParaRPr lang="en-US" altLang="ru-RU" sz="2000" b="1" i="1" dirty="0" smtClean="0">
              <a:solidFill>
                <a:schemeClr val="tx1"/>
              </a:solidFill>
              <a:ea typeface="Calibri" panose="020F0502020204030204" charset="0"/>
              <a:cs typeface="+mn-lt"/>
              <a:sym typeface="+mn-ea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467360" y="497840"/>
            <a:ext cx="10920730" cy="87439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ru-RU" altLang="ru-RU" sz="3600" b="1" dirty="0" smtClean="0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  <a:sym typeface="+mn-ea"/>
              </a:rPr>
              <a:t>Типы данных в </a:t>
            </a:r>
            <a:r>
              <a:rPr lang="en-US" altLang="ru-RU" sz="3600" b="1" dirty="0" smtClean="0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  <a:sym typeface="+mn-ea"/>
              </a:rPr>
              <a:t>JS</a:t>
            </a:r>
            <a:endParaRPr lang="en-US" altLang="ru-RU" sz="3600" b="1" dirty="0" smtClean="0">
              <a:solidFill>
                <a:schemeClr val="tx1"/>
              </a:solidFill>
              <a:latin typeface="Calibri" panose="020F0502020204030204" charset="0"/>
              <a:ea typeface="Calibri" panose="020F0502020204030204" charset="0"/>
              <a:cs typeface="Calibri" panose="020F0502020204030204" charset="0"/>
              <a:sym typeface="+mn-ea"/>
            </a:endParaRPr>
          </a:p>
        </p:txBody>
      </p:sp>
      <p:sp>
        <p:nvSpPr>
          <p:cNvPr id="3" name="圆角矩形 5"/>
          <p:cNvSpPr/>
          <p:nvPr/>
        </p:nvSpPr>
        <p:spPr>
          <a:xfrm>
            <a:off x="6077585" y="1977390"/>
            <a:ext cx="5310505" cy="4496435"/>
          </a:xfrm>
          <a:prstGeom prst="roundRect">
            <a:avLst>
              <a:gd name="adj" fmla="val 805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342900" indent="-342900">
              <a:buFont typeface="Arial" panose="020B0604020202020204" pitchFamily="34" charset="0"/>
              <a:buChar char="•"/>
            </a:pPr>
            <a:endParaRPr lang="ru-RU" altLang="en-US" dirty="0" smtClean="0">
              <a:solidFill>
                <a:schemeClr val="bg1">
                  <a:lumMod val="65000"/>
                </a:schemeClr>
              </a:solidFill>
              <a:ea typeface="Calibri" panose="020F0502020204030204" charset="0"/>
              <a:cs typeface="+mn-lt"/>
              <a:sym typeface="+mn-ea"/>
            </a:endParaRPr>
          </a:p>
        </p:txBody>
      </p:sp>
      <p:pic>
        <p:nvPicPr>
          <p:cNvPr id="7" name="Изображение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15710" y="3159760"/>
            <a:ext cx="2589530" cy="2131060"/>
          </a:xfrm>
          <a:prstGeom prst="rect">
            <a:avLst/>
          </a:prstGeom>
        </p:spPr>
      </p:pic>
      <p:pic>
        <p:nvPicPr>
          <p:cNvPr id="8" name="Изображение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1925" y="3159760"/>
            <a:ext cx="1963420" cy="214185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0C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467360" y="1978025"/>
            <a:ext cx="5456555" cy="4495800"/>
          </a:xfrm>
          <a:prstGeom prst="roundRect">
            <a:avLst>
              <a:gd name="adj" fmla="val 805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r>
              <a:rPr lang="en-US" sz="2000" dirty="0" smtClean="0">
                <a:solidFill>
                  <a:schemeClr val="tx1"/>
                </a:solidFill>
                <a:sym typeface="+mn-ea"/>
              </a:rPr>
              <a:t>let </a:t>
            </a:r>
            <a:r>
              <a:rPr lang="en-US" sz="2000" dirty="0">
                <a:solidFill>
                  <a:schemeClr val="tx1"/>
                </a:solidFill>
                <a:sym typeface="+mn-ea"/>
              </a:rPr>
              <a:t>x </a:t>
            </a:r>
            <a:r>
              <a:rPr lang="en-US" sz="2000" b="1" dirty="0">
                <a:solidFill>
                  <a:schemeClr val="tx1"/>
                </a:solidFill>
                <a:sym typeface="+mn-ea"/>
              </a:rPr>
              <a:t>=</a:t>
            </a:r>
            <a:r>
              <a:rPr lang="en-US" sz="2000" dirty="0">
                <a:solidFill>
                  <a:schemeClr val="tx1"/>
                </a:solidFill>
                <a:sym typeface="+mn-ea"/>
              </a:rPr>
              <a:t> </a:t>
            </a:r>
            <a:r>
              <a:rPr lang="en-US" sz="2000" dirty="0" smtClean="0">
                <a:solidFill>
                  <a:schemeClr val="tx1"/>
                </a:solidFill>
                <a:sym typeface="+mn-ea"/>
              </a:rPr>
              <a:t>5;</a:t>
            </a:r>
            <a:endParaRPr lang="en-US" sz="2000" dirty="0" smtClean="0">
              <a:solidFill>
                <a:schemeClr val="tx1"/>
              </a:solidFill>
              <a:sym typeface="+mn-ea"/>
            </a:endParaRPr>
          </a:p>
          <a:p>
            <a:pPr marL="0" indent="0">
              <a:buNone/>
            </a:pPr>
            <a:endParaRPr lang="en-US" sz="2000" dirty="0" smtClean="0">
              <a:solidFill>
                <a:schemeClr val="tx1"/>
              </a:solidFill>
              <a:sym typeface="+mn-ea"/>
            </a:endParaRPr>
          </a:p>
          <a:p>
            <a:pPr marL="0" indent="0">
              <a:buNone/>
            </a:pPr>
            <a:endParaRPr lang="en-US" sz="2000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sym typeface="+mn-ea"/>
              </a:rPr>
              <a:t>x </a:t>
            </a:r>
            <a:r>
              <a:rPr lang="en-US" sz="2000" b="1" dirty="0">
                <a:solidFill>
                  <a:schemeClr val="tx1"/>
                </a:solidFill>
                <a:sym typeface="+mn-ea"/>
              </a:rPr>
              <a:t>==</a:t>
            </a:r>
            <a:r>
              <a:rPr lang="en-US" sz="2000" dirty="0">
                <a:solidFill>
                  <a:schemeClr val="tx1"/>
                </a:solidFill>
                <a:sym typeface="+mn-ea"/>
              </a:rPr>
              <a:t> </a:t>
            </a:r>
            <a:r>
              <a:rPr lang="en-US" sz="2000" dirty="0" smtClean="0">
                <a:solidFill>
                  <a:schemeClr val="tx1"/>
                </a:solidFill>
                <a:sym typeface="+mn-ea"/>
              </a:rPr>
              <a:t>8  </a:t>
            </a:r>
            <a:r>
              <a:rPr lang="en-US" sz="2000" dirty="0" smtClean="0">
                <a:solidFill>
                  <a:schemeClr val="bg1">
                    <a:lumMod val="50000"/>
                  </a:schemeClr>
                </a:solidFill>
                <a:sym typeface="+mn-ea"/>
              </a:rPr>
              <a:t>// false</a:t>
            </a:r>
            <a:endParaRPr lang="en-US" sz="2000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sym typeface="+mn-ea"/>
              </a:rPr>
              <a:t>x </a:t>
            </a:r>
            <a:r>
              <a:rPr lang="en-US" sz="2000" b="1" dirty="0">
                <a:solidFill>
                  <a:schemeClr val="tx1"/>
                </a:solidFill>
                <a:sym typeface="+mn-ea"/>
              </a:rPr>
              <a:t>==</a:t>
            </a:r>
            <a:r>
              <a:rPr lang="en-US" sz="2000" dirty="0">
                <a:solidFill>
                  <a:schemeClr val="tx1"/>
                </a:solidFill>
                <a:sym typeface="+mn-ea"/>
              </a:rPr>
              <a:t> </a:t>
            </a:r>
            <a:r>
              <a:rPr lang="en-US" sz="2000" dirty="0" smtClean="0">
                <a:solidFill>
                  <a:schemeClr val="tx1"/>
                </a:solidFill>
                <a:sym typeface="+mn-ea"/>
              </a:rPr>
              <a:t>5  </a:t>
            </a:r>
            <a:r>
              <a:rPr lang="en-US" sz="2000" dirty="0" smtClean="0">
                <a:solidFill>
                  <a:schemeClr val="bg1">
                    <a:lumMod val="50000"/>
                  </a:schemeClr>
                </a:solidFill>
                <a:sym typeface="+mn-ea"/>
              </a:rPr>
              <a:t>// true</a:t>
            </a:r>
            <a:endParaRPr lang="en-US" sz="2000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sym typeface="+mn-ea"/>
              </a:rPr>
              <a:t>x </a:t>
            </a:r>
            <a:r>
              <a:rPr lang="en-US" sz="2000" b="1" dirty="0">
                <a:solidFill>
                  <a:schemeClr val="tx1"/>
                </a:solidFill>
                <a:sym typeface="+mn-ea"/>
              </a:rPr>
              <a:t>==</a:t>
            </a:r>
            <a:r>
              <a:rPr lang="en-US" sz="2000" dirty="0">
                <a:solidFill>
                  <a:schemeClr val="tx1"/>
                </a:solidFill>
                <a:sym typeface="+mn-ea"/>
              </a:rPr>
              <a:t> “</a:t>
            </a:r>
            <a:r>
              <a:rPr lang="en-US" sz="2000" dirty="0" smtClean="0">
                <a:solidFill>
                  <a:schemeClr val="tx1"/>
                </a:solidFill>
                <a:sym typeface="+mn-ea"/>
              </a:rPr>
              <a:t>5“  </a:t>
            </a:r>
            <a:r>
              <a:rPr lang="en-US" sz="2000" dirty="0" smtClean="0">
                <a:solidFill>
                  <a:schemeClr val="bg1">
                    <a:lumMod val="50000"/>
                  </a:schemeClr>
                </a:solidFill>
                <a:sym typeface="+mn-ea"/>
              </a:rPr>
              <a:t>// true</a:t>
            </a:r>
            <a:endParaRPr lang="en-US" sz="2000" dirty="0" smtClean="0">
              <a:solidFill>
                <a:schemeClr val="bg1">
                  <a:lumMod val="50000"/>
                </a:schemeClr>
              </a:solidFill>
            </a:endParaRPr>
          </a:p>
          <a:p>
            <a:pPr marL="0" algn="l">
              <a:buClrTx/>
              <a:buSzTx/>
              <a:buFontTx/>
              <a:buNone/>
            </a:pPr>
            <a:r>
              <a:rPr lang="en-US" sz="2000" dirty="0">
                <a:solidFill>
                  <a:schemeClr val="tx1"/>
                </a:solidFill>
                <a:sym typeface="+mn-ea"/>
              </a:rPr>
              <a:t>x </a:t>
            </a:r>
            <a:r>
              <a:rPr lang="en-US" sz="2000" b="1" dirty="0">
                <a:solidFill>
                  <a:schemeClr val="tx1"/>
                </a:solidFill>
                <a:sym typeface="+mn-ea"/>
              </a:rPr>
              <a:t>===</a:t>
            </a:r>
            <a:r>
              <a:rPr lang="en-US" sz="2000" dirty="0">
                <a:solidFill>
                  <a:schemeClr val="tx1"/>
                </a:solidFill>
                <a:sym typeface="+mn-ea"/>
              </a:rPr>
              <a:t> </a:t>
            </a:r>
            <a:r>
              <a:rPr lang="en-US" sz="2000" dirty="0" smtClean="0">
                <a:solidFill>
                  <a:schemeClr val="tx1"/>
                </a:solidFill>
                <a:sym typeface="+mn-ea"/>
              </a:rPr>
              <a:t>5  </a:t>
            </a:r>
            <a:r>
              <a:rPr lang="en-US" sz="2000" dirty="0" smtClean="0">
                <a:solidFill>
                  <a:schemeClr val="bg1">
                    <a:lumMod val="50000"/>
                  </a:schemeClr>
                </a:solidFill>
                <a:sym typeface="+mn-ea"/>
              </a:rPr>
              <a:t>// true</a:t>
            </a:r>
            <a:endParaRPr lang="en-US" sz="2000" dirty="0" smtClean="0">
              <a:solidFill>
                <a:schemeClr val="bg1">
                  <a:lumMod val="50000"/>
                </a:schemeClr>
              </a:solidFill>
            </a:endParaRPr>
          </a:p>
          <a:p>
            <a:pPr marL="0" algn="l">
              <a:buClrTx/>
              <a:buSzTx/>
              <a:buFontTx/>
              <a:buNone/>
            </a:pPr>
            <a:r>
              <a:rPr lang="en-US" sz="2000" dirty="0">
                <a:solidFill>
                  <a:schemeClr val="tx1"/>
                </a:solidFill>
                <a:sym typeface="+mn-ea"/>
              </a:rPr>
              <a:t>x </a:t>
            </a:r>
            <a:r>
              <a:rPr lang="en-US" sz="2000" b="1" dirty="0">
                <a:solidFill>
                  <a:schemeClr val="tx1"/>
                </a:solidFill>
                <a:sym typeface="+mn-ea"/>
              </a:rPr>
              <a:t>===</a:t>
            </a:r>
            <a:r>
              <a:rPr lang="en-US" sz="2000" dirty="0">
                <a:solidFill>
                  <a:schemeClr val="tx1"/>
                </a:solidFill>
                <a:sym typeface="+mn-ea"/>
              </a:rPr>
              <a:t> “</a:t>
            </a:r>
            <a:r>
              <a:rPr lang="en-US" sz="2000" dirty="0" smtClean="0">
                <a:solidFill>
                  <a:schemeClr val="tx1"/>
                </a:solidFill>
                <a:sym typeface="+mn-ea"/>
              </a:rPr>
              <a:t>5“ </a:t>
            </a:r>
            <a:r>
              <a:rPr lang="en-US" sz="2000" dirty="0" smtClean="0">
                <a:solidFill>
                  <a:schemeClr val="bg1">
                    <a:lumMod val="50000"/>
                  </a:schemeClr>
                </a:solidFill>
                <a:sym typeface="+mn-ea"/>
              </a:rPr>
              <a:t> // true</a:t>
            </a:r>
            <a:endParaRPr lang="en-US" sz="2000" dirty="0" smtClean="0">
              <a:solidFill>
                <a:schemeClr val="bg1">
                  <a:lumMod val="50000"/>
                </a:schemeClr>
              </a:solidFill>
              <a:sym typeface="+mn-ea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467360" y="497840"/>
            <a:ext cx="10920730" cy="87439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ru-RU" sz="3600" b="1" dirty="0" smtClean="0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  <a:sym typeface="+mn-ea"/>
              </a:rPr>
              <a:t>Операторы сравнения</a:t>
            </a:r>
            <a:endParaRPr lang="ru-RU" sz="3600" b="1" dirty="0" smtClean="0">
              <a:solidFill>
                <a:schemeClr val="tx1"/>
              </a:solidFill>
              <a:latin typeface="Calibri" panose="020F0502020204030204" charset="0"/>
              <a:ea typeface="Calibri" panose="020F0502020204030204" charset="0"/>
              <a:cs typeface="Calibri" panose="020F0502020204030204" charset="0"/>
              <a:sym typeface="+mn-ea"/>
            </a:endParaRPr>
          </a:p>
        </p:txBody>
      </p:sp>
      <p:sp>
        <p:nvSpPr>
          <p:cNvPr id="3" name="圆角矩形 5"/>
          <p:cNvSpPr/>
          <p:nvPr/>
        </p:nvSpPr>
        <p:spPr>
          <a:xfrm>
            <a:off x="6077585" y="1977390"/>
            <a:ext cx="5310505" cy="4496435"/>
          </a:xfrm>
          <a:prstGeom prst="roundRect">
            <a:avLst>
              <a:gd name="adj" fmla="val 805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altLang="en-US" b="1" dirty="0" smtClean="0">
                <a:solidFill>
                  <a:schemeClr val="tx1"/>
                </a:solidFill>
                <a:ea typeface="Calibri" panose="020F0502020204030204" charset="0"/>
                <a:cs typeface="+mn-lt"/>
                <a:sym typeface="+mn-ea"/>
              </a:rPr>
              <a:t>=</a:t>
            </a:r>
            <a:r>
              <a:rPr lang="en-US" b="1" dirty="0" smtClean="0">
                <a:solidFill>
                  <a:schemeClr val="tx1"/>
                </a:solidFill>
                <a:sym typeface="+mn-ea"/>
              </a:rPr>
              <a:t> </a:t>
            </a:r>
            <a:r>
              <a:rPr lang="en-US" dirty="0" smtClean="0">
                <a:solidFill>
                  <a:schemeClr val="tx1"/>
                </a:solidFill>
                <a:sym typeface="+mn-ea"/>
              </a:rPr>
              <a:t>– </a:t>
            </a:r>
            <a:r>
              <a:rPr lang="ru-RU" altLang="ru-RU" dirty="0" smtClean="0">
                <a:solidFill>
                  <a:schemeClr val="tx1"/>
                </a:solidFill>
                <a:ea typeface="Calibri" panose="020F0502020204030204" charset="0"/>
                <a:cs typeface="+mn-lt"/>
                <a:sym typeface="+mn-ea"/>
              </a:rPr>
              <a:t>это оператор присваивания</a:t>
            </a:r>
            <a:r>
              <a:rPr lang="en-US" altLang="ru-RU" dirty="0" smtClean="0">
                <a:solidFill>
                  <a:schemeClr val="tx1"/>
                </a:solidFill>
                <a:ea typeface="Calibri" panose="020F0502020204030204" charset="0"/>
                <a:cs typeface="+mn-lt"/>
                <a:sym typeface="+mn-ea"/>
              </a:rPr>
              <a:t>;</a:t>
            </a:r>
            <a:endParaRPr lang="ru-RU" altLang="en-US" b="1" dirty="0" smtClean="0">
              <a:solidFill>
                <a:schemeClr val="tx1"/>
              </a:solidFill>
              <a:ea typeface="Calibri" panose="020F0502020204030204" charset="0"/>
              <a:cs typeface="+mn-lt"/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altLang="en-US" b="1" dirty="0" smtClean="0">
              <a:solidFill>
                <a:schemeClr val="tx1"/>
              </a:solidFill>
              <a:ea typeface="Calibri" panose="020F0502020204030204" charset="0"/>
              <a:cs typeface="+mn-lt"/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altLang="en-US" b="1" dirty="0" smtClean="0">
                <a:solidFill>
                  <a:schemeClr val="tx1"/>
                </a:solidFill>
                <a:ea typeface="Calibri" panose="020F0502020204030204" charset="0"/>
                <a:cs typeface="+mn-lt"/>
                <a:sym typeface="+mn-ea"/>
              </a:rPr>
              <a:t>==</a:t>
            </a:r>
            <a:r>
              <a:rPr lang="en-US" b="1" dirty="0" smtClean="0">
                <a:solidFill>
                  <a:schemeClr val="tx1"/>
                </a:solidFill>
                <a:sym typeface="+mn-ea"/>
              </a:rPr>
              <a:t> </a:t>
            </a:r>
            <a:r>
              <a:rPr lang="en-US" dirty="0" smtClean="0">
                <a:solidFill>
                  <a:schemeClr val="tx1"/>
                </a:solidFill>
                <a:sym typeface="+mn-ea"/>
              </a:rPr>
              <a:t>– </a:t>
            </a:r>
            <a:r>
              <a:rPr lang="ru-RU" altLang="en-US" dirty="0" smtClean="0">
                <a:solidFill>
                  <a:schemeClr val="tx1"/>
                </a:solidFill>
                <a:ea typeface="Calibri" panose="020F0502020204030204" charset="0"/>
                <a:cs typeface="+mn-lt"/>
                <a:sym typeface="+mn-ea"/>
              </a:rPr>
              <a:t>сравнивает значения, не смотря на тип 	данных</a:t>
            </a:r>
            <a:r>
              <a:rPr lang="en-US" altLang="ru-RU" dirty="0" smtClean="0">
                <a:solidFill>
                  <a:schemeClr val="tx1"/>
                </a:solidFill>
                <a:ea typeface="Calibri" panose="020F0502020204030204" charset="0"/>
                <a:cs typeface="+mn-lt"/>
                <a:sym typeface="+mn-ea"/>
              </a:rPr>
              <a:t>;</a:t>
            </a:r>
            <a:endParaRPr lang="ru-RU" altLang="en-US" dirty="0" smtClean="0">
              <a:solidFill>
                <a:schemeClr val="tx1"/>
              </a:solidFill>
              <a:ea typeface="Calibri" panose="020F0502020204030204" charset="0"/>
              <a:cs typeface="+mn-lt"/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altLang="en-US" dirty="0" smtClean="0">
              <a:solidFill>
                <a:schemeClr val="tx1"/>
              </a:solidFill>
              <a:ea typeface="Calibri" panose="020F0502020204030204" charset="0"/>
              <a:cs typeface="+mn-lt"/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altLang="en-US" b="1" dirty="0" smtClean="0">
                <a:solidFill>
                  <a:schemeClr val="tx1"/>
                </a:solidFill>
                <a:ea typeface="Calibri" panose="020F0502020204030204" charset="0"/>
                <a:cs typeface="+mn-lt"/>
                <a:sym typeface="+mn-ea"/>
              </a:rPr>
              <a:t>===</a:t>
            </a:r>
            <a:r>
              <a:rPr lang="en-US" b="1" dirty="0" smtClean="0">
                <a:solidFill>
                  <a:schemeClr val="tx1"/>
                </a:solidFill>
                <a:sym typeface="+mn-ea"/>
              </a:rPr>
              <a:t> </a:t>
            </a:r>
            <a:r>
              <a:rPr lang="en-US" dirty="0" smtClean="0">
                <a:solidFill>
                  <a:schemeClr val="tx1"/>
                </a:solidFill>
                <a:sym typeface="+mn-ea"/>
              </a:rPr>
              <a:t>– </a:t>
            </a:r>
            <a:r>
              <a:rPr lang="ru-RU" altLang="en-US" dirty="0" smtClean="0">
                <a:solidFill>
                  <a:schemeClr val="tx1"/>
                </a:solidFill>
                <a:ea typeface="Calibri" panose="020F0502020204030204" charset="0"/>
                <a:cs typeface="+mn-lt"/>
                <a:sym typeface="+mn-ea"/>
              </a:rPr>
              <a:t>сравнивает, учитывая различия в типах 	данных</a:t>
            </a:r>
            <a:r>
              <a:rPr lang="en-US" altLang="ru-RU" dirty="0" smtClean="0">
                <a:solidFill>
                  <a:schemeClr val="tx1"/>
                </a:solidFill>
                <a:ea typeface="Calibri" panose="020F0502020204030204" charset="0"/>
                <a:cs typeface="+mn-lt"/>
                <a:sym typeface="+mn-ea"/>
              </a:rPr>
              <a:t>;</a:t>
            </a:r>
            <a:endParaRPr lang="ru-RU" altLang="en-US" dirty="0" smtClean="0">
              <a:solidFill>
                <a:schemeClr val="tx1"/>
              </a:solidFill>
              <a:ea typeface="Calibri" panose="020F0502020204030204" charset="0"/>
              <a:cs typeface="+mn-lt"/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altLang="en-US" dirty="0" smtClean="0">
              <a:solidFill>
                <a:schemeClr val="tx1"/>
              </a:solidFill>
              <a:ea typeface="Calibri" panose="020F0502020204030204" charset="0"/>
              <a:cs typeface="+mn-lt"/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altLang="en-US" b="1" dirty="0" smtClean="0">
                <a:solidFill>
                  <a:schemeClr val="tx1"/>
                </a:solidFill>
                <a:ea typeface="Calibri" panose="020F0502020204030204" charset="0"/>
                <a:cs typeface="+mn-lt"/>
                <a:sym typeface="+mn-ea"/>
              </a:rPr>
              <a:t>====</a:t>
            </a:r>
            <a:r>
              <a:rPr lang="en-US" b="1" dirty="0" smtClean="0">
                <a:solidFill>
                  <a:schemeClr val="tx1"/>
                </a:solidFill>
                <a:sym typeface="+mn-ea"/>
              </a:rPr>
              <a:t> </a:t>
            </a:r>
            <a:r>
              <a:rPr lang="en-US" dirty="0" smtClean="0">
                <a:solidFill>
                  <a:schemeClr val="tx1"/>
                </a:solidFill>
                <a:sym typeface="+mn-ea"/>
              </a:rPr>
              <a:t>– </a:t>
            </a:r>
            <a:r>
              <a:rPr lang="ru-RU" altLang="en-US" dirty="0" smtClean="0">
                <a:solidFill>
                  <a:schemeClr val="tx1"/>
                </a:solidFill>
                <a:ea typeface="Calibri" panose="020F0502020204030204" charset="0"/>
                <a:cs typeface="+mn-lt"/>
                <a:sym typeface="+mn-ea"/>
              </a:rPr>
              <a:t>такого оператора нет</a:t>
            </a:r>
            <a:r>
              <a:rPr lang="en-US" altLang="ru-RU" dirty="0" smtClean="0">
                <a:solidFill>
                  <a:schemeClr val="tx1"/>
                </a:solidFill>
                <a:ea typeface="Calibri" panose="020F0502020204030204" charset="0"/>
                <a:cs typeface="+mn-lt"/>
                <a:sym typeface="+mn-ea"/>
              </a:rPr>
              <a:t>;</a:t>
            </a:r>
            <a:endParaRPr lang="en-US" altLang="ru-RU" dirty="0" smtClean="0">
              <a:solidFill>
                <a:schemeClr val="tx1"/>
              </a:solidFill>
              <a:ea typeface="Calibri" panose="020F0502020204030204" charset="0"/>
              <a:cs typeface="+mn-lt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0C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467360" y="1978025"/>
            <a:ext cx="5456555" cy="4495800"/>
          </a:xfrm>
          <a:prstGeom prst="roundRect">
            <a:avLst>
              <a:gd name="adj" fmla="val 805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altLang="en-US" sz="2000" b="1" dirty="0">
                <a:solidFill>
                  <a:schemeClr val="tx1"/>
                </a:solidFill>
                <a:sym typeface="+mn-ea"/>
              </a:rPr>
              <a:t>Простой </a:t>
            </a:r>
            <a:r>
              <a:rPr lang="en-US" altLang="en-US" sz="2000" b="1" dirty="0">
                <a:solidFill>
                  <a:schemeClr val="tx1"/>
                </a:solidFill>
                <a:sym typeface="+mn-ea"/>
              </a:rPr>
              <a:t>if...else</a:t>
            </a:r>
            <a:endParaRPr lang="en-US" sz="2000" b="1" dirty="0">
              <a:solidFill>
                <a:schemeClr val="tx1"/>
              </a:solidFill>
              <a:sym typeface="+mn-ea"/>
            </a:endParaRP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sym typeface="+mn-ea"/>
              </a:rPr>
              <a:t>i</a:t>
            </a:r>
            <a:r>
              <a:rPr lang="en-US" sz="2000" dirty="0" smtClean="0">
                <a:solidFill>
                  <a:schemeClr val="tx1"/>
                </a:solidFill>
                <a:sym typeface="+mn-ea"/>
              </a:rPr>
              <a:t>f (x == 5) { </a:t>
            </a:r>
            <a:endParaRPr lang="en-US" sz="2000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sym typeface="+mn-ea"/>
              </a:rPr>
              <a:t>	</a:t>
            </a:r>
            <a:r>
              <a:rPr lang="en-US" sz="2000" dirty="0" smtClean="0">
                <a:solidFill>
                  <a:schemeClr val="tx1"/>
                </a:solidFill>
                <a:sym typeface="+mn-ea"/>
              </a:rPr>
              <a:t>y = 7; </a:t>
            </a:r>
            <a:endParaRPr lang="en-US" sz="2000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2000" dirty="0" smtClean="0">
                <a:solidFill>
                  <a:schemeClr val="tx1"/>
                </a:solidFill>
                <a:sym typeface="+mn-ea"/>
              </a:rPr>
              <a:t>} else { </a:t>
            </a:r>
            <a:endParaRPr lang="en-US" sz="2000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sym typeface="+mn-ea"/>
              </a:rPr>
              <a:t>	</a:t>
            </a:r>
            <a:r>
              <a:rPr lang="en-US" sz="2000" dirty="0" smtClean="0">
                <a:solidFill>
                  <a:schemeClr val="tx1"/>
                </a:solidFill>
                <a:sym typeface="+mn-ea"/>
              </a:rPr>
              <a:t>y = 10; </a:t>
            </a:r>
            <a:endParaRPr lang="en-US" sz="2000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2000" dirty="0" smtClean="0">
                <a:solidFill>
                  <a:schemeClr val="tx1"/>
                </a:solidFill>
                <a:sym typeface="+mn-ea"/>
              </a:rPr>
              <a:t>} </a:t>
            </a:r>
            <a:endParaRPr lang="en-US" sz="2000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2000" dirty="0" smtClean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b="1" dirty="0" smtClean="0">
                <a:solidFill>
                  <a:schemeClr val="tx1"/>
                </a:solidFill>
              </a:rPr>
              <a:t>Тернарный оператор</a:t>
            </a:r>
            <a:endParaRPr lang="en-US" sz="2000" b="1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2000" dirty="0" smtClean="0">
                <a:solidFill>
                  <a:schemeClr val="tx1"/>
                </a:solidFill>
                <a:sym typeface="+mn-ea"/>
              </a:rPr>
              <a:t>y = (x == 5 ? 7 : 10)</a:t>
            </a:r>
            <a:endParaRPr lang="en-US" sz="2000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2000" dirty="0" smtClean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altLang="en-US" sz="2000" b="1" dirty="0" smtClean="0">
                <a:solidFill>
                  <a:schemeClr val="tx1"/>
                </a:solidFill>
              </a:rPr>
              <a:t>Оператор нулевого слияния</a:t>
            </a:r>
            <a:endParaRPr lang="en-US" sz="2000" b="1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sym typeface="+mn-ea"/>
              </a:rPr>
              <a:t>let name = </a:t>
            </a:r>
            <a:r>
              <a:rPr lang="en-US" sz="2000" dirty="0" smtClean="0">
                <a:solidFill>
                  <a:schemeClr val="tx1"/>
                </a:solidFill>
                <a:sym typeface="+mn-ea"/>
              </a:rPr>
              <a:t>null, text </a:t>
            </a:r>
            <a:r>
              <a:rPr lang="en-US" sz="2000" dirty="0">
                <a:solidFill>
                  <a:schemeClr val="tx1"/>
                </a:solidFill>
                <a:sym typeface="+mn-ea"/>
              </a:rPr>
              <a:t>= "missing";</a:t>
            </a:r>
            <a:br>
              <a:rPr lang="en-US" sz="2000" dirty="0">
                <a:solidFill>
                  <a:schemeClr val="tx1"/>
                </a:solidFill>
                <a:sym typeface="+mn-ea"/>
              </a:rPr>
            </a:br>
            <a:r>
              <a:rPr lang="en-US" sz="2000" dirty="0">
                <a:solidFill>
                  <a:schemeClr val="tx1"/>
                </a:solidFill>
                <a:sym typeface="+mn-ea"/>
              </a:rPr>
              <a:t>let result = name ?? text;</a:t>
            </a:r>
            <a:endParaRPr lang="en-US" sz="2000" dirty="0" smtClean="0">
              <a:solidFill>
                <a:schemeClr val="tx1"/>
              </a:solidFill>
              <a:sym typeface="+mn-ea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467360" y="497840"/>
            <a:ext cx="10920730" cy="87439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ru-RU" sz="3600" b="1" dirty="0" smtClean="0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  <a:sym typeface="+mn-ea"/>
              </a:rPr>
              <a:t>Ветвления</a:t>
            </a:r>
            <a:endParaRPr lang="ru-RU" sz="3600" b="1" dirty="0" smtClean="0">
              <a:solidFill>
                <a:schemeClr val="tx1"/>
              </a:solidFill>
              <a:latin typeface="Calibri" panose="020F0502020204030204" charset="0"/>
              <a:ea typeface="Calibri" panose="020F0502020204030204" charset="0"/>
              <a:cs typeface="Calibri" panose="020F0502020204030204" charset="0"/>
              <a:sym typeface="+mn-ea"/>
            </a:endParaRPr>
          </a:p>
        </p:txBody>
      </p:sp>
      <p:sp>
        <p:nvSpPr>
          <p:cNvPr id="3" name="圆角矩形 5"/>
          <p:cNvSpPr/>
          <p:nvPr/>
        </p:nvSpPr>
        <p:spPr>
          <a:xfrm>
            <a:off x="6077585" y="1977390"/>
            <a:ext cx="5310505" cy="4496435"/>
          </a:xfrm>
          <a:prstGeom prst="roundRect">
            <a:avLst>
              <a:gd name="adj" fmla="val 805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285750" indent="-285750">
              <a:buFont typeface="Arial" panose="020B0604020202020204" pitchFamily="34" charset="0"/>
              <a:buChar char="•"/>
            </a:pPr>
            <a:endParaRPr lang="ru-RU" altLang="en-US" dirty="0" smtClean="0">
              <a:solidFill>
                <a:schemeClr val="tx1"/>
              </a:solidFill>
              <a:ea typeface="Calibri" panose="020F0502020204030204" charset="0"/>
              <a:cs typeface="+mn-lt"/>
              <a:sym typeface="+mn-ea"/>
            </a:endParaRPr>
          </a:p>
        </p:txBody>
      </p:sp>
      <p:pic>
        <p:nvPicPr>
          <p:cNvPr id="5" name="Изображение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1450" y="2578100"/>
            <a:ext cx="2146300" cy="3296285"/>
          </a:xfrm>
          <a:prstGeom prst="rect">
            <a:avLst/>
          </a:prstGeom>
        </p:spPr>
      </p:pic>
      <p:pic>
        <p:nvPicPr>
          <p:cNvPr id="7" name="Изображение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5890" y="3630295"/>
            <a:ext cx="1800225" cy="11906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0C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467360" y="1978025"/>
            <a:ext cx="5456555" cy="4495800"/>
          </a:xfrm>
          <a:prstGeom prst="roundRect">
            <a:avLst>
              <a:gd name="adj" fmla="val 805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b="1" dirty="0" smtClean="0">
              <a:solidFill>
                <a:schemeClr val="tx1"/>
              </a:solidFill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 smtClean="0">
                <a:solidFill>
                  <a:schemeClr val="tx1"/>
                </a:solidFill>
                <a:sym typeface="+mn-ea"/>
              </a:rPr>
              <a:t>switch { case; case; }</a:t>
            </a:r>
            <a:endParaRPr lang="en-US" sz="2000" b="1" dirty="0" smtClean="0">
              <a:solidFill>
                <a:schemeClr val="tx1"/>
              </a:solidFill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b="1" dirty="0" smtClean="0">
              <a:solidFill>
                <a:schemeClr val="tx1"/>
              </a:solidFill>
              <a:sym typeface="+mn-ea"/>
            </a:endParaRP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sym typeface="+mn-ea"/>
              </a:rPr>
              <a:t>switch (x</a:t>
            </a:r>
            <a:r>
              <a:rPr lang="en-US" sz="2000" dirty="0" smtClean="0">
                <a:solidFill>
                  <a:schemeClr val="tx1"/>
                </a:solidFill>
                <a:sym typeface="+mn-ea"/>
              </a:rPr>
              <a:t>)  </a:t>
            </a:r>
            <a:r>
              <a:rPr lang="en-US" sz="2000" dirty="0" smtClean="0">
                <a:solidFill>
                  <a:schemeClr val="bg1">
                    <a:lumMod val="50000"/>
                  </a:schemeClr>
                </a:solidFill>
                <a:sym typeface="+mn-ea"/>
              </a:rPr>
              <a:t>// </a:t>
            </a:r>
            <a:r>
              <a:rPr lang="ru-RU" sz="2000" dirty="0">
                <a:solidFill>
                  <a:schemeClr val="bg1">
                    <a:lumMod val="50000"/>
                  </a:schemeClr>
                </a:solidFill>
                <a:sym typeface="+mn-ea"/>
              </a:rPr>
              <a:t>===</a:t>
            </a:r>
            <a:endParaRPr lang="en-US" sz="2000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sym typeface="+mn-ea"/>
              </a:rPr>
              <a:t>{</a:t>
            </a:r>
            <a:endParaRPr lang="en-US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2000" dirty="0" smtClean="0">
                <a:solidFill>
                  <a:schemeClr val="tx1"/>
                </a:solidFill>
                <a:sym typeface="+mn-ea"/>
              </a:rPr>
              <a:t>  case </a:t>
            </a:r>
            <a:r>
              <a:rPr lang="en-US" sz="2000" dirty="0">
                <a:solidFill>
                  <a:schemeClr val="tx1"/>
                </a:solidFill>
                <a:sym typeface="+mn-ea"/>
              </a:rPr>
              <a:t>1</a:t>
            </a:r>
            <a:r>
              <a:rPr lang="en-US" sz="2000" dirty="0" smtClean="0">
                <a:solidFill>
                  <a:schemeClr val="tx1"/>
                </a:solidFill>
                <a:sym typeface="+mn-ea"/>
              </a:rPr>
              <a:t>:</a:t>
            </a:r>
            <a:endParaRPr lang="en-US" sz="2000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sym typeface="+mn-ea"/>
              </a:rPr>
              <a:t> </a:t>
            </a:r>
            <a:r>
              <a:rPr lang="en-US" sz="2000" dirty="0" smtClean="0">
                <a:solidFill>
                  <a:schemeClr val="tx1"/>
                </a:solidFill>
                <a:sym typeface="+mn-ea"/>
              </a:rPr>
              <a:t> case </a:t>
            </a:r>
            <a:r>
              <a:rPr lang="en-US" sz="2000" dirty="0">
                <a:solidFill>
                  <a:schemeClr val="tx1"/>
                </a:solidFill>
                <a:sym typeface="+mn-ea"/>
              </a:rPr>
              <a:t>2:</a:t>
            </a:r>
            <a:endParaRPr lang="en-US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2000" dirty="0" smtClean="0">
                <a:solidFill>
                  <a:schemeClr val="tx1"/>
                </a:solidFill>
                <a:sym typeface="+mn-ea"/>
              </a:rPr>
              <a:t>     y </a:t>
            </a:r>
            <a:r>
              <a:rPr lang="en-US" sz="2000" dirty="0">
                <a:solidFill>
                  <a:schemeClr val="tx1"/>
                </a:solidFill>
                <a:sym typeface="+mn-ea"/>
              </a:rPr>
              <a:t>= 5;</a:t>
            </a:r>
            <a:endParaRPr lang="en-US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2000" dirty="0" smtClean="0">
                <a:solidFill>
                  <a:schemeClr val="tx1"/>
                </a:solidFill>
                <a:sym typeface="+mn-ea"/>
              </a:rPr>
              <a:t>     break</a:t>
            </a:r>
            <a:r>
              <a:rPr lang="en-US" sz="2000" dirty="0">
                <a:solidFill>
                  <a:schemeClr val="tx1"/>
                </a:solidFill>
                <a:sym typeface="+mn-ea"/>
              </a:rPr>
              <a:t>;</a:t>
            </a:r>
            <a:endParaRPr lang="en-US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2000" dirty="0" smtClean="0">
                <a:solidFill>
                  <a:schemeClr val="tx1"/>
                </a:solidFill>
                <a:sym typeface="+mn-ea"/>
              </a:rPr>
              <a:t>  default</a:t>
            </a:r>
            <a:r>
              <a:rPr lang="en-US" sz="2000" dirty="0">
                <a:solidFill>
                  <a:schemeClr val="tx1"/>
                </a:solidFill>
                <a:sym typeface="+mn-ea"/>
              </a:rPr>
              <a:t>:</a:t>
            </a:r>
            <a:endParaRPr lang="en-US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2000" dirty="0" smtClean="0">
                <a:solidFill>
                  <a:schemeClr val="tx1"/>
                </a:solidFill>
                <a:sym typeface="+mn-ea"/>
              </a:rPr>
              <a:t>     y </a:t>
            </a:r>
            <a:r>
              <a:rPr lang="en-US" sz="2000" dirty="0">
                <a:solidFill>
                  <a:schemeClr val="tx1"/>
                </a:solidFill>
                <a:sym typeface="+mn-ea"/>
              </a:rPr>
              <a:t>= 10</a:t>
            </a:r>
            <a:r>
              <a:rPr lang="en-US" sz="2000" dirty="0" smtClean="0">
                <a:solidFill>
                  <a:schemeClr val="tx1"/>
                </a:solidFill>
                <a:sym typeface="+mn-ea"/>
              </a:rPr>
              <a:t>;</a:t>
            </a:r>
            <a:endParaRPr lang="en-US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sym typeface="+mn-ea"/>
              </a:rPr>
              <a:t>}</a:t>
            </a:r>
            <a:endParaRPr lang="ru-RU" sz="2000" dirty="0">
              <a:solidFill>
                <a:schemeClr val="tx1"/>
              </a:solidFill>
            </a:endParaRPr>
          </a:p>
          <a:p>
            <a:pPr indent="0">
              <a:buFont typeface="Arial" panose="020B0604020202020204" pitchFamily="34" charset="0"/>
              <a:buNone/>
            </a:pPr>
            <a:endParaRPr lang="ru-RU" sz="2000" b="1" dirty="0" smtClean="0">
              <a:solidFill>
                <a:schemeClr val="tx1"/>
              </a:solidFill>
              <a:sym typeface="+mn-ea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467360" y="497840"/>
            <a:ext cx="10920730" cy="87439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ru-RU" sz="3600" b="1" dirty="0" smtClean="0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  <a:sym typeface="+mn-ea"/>
              </a:rPr>
              <a:t>Ветвления</a:t>
            </a:r>
            <a:endParaRPr lang="ru-RU" sz="3600" b="1" dirty="0" smtClean="0">
              <a:solidFill>
                <a:schemeClr val="tx1"/>
              </a:solidFill>
              <a:latin typeface="Calibri" panose="020F0502020204030204" charset="0"/>
              <a:ea typeface="Calibri" panose="020F0502020204030204" charset="0"/>
              <a:cs typeface="Calibri" panose="020F0502020204030204" charset="0"/>
              <a:sym typeface="+mn-ea"/>
            </a:endParaRPr>
          </a:p>
        </p:txBody>
      </p:sp>
      <p:sp>
        <p:nvSpPr>
          <p:cNvPr id="3" name="圆角矩形 5"/>
          <p:cNvSpPr/>
          <p:nvPr/>
        </p:nvSpPr>
        <p:spPr>
          <a:xfrm>
            <a:off x="6077585" y="1977390"/>
            <a:ext cx="5310505" cy="4496435"/>
          </a:xfrm>
          <a:prstGeom prst="roundRect">
            <a:avLst>
              <a:gd name="adj" fmla="val 805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285750" indent="-285750">
              <a:buFont typeface="Arial" panose="020B0604020202020204" pitchFamily="34" charset="0"/>
              <a:buChar char="•"/>
            </a:pPr>
            <a:endParaRPr lang="ru-RU" altLang="en-US" dirty="0" smtClean="0">
              <a:solidFill>
                <a:schemeClr val="tx1"/>
              </a:solidFill>
              <a:ea typeface="Calibri" panose="020F0502020204030204" charset="0"/>
              <a:cs typeface="+mn-lt"/>
              <a:sym typeface="+mn-ea"/>
            </a:endParaRPr>
          </a:p>
        </p:txBody>
      </p:sp>
      <p:pic>
        <p:nvPicPr>
          <p:cNvPr id="10" name="Изображение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1310" y="2926080"/>
            <a:ext cx="1781175" cy="2600325"/>
          </a:xfrm>
          <a:prstGeom prst="rect">
            <a:avLst/>
          </a:prstGeom>
        </p:spPr>
      </p:pic>
      <p:pic>
        <p:nvPicPr>
          <p:cNvPr id="11" name="Изображение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4920" y="3704590"/>
            <a:ext cx="1752600" cy="10477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0C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467360" y="1978025"/>
            <a:ext cx="5456555" cy="4495800"/>
          </a:xfrm>
          <a:prstGeom prst="roundRect">
            <a:avLst>
              <a:gd name="adj" fmla="val 805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sym typeface="+mn-ea"/>
              </a:rPr>
              <a:t>for (let </a:t>
            </a:r>
            <a:r>
              <a:rPr lang="en-US" sz="2000" b="1" dirty="0" err="1">
                <a:solidFill>
                  <a:schemeClr val="tx1"/>
                </a:solidFill>
                <a:sym typeface="+mn-ea"/>
              </a:rPr>
              <a:t>i</a:t>
            </a:r>
            <a:r>
              <a:rPr lang="en-US" sz="2000" b="1" dirty="0">
                <a:solidFill>
                  <a:schemeClr val="tx1"/>
                </a:solidFill>
                <a:sym typeface="+mn-ea"/>
              </a:rPr>
              <a:t> = 0; </a:t>
            </a:r>
            <a:r>
              <a:rPr lang="en-US" sz="2000" b="1" dirty="0" err="1">
                <a:solidFill>
                  <a:schemeClr val="tx1"/>
                </a:solidFill>
                <a:sym typeface="+mn-ea"/>
              </a:rPr>
              <a:t>i</a:t>
            </a:r>
            <a:r>
              <a:rPr lang="en-US" sz="2000" b="1" dirty="0">
                <a:solidFill>
                  <a:schemeClr val="tx1"/>
                </a:solidFill>
                <a:sym typeface="+mn-ea"/>
              </a:rPr>
              <a:t> &lt; </a:t>
            </a:r>
            <a:r>
              <a:rPr lang="en-US" sz="2000" b="1" dirty="0" err="1" smtClean="0">
                <a:solidFill>
                  <a:schemeClr val="tx1"/>
                </a:solidFill>
                <a:sym typeface="+mn-ea"/>
              </a:rPr>
              <a:t>array.length</a:t>
            </a:r>
            <a:r>
              <a:rPr lang="en-US" sz="2000" b="1" dirty="0">
                <a:solidFill>
                  <a:schemeClr val="tx1"/>
                </a:solidFill>
                <a:sym typeface="+mn-ea"/>
              </a:rPr>
              <a:t>; </a:t>
            </a:r>
            <a:r>
              <a:rPr lang="en-US" sz="2000" b="1" dirty="0" err="1">
                <a:solidFill>
                  <a:schemeClr val="tx1"/>
                </a:solidFill>
                <a:sym typeface="+mn-ea"/>
              </a:rPr>
              <a:t>i</a:t>
            </a:r>
            <a:r>
              <a:rPr lang="en-US" sz="2000" b="1" dirty="0">
                <a:solidFill>
                  <a:schemeClr val="tx1"/>
                </a:solidFill>
                <a:sym typeface="+mn-ea"/>
              </a:rPr>
              <a:t>++) {</a:t>
            </a:r>
            <a:br>
              <a:rPr lang="en-US" sz="2000" b="1" dirty="0">
                <a:solidFill>
                  <a:schemeClr val="tx1"/>
                </a:solidFill>
                <a:sym typeface="+mn-ea"/>
              </a:rPr>
            </a:br>
            <a:r>
              <a:rPr lang="en-US" sz="2000" dirty="0">
                <a:solidFill>
                  <a:schemeClr val="tx1"/>
                </a:solidFill>
                <a:sym typeface="+mn-ea"/>
              </a:rPr>
              <a:t>  </a:t>
            </a:r>
            <a:r>
              <a:rPr lang="en-US" sz="2000" dirty="0" smtClean="0">
                <a:solidFill>
                  <a:schemeClr val="tx1"/>
                </a:solidFill>
                <a:sym typeface="+mn-ea"/>
              </a:rPr>
              <a:t> sum += array[</a:t>
            </a:r>
            <a:r>
              <a:rPr lang="en-US" sz="2000" dirty="0" err="1" smtClean="0">
                <a:solidFill>
                  <a:schemeClr val="tx1"/>
                </a:solidFill>
                <a:sym typeface="+mn-ea"/>
              </a:rPr>
              <a:t>i</a:t>
            </a:r>
            <a:r>
              <a:rPr lang="en-US" sz="2000" dirty="0" smtClean="0">
                <a:solidFill>
                  <a:schemeClr val="tx1"/>
                </a:solidFill>
                <a:sym typeface="+mn-ea"/>
              </a:rPr>
              <a:t>];</a:t>
            </a:r>
            <a:br>
              <a:rPr lang="en-US" sz="2000" dirty="0">
                <a:solidFill>
                  <a:schemeClr val="tx1"/>
                </a:solidFill>
                <a:sym typeface="+mn-ea"/>
              </a:rPr>
            </a:br>
            <a:r>
              <a:rPr lang="en-US" sz="2000" b="1" dirty="0" smtClean="0">
                <a:solidFill>
                  <a:schemeClr val="tx1"/>
                </a:solidFill>
                <a:sym typeface="+mn-ea"/>
              </a:rPr>
              <a:t>}</a:t>
            </a:r>
            <a:endParaRPr lang="ru-RU" sz="2000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ru-RU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sym typeface="+mn-ea"/>
              </a:rPr>
              <a:t>for (let </a:t>
            </a:r>
            <a:r>
              <a:rPr lang="en-US" sz="2000" b="1" dirty="0" err="1">
                <a:solidFill>
                  <a:schemeClr val="tx1"/>
                </a:solidFill>
                <a:sym typeface="+mn-ea"/>
              </a:rPr>
              <a:t>i</a:t>
            </a:r>
            <a:r>
              <a:rPr lang="en-US" sz="2000" b="1" dirty="0">
                <a:solidFill>
                  <a:schemeClr val="tx1"/>
                </a:solidFill>
                <a:sym typeface="+mn-ea"/>
              </a:rPr>
              <a:t> in </a:t>
            </a:r>
            <a:r>
              <a:rPr lang="en-US" sz="2000" b="1" dirty="0" smtClean="0">
                <a:solidFill>
                  <a:schemeClr val="tx1"/>
                </a:solidFill>
                <a:sym typeface="+mn-ea"/>
              </a:rPr>
              <a:t>array) </a:t>
            </a:r>
            <a:r>
              <a:rPr lang="en-US" sz="2000" b="1" dirty="0">
                <a:solidFill>
                  <a:schemeClr val="tx1"/>
                </a:solidFill>
                <a:sym typeface="+mn-ea"/>
              </a:rPr>
              <a:t>{</a:t>
            </a:r>
            <a:br>
              <a:rPr lang="en-US" sz="2000" b="1" dirty="0">
                <a:solidFill>
                  <a:schemeClr val="tx1"/>
                </a:solidFill>
                <a:sym typeface="+mn-ea"/>
              </a:rPr>
            </a:br>
            <a:r>
              <a:rPr lang="en-US" sz="2000" dirty="0">
                <a:solidFill>
                  <a:schemeClr val="tx1"/>
                </a:solidFill>
                <a:sym typeface="+mn-ea"/>
              </a:rPr>
              <a:t>  sum += array[</a:t>
            </a:r>
            <a:r>
              <a:rPr lang="en-US" sz="2000" dirty="0" err="1">
                <a:solidFill>
                  <a:schemeClr val="tx1"/>
                </a:solidFill>
                <a:sym typeface="+mn-ea"/>
              </a:rPr>
              <a:t>i</a:t>
            </a:r>
            <a:r>
              <a:rPr lang="en-US" sz="2000" dirty="0">
                <a:solidFill>
                  <a:schemeClr val="tx1"/>
                </a:solidFill>
                <a:sym typeface="+mn-ea"/>
              </a:rPr>
              <a:t>];</a:t>
            </a:r>
            <a:br>
              <a:rPr lang="en-US" sz="2000" dirty="0">
                <a:solidFill>
                  <a:schemeClr val="tx1"/>
                </a:solidFill>
                <a:sym typeface="+mn-ea"/>
              </a:rPr>
            </a:br>
            <a:r>
              <a:rPr lang="en-US" sz="2000" b="1" dirty="0" smtClean="0">
                <a:solidFill>
                  <a:schemeClr val="tx1"/>
                </a:solidFill>
                <a:sym typeface="+mn-ea"/>
              </a:rPr>
              <a:t>}</a:t>
            </a:r>
            <a:endParaRPr lang="en-US" sz="2000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2000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sym typeface="+mn-ea"/>
              </a:rPr>
              <a:t>for (let x of array</a:t>
            </a:r>
            <a:r>
              <a:rPr lang="en-US" sz="2000" b="1" dirty="0" smtClean="0">
                <a:solidFill>
                  <a:schemeClr val="tx1"/>
                </a:solidFill>
                <a:sym typeface="+mn-ea"/>
              </a:rPr>
              <a:t>) </a:t>
            </a:r>
            <a:r>
              <a:rPr lang="en-US" sz="2000" b="1" dirty="0">
                <a:solidFill>
                  <a:schemeClr val="tx1"/>
                </a:solidFill>
                <a:sym typeface="+mn-ea"/>
              </a:rPr>
              <a:t>{</a:t>
            </a:r>
            <a:br>
              <a:rPr lang="en-US" sz="2000" dirty="0">
                <a:solidFill>
                  <a:schemeClr val="tx1"/>
                </a:solidFill>
                <a:sym typeface="+mn-ea"/>
              </a:rPr>
            </a:br>
            <a:r>
              <a:rPr lang="en-US" sz="2000" dirty="0">
                <a:solidFill>
                  <a:schemeClr val="tx1"/>
                </a:solidFill>
                <a:sym typeface="+mn-ea"/>
              </a:rPr>
              <a:t>  sum </a:t>
            </a:r>
            <a:r>
              <a:rPr lang="en-US" sz="2000" dirty="0" smtClean="0">
                <a:solidFill>
                  <a:schemeClr val="tx1"/>
                </a:solidFill>
                <a:sym typeface="+mn-ea"/>
              </a:rPr>
              <a:t>+= </a:t>
            </a:r>
            <a:r>
              <a:rPr lang="en-US" sz="2000" dirty="0">
                <a:solidFill>
                  <a:schemeClr val="tx1"/>
                </a:solidFill>
                <a:sym typeface="+mn-ea"/>
              </a:rPr>
              <a:t>x;</a:t>
            </a:r>
            <a:br>
              <a:rPr lang="en-US" sz="2000" dirty="0">
                <a:solidFill>
                  <a:schemeClr val="tx1"/>
                </a:solidFill>
                <a:sym typeface="+mn-ea"/>
              </a:rPr>
            </a:br>
            <a:r>
              <a:rPr lang="en-US" sz="2000" b="1" dirty="0">
                <a:solidFill>
                  <a:schemeClr val="tx1"/>
                </a:solidFill>
                <a:sym typeface="+mn-ea"/>
              </a:rPr>
              <a:t>}</a:t>
            </a:r>
            <a:endParaRPr lang="en-US" sz="2000" b="1" dirty="0" smtClean="0">
              <a:solidFill>
                <a:schemeClr val="tx1"/>
              </a:solidFill>
              <a:sym typeface="+mn-ea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467360" y="497840"/>
            <a:ext cx="10920730" cy="87439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ru-RU" altLang="ru-RU" sz="3600" b="1" dirty="0" smtClean="0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  <a:sym typeface="+mn-ea"/>
              </a:rPr>
              <a:t>Циклы</a:t>
            </a:r>
            <a:endParaRPr lang="ru-RU" altLang="ru-RU" sz="3600" b="1" dirty="0" smtClean="0">
              <a:solidFill>
                <a:schemeClr val="tx1"/>
              </a:solidFill>
              <a:latin typeface="Calibri" panose="020F0502020204030204" charset="0"/>
              <a:ea typeface="Calibri" panose="020F0502020204030204" charset="0"/>
              <a:cs typeface="Calibri" panose="020F0502020204030204" charset="0"/>
              <a:sym typeface="+mn-ea"/>
            </a:endParaRPr>
          </a:p>
        </p:txBody>
      </p:sp>
      <p:sp>
        <p:nvSpPr>
          <p:cNvPr id="3" name="圆角矩形 5"/>
          <p:cNvSpPr/>
          <p:nvPr/>
        </p:nvSpPr>
        <p:spPr>
          <a:xfrm>
            <a:off x="6077585" y="1977390"/>
            <a:ext cx="5310505" cy="4496435"/>
          </a:xfrm>
          <a:prstGeom prst="roundRect">
            <a:avLst>
              <a:gd name="adj" fmla="val 805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285750" indent="-285750">
              <a:buFont typeface="Arial" panose="020B0604020202020204" pitchFamily="34" charset="0"/>
              <a:buChar char="•"/>
            </a:pPr>
            <a:endParaRPr lang="ru-RU" altLang="en-US" dirty="0" smtClean="0">
              <a:solidFill>
                <a:schemeClr val="tx1"/>
              </a:solidFill>
              <a:ea typeface="Calibri" panose="020F0502020204030204" charset="0"/>
              <a:cs typeface="+mn-lt"/>
              <a:sym typeface="+mn-ea"/>
            </a:endParaRPr>
          </a:p>
        </p:txBody>
      </p:sp>
      <p:pic>
        <p:nvPicPr>
          <p:cNvPr id="5" name="Изображение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5550" y="2658110"/>
            <a:ext cx="2673985" cy="3140710"/>
          </a:xfrm>
          <a:prstGeom prst="rect">
            <a:avLst/>
          </a:prstGeom>
        </p:spPr>
      </p:pic>
      <p:pic>
        <p:nvPicPr>
          <p:cNvPr id="7" name="Изображение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0995" y="3614420"/>
            <a:ext cx="1752600" cy="122872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0C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467360" y="1978025"/>
            <a:ext cx="5456555" cy="4495800"/>
          </a:xfrm>
          <a:prstGeom prst="roundRect">
            <a:avLst>
              <a:gd name="adj" fmla="val 805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sym typeface="+mn-ea"/>
              </a:rPr>
              <a:t>while (</a:t>
            </a:r>
            <a:r>
              <a:rPr lang="en-US" sz="2000" b="1" dirty="0" err="1">
                <a:solidFill>
                  <a:schemeClr val="tx1"/>
                </a:solidFill>
                <a:sym typeface="+mn-ea"/>
              </a:rPr>
              <a:t>i</a:t>
            </a:r>
            <a:r>
              <a:rPr lang="en-US" sz="2000" b="1" dirty="0">
                <a:solidFill>
                  <a:schemeClr val="tx1"/>
                </a:solidFill>
                <a:sym typeface="+mn-ea"/>
              </a:rPr>
              <a:t> &lt; </a:t>
            </a:r>
            <a:r>
              <a:rPr lang="en-US" sz="2000" b="1" dirty="0" err="1" smtClean="0">
                <a:solidFill>
                  <a:schemeClr val="tx1"/>
                </a:solidFill>
                <a:sym typeface="+mn-ea"/>
              </a:rPr>
              <a:t>array.length</a:t>
            </a:r>
            <a:r>
              <a:rPr lang="en-US" sz="2000" b="1" dirty="0" smtClean="0">
                <a:solidFill>
                  <a:schemeClr val="tx1"/>
                </a:solidFill>
                <a:sym typeface="+mn-ea"/>
              </a:rPr>
              <a:t>) </a:t>
            </a:r>
            <a:r>
              <a:rPr lang="en-US" sz="2000" b="1" dirty="0">
                <a:solidFill>
                  <a:schemeClr val="tx1"/>
                </a:solidFill>
                <a:sym typeface="+mn-ea"/>
              </a:rPr>
              <a:t>{</a:t>
            </a:r>
            <a:br>
              <a:rPr lang="en-US" sz="2000" b="1" dirty="0">
                <a:solidFill>
                  <a:schemeClr val="tx1"/>
                </a:solidFill>
                <a:sym typeface="+mn-ea"/>
              </a:rPr>
            </a:br>
            <a:r>
              <a:rPr lang="en-US" sz="2000" dirty="0">
                <a:solidFill>
                  <a:schemeClr val="tx1"/>
                </a:solidFill>
                <a:sym typeface="+mn-ea"/>
              </a:rPr>
              <a:t>  </a:t>
            </a:r>
            <a:r>
              <a:rPr lang="en-US" sz="2000" dirty="0" smtClean="0">
                <a:solidFill>
                  <a:schemeClr val="tx1"/>
                </a:solidFill>
                <a:sym typeface="+mn-ea"/>
              </a:rPr>
              <a:t>sum += array[</a:t>
            </a:r>
            <a:r>
              <a:rPr lang="en-US" sz="2000" dirty="0" err="1" smtClean="0">
                <a:solidFill>
                  <a:schemeClr val="tx1"/>
                </a:solidFill>
                <a:sym typeface="+mn-ea"/>
              </a:rPr>
              <a:t>i</a:t>
            </a:r>
            <a:r>
              <a:rPr lang="en-US" sz="2000" dirty="0" smtClean="0">
                <a:solidFill>
                  <a:schemeClr val="tx1"/>
                </a:solidFill>
                <a:sym typeface="+mn-ea"/>
              </a:rPr>
              <a:t>];</a:t>
            </a:r>
            <a:endParaRPr lang="en-US" sz="2000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sym typeface="+mn-ea"/>
              </a:rPr>
              <a:t>  </a:t>
            </a:r>
            <a:r>
              <a:rPr lang="en-US" sz="2000" dirty="0" err="1">
                <a:solidFill>
                  <a:schemeClr val="tx1"/>
                </a:solidFill>
                <a:sym typeface="+mn-ea"/>
              </a:rPr>
              <a:t>i</a:t>
            </a:r>
            <a:r>
              <a:rPr lang="en-US" sz="2000" dirty="0">
                <a:solidFill>
                  <a:schemeClr val="tx1"/>
                </a:solidFill>
                <a:sym typeface="+mn-ea"/>
              </a:rPr>
              <a:t>++;</a:t>
            </a:r>
            <a:br>
              <a:rPr lang="en-US" sz="2000" dirty="0">
                <a:solidFill>
                  <a:schemeClr val="tx1"/>
                </a:solidFill>
                <a:sym typeface="+mn-ea"/>
              </a:rPr>
            </a:br>
            <a:r>
              <a:rPr lang="en-US" sz="2000" b="1" dirty="0" smtClean="0">
                <a:solidFill>
                  <a:schemeClr val="tx1"/>
                </a:solidFill>
                <a:sym typeface="+mn-ea"/>
              </a:rPr>
              <a:t>}</a:t>
            </a:r>
            <a:endParaRPr lang="en-US" sz="2000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sym typeface="+mn-ea"/>
              </a:rPr>
              <a:t>do {</a:t>
            </a:r>
            <a:br>
              <a:rPr lang="en-US" sz="2000" dirty="0">
                <a:solidFill>
                  <a:schemeClr val="tx1"/>
                </a:solidFill>
                <a:sym typeface="+mn-ea"/>
              </a:rPr>
            </a:br>
            <a:r>
              <a:rPr lang="en-US" sz="2000" i="1" dirty="0">
                <a:solidFill>
                  <a:schemeClr val="tx1"/>
                </a:solidFill>
                <a:sym typeface="+mn-ea"/>
              </a:rPr>
              <a:t> </a:t>
            </a:r>
            <a:r>
              <a:rPr lang="en-US" sz="2000" i="1" dirty="0">
                <a:solidFill>
                  <a:schemeClr val="bg1">
                    <a:lumMod val="65000"/>
                  </a:schemeClr>
                </a:solidFill>
                <a:sym typeface="+mn-ea"/>
              </a:rPr>
              <a:t> // code block to be executed</a:t>
            </a:r>
            <a:br>
              <a:rPr lang="en-US" sz="2000" i="1" dirty="0">
                <a:solidFill>
                  <a:schemeClr val="tx1"/>
                </a:solidFill>
                <a:sym typeface="+mn-ea"/>
              </a:rPr>
            </a:br>
            <a:r>
              <a:rPr lang="en-US" sz="2000" b="1" dirty="0">
                <a:solidFill>
                  <a:schemeClr val="tx1"/>
                </a:solidFill>
                <a:sym typeface="+mn-ea"/>
              </a:rPr>
              <a:t>}</a:t>
            </a:r>
            <a:br>
              <a:rPr lang="en-US" sz="2000" b="1" dirty="0">
                <a:solidFill>
                  <a:schemeClr val="tx1"/>
                </a:solidFill>
                <a:sym typeface="+mn-ea"/>
              </a:rPr>
            </a:br>
            <a:r>
              <a:rPr lang="en-US" sz="2000" b="1" dirty="0">
                <a:solidFill>
                  <a:schemeClr val="tx1"/>
                </a:solidFill>
                <a:sym typeface="+mn-ea"/>
              </a:rPr>
              <a:t>while (</a:t>
            </a:r>
            <a:r>
              <a:rPr lang="en-US" sz="2000" b="1" i="1" dirty="0">
                <a:solidFill>
                  <a:schemeClr val="tx1"/>
                </a:solidFill>
                <a:sym typeface="+mn-ea"/>
              </a:rPr>
              <a:t>condition</a:t>
            </a:r>
            <a:r>
              <a:rPr lang="en-US" sz="2000" b="1" dirty="0">
                <a:solidFill>
                  <a:schemeClr val="tx1"/>
                </a:solidFill>
                <a:sym typeface="+mn-ea"/>
              </a:rPr>
              <a:t>);</a:t>
            </a:r>
            <a:endParaRPr lang="en-US" sz="2000" b="1" dirty="0" smtClean="0">
              <a:solidFill>
                <a:schemeClr val="tx1"/>
              </a:solidFill>
              <a:sym typeface="+mn-ea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467360" y="497840"/>
            <a:ext cx="10920730" cy="87439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ru-RU" altLang="ru-RU" sz="3600" b="1" dirty="0" smtClean="0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  <a:sym typeface="+mn-ea"/>
              </a:rPr>
              <a:t>Циклы</a:t>
            </a:r>
            <a:endParaRPr lang="ru-RU" altLang="ru-RU" sz="3600" b="1" dirty="0" smtClean="0">
              <a:solidFill>
                <a:schemeClr val="tx1"/>
              </a:solidFill>
              <a:latin typeface="Calibri" panose="020F0502020204030204" charset="0"/>
              <a:ea typeface="Calibri" panose="020F0502020204030204" charset="0"/>
              <a:cs typeface="Calibri" panose="020F0502020204030204" charset="0"/>
              <a:sym typeface="+mn-ea"/>
            </a:endParaRPr>
          </a:p>
        </p:txBody>
      </p:sp>
      <p:sp>
        <p:nvSpPr>
          <p:cNvPr id="3" name="圆角矩形 5"/>
          <p:cNvSpPr/>
          <p:nvPr/>
        </p:nvSpPr>
        <p:spPr>
          <a:xfrm>
            <a:off x="6077585" y="1977390"/>
            <a:ext cx="5310505" cy="4496435"/>
          </a:xfrm>
          <a:prstGeom prst="roundRect">
            <a:avLst>
              <a:gd name="adj" fmla="val 805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285750" indent="-285750">
              <a:buFont typeface="Arial" panose="020B0604020202020204" pitchFamily="34" charset="0"/>
              <a:buChar char="•"/>
            </a:pPr>
            <a:endParaRPr lang="ru-RU" altLang="en-US" dirty="0" smtClean="0">
              <a:solidFill>
                <a:schemeClr val="tx1"/>
              </a:solidFill>
              <a:ea typeface="Calibri" panose="020F0502020204030204" charset="0"/>
              <a:cs typeface="+mn-lt"/>
              <a:sym typeface="+mn-ea"/>
            </a:endParaRPr>
          </a:p>
        </p:txBody>
      </p:sp>
      <p:pic>
        <p:nvPicPr>
          <p:cNvPr id="8" name="Изображение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3175" y="2463165"/>
            <a:ext cx="2447925" cy="3524250"/>
          </a:xfrm>
          <a:prstGeom prst="rect">
            <a:avLst/>
          </a:prstGeom>
        </p:spPr>
      </p:pic>
      <p:pic>
        <p:nvPicPr>
          <p:cNvPr id="9" name="Изображение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0360" y="3592195"/>
            <a:ext cx="1724025" cy="10191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0C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467360" y="1978025"/>
            <a:ext cx="5456555" cy="4495800"/>
          </a:xfrm>
          <a:prstGeom prst="roundRect">
            <a:avLst>
              <a:gd name="adj" fmla="val 805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sym typeface="+mn-ea"/>
              </a:rPr>
              <a:t>for (let </a:t>
            </a:r>
            <a:r>
              <a:rPr lang="en-US" sz="2000" dirty="0" err="1">
                <a:solidFill>
                  <a:schemeClr val="tx1"/>
                </a:solidFill>
                <a:sym typeface="+mn-ea"/>
              </a:rPr>
              <a:t>i</a:t>
            </a:r>
            <a:r>
              <a:rPr lang="en-US" sz="2000" dirty="0">
                <a:solidFill>
                  <a:schemeClr val="tx1"/>
                </a:solidFill>
                <a:sym typeface="+mn-ea"/>
              </a:rPr>
              <a:t> = 0; </a:t>
            </a:r>
            <a:r>
              <a:rPr lang="en-US" sz="2000" dirty="0" err="1">
                <a:solidFill>
                  <a:schemeClr val="tx1"/>
                </a:solidFill>
                <a:sym typeface="+mn-ea"/>
              </a:rPr>
              <a:t>i</a:t>
            </a:r>
            <a:r>
              <a:rPr lang="en-US" sz="2000" dirty="0">
                <a:solidFill>
                  <a:schemeClr val="tx1"/>
                </a:solidFill>
                <a:sym typeface="+mn-ea"/>
              </a:rPr>
              <a:t> &lt; 10; </a:t>
            </a:r>
            <a:r>
              <a:rPr lang="en-US" sz="2000" dirty="0" err="1">
                <a:solidFill>
                  <a:schemeClr val="tx1"/>
                </a:solidFill>
                <a:sym typeface="+mn-ea"/>
              </a:rPr>
              <a:t>i</a:t>
            </a:r>
            <a:r>
              <a:rPr lang="en-US" sz="2000" dirty="0">
                <a:solidFill>
                  <a:schemeClr val="tx1"/>
                </a:solidFill>
                <a:sym typeface="+mn-ea"/>
              </a:rPr>
              <a:t>++) {</a:t>
            </a:r>
            <a:br>
              <a:rPr lang="en-US" sz="2000" dirty="0">
                <a:solidFill>
                  <a:schemeClr val="tx1"/>
                </a:solidFill>
                <a:sym typeface="+mn-ea"/>
              </a:rPr>
            </a:br>
            <a:r>
              <a:rPr lang="en-US" sz="2000" dirty="0">
                <a:solidFill>
                  <a:schemeClr val="tx1"/>
                </a:solidFill>
                <a:sym typeface="+mn-ea"/>
              </a:rPr>
              <a:t>  if (</a:t>
            </a:r>
            <a:r>
              <a:rPr lang="en-US" sz="2000" dirty="0" err="1">
                <a:solidFill>
                  <a:schemeClr val="tx1"/>
                </a:solidFill>
                <a:sym typeface="+mn-ea"/>
              </a:rPr>
              <a:t>i</a:t>
            </a:r>
            <a:r>
              <a:rPr lang="en-US" sz="2000" dirty="0">
                <a:solidFill>
                  <a:schemeClr val="tx1"/>
                </a:solidFill>
                <a:sym typeface="+mn-ea"/>
              </a:rPr>
              <a:t> === 3) { </a:t>
            </a:r>
            <a:r>
              <a:rPr lang="en-US" sz="2000" b="1" dirty="0">
                <a:solidFill>
                  <a:schemeClr val="tx1"/>
                </a:solidFill>
                <a:sym typeface="+mn-ea"/>
              </a:rPr>
              <a:t>break</a:t>
            </a:r>
            <a:r>
              <a:rPr lang="en-US" sz="2000" dirty="0">
                <a:solidFill>
                  <a:schemeClr val="tx1"/>
                </a:solidFill>
                <a:sym typeface="+mn-ea"/>
              </a:rPr>
              <a:t>; }</a:t>
            </a:r>
            <a:br>
              <a:rPr lang="en-US" sz="2000" dirty="0">
                <a:solidFill>
                  <a:schemeClr val="tx1"/>
                </a:solidFill>
                <a:sym typeface="+mn-ea"/>
              </a:rPr>
            </a:br>
            <a:r>
              <a:rPr lang="en-US" sz="2000" dirty="0">
                <a:solidFill>
                  <a:schemeClr val="tx1"/>
                </a:solidFill>
                <a:sym typeface="+mn-ea"/>
              </a:rPr>
              <a:t>  text += "The number is " + </a:t>
            </a:r>
            <a:r>
              <a:rPr lang="en-US" sz="2000" dirty="0" err="1">
                <a:solidFill>
                  <a:schemeClr val="tx1"/>
                </a:solidFill>
                <a:sym typeface="+mn-ea"/>
              </a:rPr>
              <a:t>i</a:t>
            </a:r>
            <a:r>
              <a:rPr lang="en-US" sz="2000" dirty="0">
                <a:solidFill>
                  <a:schemeClr val="tx1"/>
                </a:solidFill>
                <a:sym typeface="+mn-ea"/>
              </a:rPr>
              <a:t> + "&lt;</a:t>
            </a:r>
            <a:r>
              <a:rPr lang="en-US" sz="2000" dirty="0" err="1">
                <a:solidFill>
                  <a:schemeClr val="tx1"/>
                </a:solidFill>
                <a:sym typeface="+mn-ea"/>
              </a:rPr>
              <a:t>br</a:t>
            </a:r>
            <a:r>
              <a:rPr lang="en-US" sz="2000" dirty="0">
                <a:solidFill>
                  <a:schemeClr val="tx1"/>
                </a:solidFill>
                <a:sym typeface="+mn-ea"/>
              </a:rPr>
              <a:t>&gt;";</a:t>
            </a:r>
            <a:br>
              <a:rPr lang="en-US" sz="2000" dirty="0">
                <a:solidFill>
                  <a:schemeClr val="tx1"/>
                </a:solidFill>
                <a:sym typeface="+mn-ea"/>
              </a:rPr>
            </a:br>
            <a:r>
              <a:rPr lang="en-US" sz="2000" dirty="0" smtClean="0">
                <a:solidFill>
                  <a:schemeClr val="tx1"/>
                </a:solidFill>
                <a:sym typeface="+mn-ea"/>
              </a:rPr>
              <a:t>}</a:t>
            </a:r>
            <a:endParaRPr lang="en-US" sz="2000" b="1" dirty="0" smtClean="0">
              <a:solidFill>
                <a:schemeClr val="tx1"/>
              </a:solidFill>
              <a:sym typeface="+mn-ea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467360" y="497840"/>
            <a:ext cx="10920730" cy="87439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3600" b="1" dirty="0">
                <a:solidFill>
                  <a:schemeClr val="tx1"/>
                </a:solidFill>
                <a:sym typeface="+mn-ea"/>
              </a:rPr>
              <a:t>b</a:t>
            </a:r>
            <a:r>
              <a:rPr lang="en-US" sz="3600" b="1" dirty="0" smtClean="0">
                <a:solidFill>
                  <a:schemeClr val="tx1"/>
                </a:solidFill>
                <a:sym typeface="+mn-ea"/>
              </a:rPr>
              <a:t>reak, continue, label</a:t>
            </a:r>
            <a:endParaRPr lang="en-US" altLang="ru-RU" sz="3600" b="1" dirty="0" smtClean="0">
              <a:solidFill>
                <a:schemeClr val="tx1"/>
              </a:solidFill>
              <a:latin typeface="Calibri" panose="020F0502020204030204" charset="0"/>
              <a:ea typeface="Calibri" panose="020F0502020204030204" charset="0"/>
              <a:cs typeface="Calibri" panose="020F0502020204030204" charset="0"/>
              <a:sym typeface="+mn-ea"/>
            </a:endParaRPr>
          </a:p>
        </p:txBody>
      </p:sp>
      <p:sp>
        <p:nvSpPr>
          <p:cNvPr id="3" name="圆角矩形 5"/>
          <p:cNvSpPr/>
          <p:nvPr/>
        </p:nvSpPr>
        <p:spPr>
          <a:xfrm>
            <a:off x="6077585" y="1977390"/>
            <a:ext cx="5310505" cy="4496435"/>
          </a:xfrm>
          <a:prstGeom prst="roundRect">
            <a:avLst>
              <a:gd name="adj" fmla="val 805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schemeClr val="tx1"/>
                </a:solidFill>
                <a:sym typeface="+mn-ea"/>
              </a:rPr>
              <a:t>continue</a:t>
            </a:r>
            <a:r>
              <a:rPr lang="ru-RU" b="1" dirty="0" smtClean="0">
                <a:solidFill>
                  <a:schemeClr val="tx1"/>
                </a:solidFill>
                <a:sym typeface="+mn-ea"/>
              </a:rPr>
              <a:t> </a:t>
            </a:r>
            <a:r>
              <a:rPr lang="ru-RU" dirty="0" smtClean="0">
                <a:solidFill>
                  <a:schemeClr val="tx1"/>
                </a:solidFill>
                <a:sym typeface="+mn-ea"/>
              </a:rPr>
              <a:t>– выход из одной итерации</a:t>
            </a:r>
            <a:r>
              <a:rPr lang="en-US" altLang="ru-RU" dirty="0" smtClean="0">
                <a:solidFill>
                  <a:schemeClr val="tx1"/>
                </a:solidFill>
                <a:sym typeface="+mn-ea"/>
              </a:rPr>
              <a:t>;</a:t>
            </a:r>
            <a:endParaRPr lang="en-US" altLang="ru-RU" dirty="0" smtClean="0">
              <a:solidFill>
                <a:schemeClr val="tx1"/>
              </a:solidFill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schemeClr val="tx1"/>
                </a:solidFill>
                <a:sym typeface="+mn-ea"/>
              </a:rPr>
              <a:t>break </a:t>
            </a:r>
            <a:r>
              <a:rPr lang="en-US" dirty="0" smtClean="0">
                <a:solidFill>
                  <a:schemeClr val="tx1"/>
                </a:solidFill>
                <a:sym typeface="+mn-ea"/>
              </a:rPr>
              <a:t>– </a:t>
            </a:r>
            <a:r>
              <a:rPr lang="ru-RU" dirty="0" smtClean="0">
                <a:solidFill>
                  <a:schemeClr val="tx1"/>
                </a:solidFill>
                <a:sym typeface="+mn-ea"/>
              </a:rPr>
              <a:t>из всего цикла (блока)</a:t>
            </a:r>
            <a:r>
              <a:rPr lang="en-US" altLang="ru-RU" dirty="0" smtClean="0">
                <a:solidFill>
                  <a:schemeClr val="tx1"/>
                </a:solidFill>
                <a:sym typeface="+mn-ea"/>
              </a:rPr>
              <a:t>;</a:t>
            </a:r>
            <a:endParaRPr lang="ru-RU" dirty="0" smtClean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schemeClr val="tx1"/>
                </a:solidFill>
                <a:sym typeface="+mn-ea"/>
              </a:rPr>
              <a:t>label </a:t>
            </a:r>
            <a:r>
              <a:rPr lang="en-US" dirty="0" smtClean="0">
                <a:solidFill>
                  <a:schemeClr val="tx1"/>
                </a:solidFill>
                <a:sym typeface="+mn-ea"/>
              </a:rPr>
              <a:t>–</a:t>
            </a:r>
            <a:r>
              <a:rPr lang="ru-RU" dirty="0" smtClean="0">
                <a:solidFill>
                  <a:schemeClr val="tx1"/>
                </a:solidFill>
                <a:sym typeface="+mn-ea"/>
              </a:rPr>
              <a:t> не используйте</a:t>
            </a:r>
            <a:r>
              <a:rPr lang="en-US" dirty="0" smtClean="0">
                <a:solidFill>
                  <a:schemeClr val="tx1"/>
                </a:solidFill>
                <a:sym typeface="+mn-ea"/>
              </a:rPr>
              <a:t> </a:t>
            </a:r>
            <a:r>
              <a:rPr lang="ru-RU" dirty="0" smtClean="0">
                <a:solidFill>
                  <a:schemeClr val="tx1"/>
                </a:solidFill>
                <a:sym typeface="+mn-ea"/>
              </a:rPr>
              <a:t>никогда!</a:t>
            </a:r>
            <a:endParaRPr lang="ru-RU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altLang="en-US" dirty="0" smtClean="0">
              <a:solidFill>
                <a:schemeClr val="tx1"/>
              </a:solidFill>
              <a:ea typeface="Calibri" panose="020F0502020204030204" charset="0"/>
              <a:cs typeface="+mn-lt"/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0C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467360" y="1978025"/>
            <a:ext cx="5456555" cy="4495800"/>
          </a:xfrm>
          <a:prstGeom prst="roundRect">
            <a:avLst>
              <a:gd name="adj" fmla="val 805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sym typeface="+mn-ea"/>
              </a:rPr>
              <a:t>let </a:t>
            </a:r>
            <a:r>
              <a:rPr lang="en-US" sz="2000" dirty="0">
                <a:solidFill>
                  <a:schemeClr val="tx1"/>
                </a:solidFill>
                <a:sym typeface="+mn-ea"/>
              </a:rPr>
              <a:t>s1 = "Hello, world!";</a:t>
            </a:r>
            <a:endParaRPr lang="en-US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sym typeface="+mn-ea"/>
              </a:rPr>
              <a:t>let </a:t>
            </a:r>
            <a:r>
              <a:rPr lang="en-US" sz="2000" dirty="0">
                <a:solidFill>
                  <a:schemeClr val="tx1"/>
                </a:solidFill>
                <a:sym typeface="+mn-ea"/>
              </a:rPr>
              <a:t>s2 = 'some "words" with \'quotes\'';</a:t>
            </a:r>
            <a:endParaRPr lang="en-US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sym typeface="+mn-ea"/>
              </a:rPr>
              <a:t>let </a:t>
            </a:r>
            <a:r>
              <a:rPr lang="en-US" sz="2000" dirty="0">
                <a:solidFill>
                  <a:schemeClr val="tx1"/>
                </a:solidFill>
                <a:sym typeface="+mn-ea"/>
              </a:rPr>
              <a:t>s3 = s1 + " " </a:t>
            </a:r>
            <a:r>
              <a:rPr lang="en-US" sz="2000" dirty="0" smtClean="0">
                <a:solidFill>
                  <a:schemeClr val="tx1"/>
                </a:solidFill>
                <a:sym typeface="+mn-ea"/>
              </a:rPr>
              <a:t>+ s2</a:t>
            </a:r>
            <a:r>
              <a:rPr lang="en-US" sz="2000" dirty="0">
                <a:solidFill>
                  <a:schemeClr val="tx1"/>
                </a:solidFill>
                <a:sym typeface="+mn-ea"/>
              </a:rPr>
              <a:t>;</a:t>
            </a:r>
            <a:endParaRPr lang="en-US" sz="2000" dirty="0">
              <a:solidFill>
                <a:schemeClr val="tx1"/>
              </a:solidFill>
              <a:sym typeface="+mn-ea"/>
            </a:endParaRPr>
          </a:p>
          <a:p>
            <a:pPr marL="0" indent="0">
              <a:buNone/>
            </a:pPr>
            <a:endParaRPr lang="en-US" sz="2000" b="1" dirty="0" smtClean="0">
              <a:solidFill>
                <a:schemeClr val="tx1"/>
              </a:solidFill>
              <a:sym typeface="+mn-ea"/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sym typeface="+mn-ea"/>
              </a:rPr>
              <a:t>let </a:t>
            </a:r>
            <a:r>
              <a:rPr lang="en-US" sz="2000" dirty="0">
                <a:solidFill>
                  <a:schemeClr val="tx1"/>
                </a:solidFill>
                <a:sym typeface="+mn-ea"/>
              </a:rPr>
              <a:t>part = </a:t>
            </a:r>
            <a:r>
              <a:rPr lang="en-US" sz="2000" dirty="0" smtClean="0">
                <a:solidFill>
                  <a:schemeClr val="tx1"/>
                </a:solidFill>
                <a:sym typeface="+mn-ea"/>
              </a:rPr>
              <a:t>s3</a:t>
            </a:r>
            <a:r>
              <a:rPr lang="en-US" sz="2000" b="1" dirty="0" smtClean="0">
                <a:solidFill>
                  <a:schemeClr val="tx1"/>
                </a:solidFill>
                <a:sym typeface="+mn-ea"/>
              </a:rPr>
              <a:t>.slice</a:t>
            </a:r>
            <a:r>
              <a:rPr lang="en-US" sz="2000" dirty="0" smtClean="0">
                <a:solidFill>
                  <a:schemeClr val="tx1"/>
                </a:solidFill>
                <a:sym typeface="+mn-ea"/>
              </a:rPr>
              <a:t>(7</a:t>
            </a:r>
            <a:r>
              <a:rPr lang="en-US" sz="2000" dirty="0">
                <a:solidFill>
                  <a:schemeClr val="tx1"/>
                </a:solidFill>
                <a:sym typeface="+mn-ea"/>
              </a:rPr>
              <a:t>, 13</a:t>
            </a:r>
            <a:r>
              <a:rPr lang="en-US" sz="2000" dirty="0" smtClean="0">
                <a:solidFill>
                  <a:schemeClr val="tx1"/>
                </a:solidFill>
                <a:sym typeface="+mn-ea"/>
              </a:rPr>
              <a:t>);</a:t>
            </a:r>
            <a:endParaRPr lang="en-US" sz="2000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sym typeface="+mn-ea"/>
              </a:rPr>
              <a:t>l</a:t>
            </a:r>
            <a:r>
              <a:rPr lang="en-US" sz="2000" b="1" dirty="0" smtClean="0">
                <a:solidFill>
                  <a:schemeClr val="tx1"/>
                </a:solidFill>
                <a:sym typeface="+mn-ea"/>
              </a:rPr>
              <a:t>et </a:t>
            </a:r>
            <a:r>
              <a:rPr lang="en-US" sz="2000" dirty="0" err="1" smtClean="0">
                <a:solidFill>
                  <a:schemeClr val="tx1"/>
                </a:solidFill>
                <a:sym typeface="+mn-ea"/>
              </a:rPr>
              <a:t>i</a:t>
            </a:r>
            <a:r>
              <a:rPr lang="en-US" sz="2000" dirty="0" smtClean="0">
                <a:solidFill>
                  <a:schemeClr val="tx1"/>
                </a:solidFill>
                <a:sym typeface="+mn-ea"/>
              </a:rPr>
              <a:t> = s3</a:t>
            </a:r>
            <a:r>
              <a:rPr lang="en-US" sz="2000" b="1" dirty="0" smtClean="0">
                <a:solidFill>
                  <a:schemeClr val="tx1"/>
                </a:solidFill>
                <a:sym typeface="+mn-ea"/>
              </a:rPr>
              <a:t>.indexOf</a:t>
            </a:r>
            <a:r>
              <a:rPr lang="en-US" sz="2000" dirty="0" smtClean="0">
                <a:solidFill>
                  <a:schemeClr val="tx1"/>
                </a:solidFill>
                <a:sym typeface="+mn-ea"/>
              </a:rPr>
              <a:t>("</a:t>
            </a:r>
            <a:r>
              <a:rPr lang="en-US" sz="2000" dirty="0">
                <a:solidFill>
                  <a:schemeClr val="tx1"/>
                </a:solidFill>
                <a:sym typeface="+mn-ea"/>
              </a:rPr>
              <a:t>word</a:t>
            </a:r>
            <a:r>
              <a:rPr lang="en-US" sz="2000" dirty="0" smtClean="0">
                <a:solidFill>
                  <a:schemeClr val="tx1"/>
                </a:solidFill>
                <a:sym typeface="+mn-ea"/>
              </a:rPr>
              <a:t>");</a:t>
            </a:r>
            <a:endParaRPr lang="ru-RU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ru-RU" sz="2000" b="1" dirty="0" smtClean="0">
              <a:solidFill>
                <a:schemeClr val="tx1"/>
              </a:solidFill>
              <a:sym typeface="+mn-ea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467360" y="497840"/>
            <a:ext cx="10920730" cy="87439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ru-RU" altLang="en-US" sz="3600" b="1" dirty="0">
                <a:solidFill>
                  <a:schemeClr val="tx1"/>
                </a:solidFill>
                <a:sym typeface="+mn-ea"/>
              </a:rPr>
              <a:t>Подробнее про типы: строки </a:t>
            </a:r>
            <a:endParaRPr lang="ru-RU" altLang="en-US" sz="3600" b="1" dirty="0" smtClean="0">
              <a:solidFill>
                <a:schemeClr val="tx1"/>
              </a:solidFill>
              <a:latin typeface="Calibri" panose="020F0502020204030204" charset="0"/>
              <a:ea typeface="Calibri" panose="020F0502020204030204" charset="0"/>
              <a:cs typeface="Calibri" panose="020F0502020204030204" charset="0"/>
              <a:sym typeface="+mn-ea"/>
            </a:endParaRPr>
          </a:p>
        </p:txBody>
      </p:sp>
      <p:sp>
        <p:nvSpPr>
          <p:cNvPr id="3" name="圆角矩形 5"/>
          <p:cNvSpPr/>
          <p:nvPr/>
        </p:nvSpPr>
        <p:spPr>
          <a:xfrm>
            <a:off x="6077585" y="1977390"/>
            <a:ext cx="5310505" cy="4496435"/>
          </a:xfrm>
          <a:prstGeom prst="roundRect">
            <a:avLst>
              <a:gd name="adj" fmla="val 805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285750" indent="-285750">
              <a:buFont typeface="Arial" panose="020B0604020202020204" pitchFamily="34" charset="0"/>
              <a:buChar char="•"/>
            </a:pPr>
            <a:endParaRPr lang="ru-RU" altLang="en-US" dirty="0" smtClean="0">
              <a:solidFill>
                <a:schemeClr val="tx1"/>
              </a:solidFill>
              <a:ea typeface="Calibri" panose="020F0502020204030204" charset="0"/>
              <a:cs typeface="+mn-lt"/>
              <a:sym typeface="+mn-ea"/>
            </a:endParaRPr>
          </a:p>
        </p:txBody>
      </p:sp>
      <p:pic>
        <p:nvPicPr>
          <p:cNvPr id="5" name="Изображение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41235" y="2284095"/>
            <a:ext cx="2783205" cy="2020570"/>
          </a:xfrm>
          <a:prstGeom prst="rect">
            <a:avLst/>
          </a:prstGeom>
        </p:spPr>
      </p:pic>
      <p:pic>
        <p:nvPicPr>
          <p:cNvPr id="7" name="Изображение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2485" y="4561205"/>
            <a:ext cx="3209925" cy="168592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0C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467360" y="1978025"/>
            <a:ext cx="5456555" cy="4495800"/>
          </a:xfrm>
          <a:prstGeom prst="roundRect">
            <a:avLst>
              <a:gd name="adj" fmla="val 805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r>
              <a:rPr lang="en-US" sz="2000" b="1" dirty="0" err="1">
                <a:solidFill>
                  <a:schemeClr val="tx1"/>
                </a:solidFill>
                <a:sym typeface="+mn-ea"/>
              </a:rPr>
              <a:t>const</a:t>
            </a:r>
            <a:r>
              <a:rPr lang="en-US" sz="2000" b="1" dirty="0">
                <a:solidFill>
                  <a:schemeClr val="tx1"/>
                </a:solidFill>
                <a:sym typeface="+mn-ea"/>
              </a:rPr>
              <a:t> </a:t>
            </a:r>
            <a:r>
              <a:rPr lang="en-US" sz="2000" dirty="0">
                <a:solidFill>
                  <a:schemeClr val="tx1"/>
                </a:solidFill>
                <a:sym typeface="+mn-ea"/>
              </a:rPr>
              <a:t>fruits = ["Banana", "Orange", "Apple</a:t>
            </a:r>
            <a:r>
              <a:rPr lang="en-US" sz="2000" dirty="0" smtClean="0">
                <a:solidFill>
                  <a:schemeClr val="tx1"/>
                </a:solidFill>
                <a:sym typeface="+mn-ea"/>
              </a:rPr>
              <a:t>"];</a:t>
            </a:r>
            <a:endParaRPr lang="en-US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2000" dirty="0" smtClean="0">
                <a:solidFill>
                  <a:schemeClr val="tx1"/>
                </a:solidFill>
                <a:sym typeface="+mn-ea"/>
              </a:rPr>
              <a:t>fruits</a:t>
            </a:r>
            <a:r>
              <a:rPr lang="en-US" sz="2000" b="1" dirty="0" smtClean="0">
                <a:solidFill>
                  <a:schemeClr val="tx1"/>
                </a:solidFill>
                <a:sym typeface="+mn-ea"/>
              </a:rPr>
              <a:t>[2]</a:t>
            </a:r>
            <a:r>
              <a:rPr lang="en-US" sz="2000" dirty="0" smtClean="0">
                <a:solidFill>
                  <a:schemeClr val="tx1"/>
                </a:solidFill>
                <a:sym typeface="+mn-ea"/>
              </a:rPr>
              <a:t> </a:t>
            </a:r>
            <a:r>
              <a:rPr lang="en-US" sz="2000" dirty="0">
                <a:solidFill>
                  <a:schemeClr val="tx1"/>
                </a:solidFill>
                <a:sym typeface="+mn-ea"/>
              </a:rPr>
              <a:t>= "</a:t>
            </a:r>
            <a:r>
              <a:rPr lang="en-US" sz="2000" dirty="0" smtClean="0">
                <a:solidFill>
                  <a:schemeClr val="tx1"/>
                </a:solidFill>
                <a:sym typeface="+mn-ea"/>
              </a:rPr>
              <a:t>Mango";</a:t>
            </a:r>
            <a:endParaRPr lang="en-US" sz="2000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2000" dirty="0" err="1">
                <a:solidFill>
                  <a:schemeClr val="tx1"/>
                </a:solidFill>
                <a:sym typeface="+mn-ea"/>
              </a:rPr>
              <a:t>fruits</a:t>
            </a:r>
            <a:r>
              <a:rPr lang="en-US" sz="2000" b="1" dirty="0" err="1">
                <a:solidFill>
                  <a:schemeClr val="tx1"/>
                </a:solidFill>
                <a:sym typeface="+mn-ea"/>
              </a:rPr>
              <a:t>.push</a:t>
            </a:r>
            <a:r>
              <a:rPr lang="en-US" sz="2000" dirty="0">
                <a:solidFill>
                  <a:schemeClr val="tx1"/>
                </a:solidFill>
                <a:sym typeface="+mn-ea"/>
              </a:rPr>
              <a:t>("Kiwi</a:t>
            </a:r>
            <a:r>
              <a:rPr lang="en-US" sz="2000" dirty="0" smtClean="0">
                <a:solidFill>
                  <a:schemeClr val="tx1"/>
                </a:solidFill>
                <a:sym typeface="+mn-ea"/>
              </a:rPr>
              <a:t>");</a:t>
            </a:r>
            <a:endParaRPr lang="en-US" sz="2000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sym typeface="+mn-ea"/>
              </a:rPr>
              <a:t>let </a:t>
            </a:r>
            <a:r>
              <a:rPr lang="en-US" sz="2000" dirty="0">
                <a:solidFill>
                  <a:schemeClr val="tx1"/>
                </a:solidFill>
                <a:sym typeface="+mn-ea"/>
              </a:rPr>
              <a:t>fruit = </a:t>
            </a:r>
            <a:r>
              <a:rPr lang="en-US" sz="2000" dirty="0" err="1">
                <a:solidFill>
                  <a:schemeClr val="tx1"/>
                </a:solidFill>
                <a:sym typeface="+mn-ea"/>
              </a:rPr>
              <a:t>fruits</a:t>
            </a:r>
            <a:r>
              <a:rPr lang="en-US" sz="2000" b="1" dirty="0" err="1">
                <a:solidFill>
                  <a:schemeClr val="tx1"/>
                </a:solidFill>
                <a:sym typeface="+mn-ea"/>
              </a:rPr>
              <a:t>.pop</a:t>
            </a:r>
            <a:r>
              <a:rPr lang="en-US" sz="2000" dirty="0" smtClean="0">
                <a:solidFill>
                  <a:schemeClr val="tx1"/>
                </a:solidFill>
                <a:sym typeface="+mn-ea"/>
              </a:rPr>
              <a:t>();</a:t>
            </a:r>
            <a:endParaRPr lang="en-US" sz="2000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2000" dirty="0" err="1">
                <a:solidFill>
                  <a:schemeClr val="tx1"/>
                </a:solidFill>
                <a:sym typeface="+mn-ea"/>
              </a:rPr>
              <a:t>fruits</a:t>
            </a:r>
            <a:r>
              <a:rPr lang="en-US" sz="2000" b="1" dirty="0" err="1">
                <a:solidFill>
                  <a:schemeClr val="tx1"/>
                </a:solidFill>
                <a:sym typeface="+mn-ea"/>
              </a:rPr>
              <a:t>.shift</a:t>
            </a:r>
            <a:r>
              <a:rPr lang="en-US" sz="2000" dirty="0" smtClean="0">
                <a:solidFill>
                  <a:schemeClr val="tx1"/>
                </a:solidFill>
                <a:sym typeface="+mn-ea"/>
              </a:rPr>
              <a:t>();</a:t>
            </a:r>
            <a:endParaRPr lang="en-US" sz="2000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2000" dirty="0" err="1">
                <a:solidFill>
                  <a:schemeClr val="tx1"/>
                </a:solidFill>
                <a:sym typeface="+mn-ea"/>
              </a:rPr>
              <a:t>fruits</a:t>
            </a:r>
            <a:r>
              <a:rPr lang="en-US" sz="2000" b="1" dirty="0" err="1">
                <a:solidFill>
                  <a:schemeClr val="tx1"/>
                </a:solidFill>
                <a:sym typeface="+mn-ea"/>
              </a:rPr>
              <a:t>.join</a:t>
            </a:r>
            <a:r>
              <a:rPr lang="en-US" sz="2000" dirty="0">
                <a:solidFill>
                  <a:schemeClr val="tx1"/>
                </a:solidFill>
                <a:sym typeface="+mn-ea"/>
              </a:rPr>
              <a:t>(" * </a:t>
            </a:r>
            <a:r>
              <a:rPr lang="en-US" sz="2000" dirty="0" smtClean="0">
                <a:solidFill>
                  <a:schemeClr val="tx1"/>
                </a:solidFill>
                <a:sym typeface="+mn-ea"/>
              </a:rPr>
              <a:t>");</a:t>
            </a:r>
            <a:endParaRPr lang="en-US" sz="2000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200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 err="1">
                <a:solidFill>
                  <a:schemeClr val="tx1"/>
                </a:solidFill>
                <a:sym typeface="+mn-ea"/>
              </a:rPr>
              <a:t>concat</a:t>
            </a:r>
            <a:r>
              <a:rPr lang="en-US" sz="2000" dirty="0" smtClean="0">
                <a:solidFill>
                  <a:schemeClr val="tx1"/>
                </a:solidFill>
                <a:sym typeface="+mn-ea"/>
              </a:rPr>
              <a:t>()</a:t>
            </a:r>
            <a:endParaRPr lang="en-US" sz="2000" dirty="0" smtClean="0">
              <a:solidFill>
                <a:schemeClr val="tx1"/>
              </a:solidFill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 smtClean="0">
                <a:solidFill>
                  <a:schemeClr val="tx1"/>
                </a:solidFill>
                <a:sym typeface="+mn-ea"/>
              </a:rPr>
              <a:t>slice</a:t>
            </a:r>
            <a:r>
              <a:rPr lang="en-US" sz="2000" dirty="0" smtClean="0">
                <a:solidFill>
                  <a:schemeClr val="tx1"/>
                </a:solidFill>
                <a:sym typeface="+mn-ea"/>
              </a:rPr>
              <a:t>()</a:t>
            </a:r>
            <a:endParaRPr lang="en-US" sz="2000" dirty="0" smtClean="0">
              <a:solidFill>
                <a:schemeClr val="tx1"/>
              </a:solidFill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  <a:sym typeface="+mn-ea"/>
              </a:rPr>
              <a:t>sort</a:t>
            </a:r>
            <a:r>
              <a:rPr lang="en-US" sz="2000" dirty="0" smtClean="0">
                <a:solidFill>
                  <a:schemeClr val="tx1"/>
                </a:solidFill>
                <a:sym typeface="+mn-ea"/>
              </a:rPr>
              <a:t>()</a:t>
            </a:r>
            <a:endParaRPr lang="en-US" sz="2000" dirty="0" smtClean="0">
              <a:solidFill>
                <a:schemeClr val="tx1"/>
              </a:solidFill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  <a:sym typeface="+mn-ea"/>
              </a:rPr>
              <a:t>reverse</a:t>
            </a:r>
            <a:r>
              <a:rPr lang="en-US" sz="2000" dirty="0" smtClean="0">
                <a:solidFill>
                  <a:schemeClr val="tx1"/>
                </a:solidFill>
                <a:sym typeface="+mn-ea"/>
              </a:rPr>
              <a:t>()</a:t>
            </a:r>
            <a:endParaRPr lang="en-US" sz="2000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2000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2000" dirty="0" err="1">
                <a:solidFill>
                  <a:schemeClr val="tx1"/>
                </a:solidFill>
                <a:sym typeface="+mn-ea"/>
              </a:rPr>
              <a:t>fruits</a:t>
            </a:r>
            <a:r>
              <a:rPr lang="en-US" sz="2000" b="1" dirty="0" err="1" smtClean="0">
                <a:solidFill>
                  <a:schemeClr val="tx1"/>
                </a:solidFill>
                <a:sym typeface="+mn-ea"/>
              </a:rPr>
              <a:t>.sort</a:t>
            </a:r>
            <a:r>
              <a:rPr lang="en-US" sz="2000" dirty="0" smtClean="0">
                <a:solidFill>
                  <a:schemeClr val="tx1"/>
                </a:solidFill>
                <a:sym typeface="+mn-ea"/>
              </a:rPr>
              <a:t>(function(a</a:t>
            </a:r>
            <a:r>
              <a:rPr lang="en-US" sz="2000" dirty="0">
                <a:solidFill>
                  <a:schemeClr val="tx1"/>
                </a:solidFill>
                <a:sym typeface="+mn-ea"/>
              </a:rPr>
              <a:t>, b){return a - b});</a:t>
            </a:r>
            <a:endParaRPr lang="en-US" sz="2000" b="1" dirty="0" smtClean="0">
              <a:solidFill>
                <a:schemeClr val="tx1"/>
              </a:solidFill>
              <a:sym typeface="+mn-ea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467360" y="497840"/>
            <a:ext cx="10920730" cy="87439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ru-RU" altLang="en-US" sz="3600" b="1" dirty="0">
                <a:solidFill>
                  <a:schemeClr val="tx1"/>
                </a:solidFill>
                <a:sym typeface="+mn-ea"/>
              </a:rPr>
              <a:t>Подробнее про типы: массивы</a:t>
            </a:r>
            <a:endParaRPr lang="ru-RU" altLang="en-US" sz="3600" b="1" dirty="0" smtClean="0">
              <a:solidFill>
                <a:schemeClr val="tx1"/>
              </a:solidFill>
              <a:latin typeface="Calibri" panose="020F0502020204030204" charset="0"/>
              <a:ea typeface="Calibri" panose="020F0502020204030204" charset="0"/>
              <a:cs typeface="Calibri" panose="020F0502020204030204" charset="0"/>
              <a:sym typeface="+mn-ea"/>
            </a:endParaRPr>
          </a:p>
        </p:txBody>
      </p:sp>
      <p:sp>
        <p:nvSpPr>
          <p:cNvPr id="3" name="圆角矩形 5"/>
          <p:cNvSpPr/>
          <p:nvPr/>
        </p:nvSpPr>
        <p:spPr>
          <a:xfrm>
            <a:off x="6077585" y="1977390"/>
            <a:ext cx="5310505" cy="4496435"/>
          </a:xfrm>
          <a:prstGeom prst="roundRect">
            <a:avLst>
              <a:gd name="adj" fmla="val 805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285750" indent="-285750">
              <a:buFont typeface="Arial" panose="020B0604020202020204" pitchFamily="34" charset="0"/>
              <a:buChar char="•"/>
            </a:pPr>
            <a:endParaRPr lang="ru-RU" altLang="en-US" dirty="0" smtClean="0">
              <a:solidFill>
                <a:schemeClr val="tx1"/>
              </a:solidFill>
              <a:ea typeface="Calibri" panose="020F0502020204030204" charset="0"/>
              <a:cs typeface="+mn-lt"/>
              <a:sym typeface="+mn-ea"/>
            </a:endParaRPr>
          </a:p>
        </p:txBody>
      </p:sp>
      <p:pic>
        <p:nvPicPr>
          <p:cNvPr id="9" name="Изображение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43955" y="2279015"/>
            <a:ext cx="2493645" cy="2668905"/>
          </a:xfrm>
          <a:prstGeom prst="rect">
            <a:avLst/>
          </a:prstGeom>
        </p:spPr>
      </p:pic>
      <p:pic>
        <p:nvPicPr>
          <p:cNvPr id="10" name="Изображение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4510" y="4220845"/>
            <a:ext cx="2969260" cy="20599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0C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467360" y="1978025"/>
            <a:ext cx="5456555" cy="4495800"/>
          </a:xfrm>
          <a:prstGeom prst="roundRect">
            <a:avLst>
              <a:gd name="adj" fmla="val 805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 err="1">
                <a:solidFill>
                  <a:schemeClr val="tx1"/>
                </a:solidFill>
                <a:sym typeface="+mn-ea"/>
              </a:rPr>
              <a:t>Особый класс </a:t>
            </a:r>
            <a:r>
              <a:rPr lang="en-US" sz="2000" b="1" dirty="0" err="1">
                <a:solidFill>
                  <a:schemeClr val="tx1"/>
                </a:solidFill>
                <a:sym typeface="+mn-ea"/>
              </a:rPr>
              <a:t>Set</a:t>
            </a:r>
            <a:endParaRPr lang="en-US" sz="2000" dirty="0" err="1">
              <a:solidFill>
                <a:schemeClr val="tx1"/>
              </a:solidFill>
              <a:sym typeface="+mn-ea"/>
            </a:endParaRPr>
          </a:p>
          <a:p>
            <a:pPr marL="0" indent="0">
              <a:buNone/>
            </a:pPr>
            <a:endParaRPr lang="en-US" sz="2000" dirty="0" err="1">
              <a:solidFill>
                <a:schemeClr val="tx1"/>
              </a:solidFill>
              <a:sym typeface="+mn-ea"/>
            </a:endParaRPr>
          </a:p>
          <a:p>
            <a:pPr marL="0" indent="0">
              <a:buNone/>
            </a:pPr>
            <a:r>
              <a:rPr lang="en-US" sz="2000" dirty="0" err="1">
                <a:solidFill>
                  <a:schemeClr val="tx1"/>
                </a:solidFill>
                <a:sym typeface="+mn-ea"/>
              </a:rPr>
              <a:t>const</a:t>
            </a:r>
            <a:r>
              <a:rPr lang="en-US" sz="2000" dirty="0">
                <a:solidFill>
                  <a:schemeClr val="tx1"/>
                </a:solidFill>
                <a:sym typeface="+mn-ea"/>
              </a:rPr>
              <a:t> letters = new </a:t>
            </a:r>
            <a:r>
              <a:rPr lang="en-US" sz="2000" b="1" dirty="0">
                <a:solidFill>
                  <a:schemeClr val="tx1"/>
                </a:solidFill>
                <a:sym typeface="+mn-ea"/>
              </a:rPr>
              <a:t>Set</a:t>
            </a:r>
            <a:r>
              <a:rPr lang="en-US" sz="2000" dirty="0">
                <a:solidFill>
                  <a:schemeClr val="tx1"/>
                </a:solidFill>
                <a:sym typeface="+mn-ea"/>
              </a:rPr>
              <a:t>(["</a:t>
            </a:r>
            <a:r>
              <a:rPr lang="en-US" sz="2000" dirty="0" err="1">
                <a:solidFill>
                  <a:schemeClr val="tx1"/>
                </a:solidFill>
                <a:sym typeface="+mn-ea"/>
              </a:rPr>
              <a:t>a","b","c</a:t>
            </a:r>
            <a:r>
              <a:rPr lang="en-US" sz="2000" dirty="0" smtClean="0">
                <a:solidFill>
                  <a:schemeClr val="tx1"/>
                </a:solidFill>
                <a:sym typeface="+mn-ea"/>
              </a:rPr>
              <a:t>"]);</a:t>
            </a:r>
            <a:endParaRPr lang="en-US" sz="2000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2000" dirty="0" err="1">
                <a:solidFill>
                  <a:schemeClr val="tx1"/>
                </a:solidFill>
                <a:sym typeface="+mn-ea"/>
              </a:rPr>
              <a:t>letters.</a:t>
            </a:r>
            <a:r>
              <a:rPr lang="en-US" sz="2000" b="1" dirty="0" err="1">
                <a:solidFill>
                  <a:schemeClr val="tx1"/>
                </a:solidFill>
                <a:sym typeface="+mn-ea"/>
              </a:rPr>
              <a:t>add</a:t>
            </a:r>
            <a:r>
              <a:rPr lang="en-US" sz="2000" dirty="0" smtClean="0">
                <a:solidFill>
                  <a:schemeClr val="tx1"/>
                </a:solidFill>
                <a:sym typeface="+mn-ea"/>
              </a:rPr>
              <a:t>(</a:t>
            </a:r>
            <a:r>
              <a:rPr lang="en-US" sz="2000" dirty="0">
                <a:solidFill>
                  <a:schemeClr val="tx1"/>
                </a:solidFill>
                <a:sym typeface="+mn-ea"/>
              </a:rPr>
              <a:t>"</a:t>
            </a:r>
            <a:r>
              <a:rPr lang="en-US" sz="2000" dirty="0" smtClean="0">
                <a:solidFill>
                  <a:schemeClr val="tx1"/>
                </a:solidFill>
                <a:sym typeface="+mn-ea"/>
              </a:rPr>
              <a:t>d");</a:t>
            </a:r>
            <a:endParaRPr lang="en-US" sz="2000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2000" dirty="0" err="1">
                <a:solidFill>
                  <a:schemeClr val="tx1"/>
                </a:solidFill>
                <a:sym typeface="+mn-ea"/>
              </a:rPr>
              <a:t>l</a:t>
            </a:r>
            <a:r>
              <a:rPr lang="en-US" sz="2000" dirty="0" err="1" smtClean="0">
                <a:solidFill>
                  <a:schemeClr val="tx1"/>
                </a:solidFill>
                <a:sym typeface="+mn-ea"/>
              </a:rPr>
              <a:t>etters.</a:t>
            </a:r>
            <a:r>
              <a:rPr lang="en-US" sz="2000" b="1" dirty="0" err="1" smtClean="0">
                <a:solidFill>
                  <a:schemeClr val="tx1"/>
                </a:solidFill>
                <a:sym typeface="+mn-ea"/>
              </a:rPr>
              <a:t>has</a:t>
            </a:r>
            <a:r>
              <a:rPr lang="en-US" sz="2000" dirty="0" smtClean="0">
                <a:solidFill>
                  <a:schemeClr val="tx1"/>
                </a:solidFill>
                <a:sym typeface="+mn-ea"/>
              </a:rPr>
              <a:t>("</a:t>
            </a:r>
            <a:r>
              <a:rPr lang="en-US" sz="2000" dirty="0">
                <a:solidFill>
                  <a:schemeClr val="tx1"/>
                </a:solidFill>
                <a:sym typeface="+mn-ea"/>
              </a:rPr>
              <a:t>c</a:t>
            </a:r>
            <a:r>
              <a:rPr lang="en-US" sz="2000" dirty="0" smtClean="0">
                <a:solidFill>
                  <a:schemeClr val="tx1"/>
                </a:solidFill>
                <a:sym typeface="+mn-ea"/>
              </a:rPr>
              <a:t>")  </a:t>
            </a:r>
            <a:r>
              <a:rPr lang="en-US" sz="2000" dirty="0" smtClean="0">
                <a:solidFill>
                  <a:schemeClr val="bg1">
                    <a:lumMod val="50000"/>
                  </a:schemeClr>
                </a:solidFill>
                <a:sym typeface="+mn-ea"/>
              </a:rPr>
              <a:t>// true</a:t>
            </a:r>
            <a:endParaRPr lang="en-US" sz="2000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2000" dirty="0" err="1" smtClean="0">
                <a:solidFill>
                  <a:schemeClr val="tx1"/>
                </a:solidFill>
                <a:sym typeface="+mn-ea"/>
              </a:rPr>
              <a:t>letters.</a:t>
            </a:r>
            <a:r>
              <a:rPr lang="en-US" sz="2000" b="1" dirty="0" err="1" smtClean="0">
                <a:solidFill>
                  <a:schemeClr val="tx1"/>
                </a:solidFill>
                <a:sym typeface="+mn-ea"/>
              </a:rPr>
              <a:t>forEach</a:t>
            </a:r>
            <a:r>
              <a:rPr lang="en-US" sz="2000" dirty="0" smtClean="0">
                <a:solidFill>
                  <a:schemeClr val="tx1"/>
                </a:solidFill>
                <a:sym typeface="+mn-ea"/>
              </a:rPr>
              <a:t>( (</a:t>
            </a:r>
            <a:r>
              <a:rPr lang="en-US" sz="2000" dirty="0">
                <a:solidFill>
                  <a:schemeClr val="tx1"/>
                </a:solidFill>
                <a:sym typeface="+mn-ea"/>
              </a:rPr>
              <a:t>value</a:t>
            </a:r>
            <a:r>
              <a:rPr lang="en-US" sz="2000" dirty="0" smtClean="0">
                <a:solidFill>
                  <a:schemeClr val="tx1"/>
                </a:solidFill>
                <a:sym typeface="+mn-ea"/>
              </a:rPr>
              <a:t>) =&gt; { … })</a:t>
            </a:r>
            <a:endParaRPr lang="en-US" sz="2000" b="1" dirty="0" smtClean="0">
              <a:solidFill>
                <a:schemeClr val="tx1"/>
              </a:solidFill>
              <a:sym typeface="+mn-ea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467360" y="497840"/>
            <a:ext cx="10920730" cy="87439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ru-RU" altLang="en-US" sz="3600" b="1" dirty="0">
                <a:solidFill>
                  <a:schemeClr val="tx1"/>
                </a:solidFill>
                <a:sym typeface="+mn-ea"/>
              </a:rPr>
              <a:t>Подробнее про типы: массивы</a:t>
            </a:r>
            <a:endParaRPr lang="ru-RU" altLang="en-US" sz="3600" b="1" dirty="0" smtClean="0">
              <a:solidFill>
                <a:schemeClr val="tx1"/>
              </a:solidFill>
              <a:latin typeface="Calibri" panose="020F0502020204030204" charset="0"/>
              <a:ea typeface="Calibri" panose="020F0502020204030204" charset="0"/>
              <a:cs typeface="Calibri" panose="020F0502020204030204" charset="0"/>
              <a:sym typeface="+mn-ea"/>
            </a:endParaRPr>
          </a:p>
        </p:txBody>
      </p:sp>
      <p:sp>
        <p:nvSpPr>
          <p:cNvPr id="3" name="圆角矩形 5"/>
          <p:cNvSpPr/>
          <p:nvPr/>
        </p:nvSpPr>
        <p:spPr>
          <a:xfrm>
            <a:off x="6077585" y="1977390"/>
            <a:ext cx="5310505" cy="4496435"/>
          </a:xfrm>
          <a:prstGeom prst="roundRect">
            <a:avLst>
              <a:gd name="adj" fmla="val 805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285750" indent="-285750">
              <a:buFont typeface="Arial" panose="020B0604020202020204" pitchFamily="34" charset="0"/>
              <a:buChar char="•"/>
            </a:pPr>
            <a:endParaRPr lang="ru-RU" altLang="en-US" dirty="0" smtClean="0">
              <a:solidFill>
                <a:schemeClr val="tx1"/>
              </a:solidFill>
              <a:ea typeface="Calibri" panose="020F0502020204030204" charset="0"/>
              <a:cs typeface="+mn-lt"/>
              <a:sym typeface="+mn-ea"/>
            </a:endParaRPr>
          </a:p>
        </p:txBody>
      </p:sp>
      <p:pic>
        <p:nvPicPr>
          <p:cNvPr id="7" name="Изображение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99300" y="2425700"/>
            <a:ext cx="3267075" cy="1333500"/>
          </a:xfrm>
          <a:prstGeom prst="rect">
            <a:avLst/>
          </a:prstGeom>
        </p:spPr>
      </p:pic>
      <p:pic>
        <p:nvPicPr>
          <p:cNvPr id="8" name="Изображение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3200" y="4225290"/>
            <a:ext cx="1819275" cy="17716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0C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467360" y="1978025"/>
            <a:ext cx="5456555" cy="4495800"/>
          </a:xfrm>
          <a:prstGeom prst="roundRect">
            <a:avLst>
              <a:gd name="adj" fmla="val 805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r>
              <a:rPr lang="en-US" sz="2000" dirty="0" err="1">
                <a:solidFill>
                  <a:schemeClr val="tx1"/>
                </a:solidFill>
                <a:sym typeface="+mn-ea"/>
              </a:rPr>
              <a:t>const</a:t>
            </a:r>
            <a:r>
              <a:rPr lang="en-US" sz="2000" dirty="0">
                <a:solidFill>
                  <a:schemeClr val="tx1"/>
                </a:solidFill>
                <a:sym typeface="+mn-ea"/>
              </a:rPr>
              <a:t> </a:t>
            </a:r>
            <a:r>
              <a:rPr lang="en-US" sz="2000" b="1" dirty="0">
                <a:solidFill>
                  <a:schemeClr val="tx1"/>
                </a:solidFill>
                <a:sym typeface="+mn-ea"/>
              </a:rPr>
              <a:t>person </a:t>
            </a:r>
            <a:r>
              <a:rPr lang="en-US" sz="2000" dirty="0">
                <a:solidFill>
                  <a:schemeClr val="tx1"/>
                </a:solidFill>
                <a:sym typeface="+mn-ea"/>
              </a:rPr>
              <a:t>= {</a:t>
            </a:r>
            <a:br>
              <a:rPr lang="en-US" sz="2000" dirty="0">
                <a:solidFill>
                  <a:schemeClr val="tx1"/>
                </a:solidFill>
                <a:sym typeface="+mn-ea"/>
              </a:rPr>
            </a:br>
            <a:r>
              <a:rPr lang="en-US" sz="2000" dirty="0">
                <a:solidFill>
                  <a:schemeClr val="tx1"/>
                </a:solidFill>
                <a:sym typeface="+mn-ea"/>
              </a:rPr>
              <a:t>  </a:t>
            </a:r>
            <a:r>
              <a:rPr lang="en-US" sz="2000" dirty="0" err="1">
                <a:solidFill>
                  <a:schemeClr val="tx1"/>
                </a:solidFill>
                <a:sym typeface="+mn-ea"/>
              </a:rPr>
              <a:t>firstName</a:t>
            </a:r>
            <a:r>
              <a:rPr lang="en-US" sz="2000" dirty="0">
                <a:solidFill>
                  <a:schemeClr val="tx1"/>
                </a:solidFill>
                <a:sym typeface="+mn-ea"/>
              </a:rPr>
              <a:t>: "John",</a:t>
            </a:r>
            <a:br>
              <a:rPr lang="en-US" sz="2000" dirty="0">
                <a:solidFill>
                  <a:schemeClr val="tx1"/>
                </a:solidFill>
                <a:sym typeface="+mn-ea"/>
              </a:rPr>
            </a:br>
            <a:r>
              <a:rPr lang="en-US" sz="2000" dirty="0">
                <a:solidFill>
                  <a:schemeClr val="tx1"/>
                </a:solidFill>
                <a:sym typeface="+mn-ea"/>
              </a:rPr>
              <a:t>  </a:t>
            </a:r>
            <a:r>
              <a:rPr lang="en-US" sz="2000" dirty="0" err="1">
                <a:solidFill>
                  <a:schemeClr val="tx1"/>
                </a:solidFill>
                <a:sym typeface="+mn-ea"/>
              </a:rPr>
              <a:t>lastName</a:t>
            </a:r>
            <a:r>
              <a:rPr lang="en-US" sz="2000" dirty="0">
                <a:solidFill>
                  <a:schemeClr val="tx1"/>
                </a:solidFill>
                <a:sym typeface="+mn-ea"/>
              </a:rPr>
              <a:t> : "Doe",</a:t>
            </a:r>
            <a:br>
              <a:rPr lang="en-US" sz="2000" dirty="0">
                <a:solidFill>
                  <a:schemeClr val="tx1"/>
                </a:solidFill>
                <a:sym typeface="+mn-ea"/>
              </a:rPr>
            </a:br>
            <a:r>
              <a:rPr lang="en-US" sz="2000" dirty="0">
                <a:solidFill>
                  <a:schemeClr val="tx1"/>
                </a:solidFill>
                <a:sym typeface="+mn-ea"/>
              </a:rPr>
              <a:t>  </a:t>
            </a:r>
            <a:r>
              <a:rPr lang="en-US" sz="2000" dirty="0" smtClean="0">
                <a:solidFill>
                  <a:schemeClr val="tx1"/>
                </a:solidFill>
                <a:sym typeface="+mn-ea"/>
              </a:rPr>
              <a:t>id:</a:t>
            </a:r>
            <a:r>
              <a:rPr lang="en-US" sz="2000" dirty="0">
                <a:solidFill>
                  <a:schemeClr val="tx1"/>
                </a:solidFill>
                <a:sym typeface="+mn-ea"/>
              </a:rPr>
              <a:t> 5566,</a:t>
            </a:r>
            <a:br>
              <a:rPr lang="en-US" sz="2000" dirty="0">
                <a:solidFill>
                  <a:schemeClr val="tx1"/>
                </a:solidFill>
                <a:sym typeface="+mn-ea"/>
              </a:rPr>
            </a:br>
            <a:r>
              <a:rPr lang="en-US" sz="2000" dirty="0">
                <a:solidFill>
                  <a:schemeClr val="tx1"/>
                </a:solidFill>
                <a:sym typeface="+mn-ea"/>
              </a:rPr>
              <a:t>  </a:t>
            </a:r>
            <a:r>
              <a:rPr lang="en-US" sz="2000" dirty="0" err="1">
                <a:solidFill>
                  <a:schemeClr val="tx1"/>
                </a:solidFill>
                <a:sym typeface="+mn-ea"/>
              </a:rPr>
              <a:t>fullName</a:t>
            </a:r>
            <a:r>
              <a:rPr lang="en-US" sz="2000" dirty="0">
                <a:solidFill>
                  <a:schemeClr val="tx1"/>
                </a:solidFill>
                <a:sym typeface="+mn-ea"/>
              </a:rPr>
              <a:t> : function() {</a:t>
            </a:r>
            <a:br>
              <a:rPr lang="en-US" sz="2000" dirty="0">
                <a:solidFill>
                  <a:schemeClr val="tx1"/>
                </a:solidFill>
                <a:sym typeface="+mn-ea"/>
              </a:rPr>
            </a:br>
            <a:r>
              <a:rPr lang="en-US" sz="2000" dirty="0">
                <a:solidFill>
                  <a:schemeClr val="tx1"/>
                </a:solidFill>
                <a:sym typeface="+mn-ea"/>
              </a:rPr>
              <a:t>    return </a:t>
            </a:r>
            <a:r>
              <a:rPr lang="en-US" sz="2000" dirty="0" err="1">
                <a:solidFill>
                  <a:schemeClr val="tx1"/>
                </a:solidFill>
                <a:sym typeface="+mn-ea"/>
              </a:rPr>
              <a:t>this.firstName</a:t>
            </a:r>
            <a:r>
              <a:rPr lang="en-US" sz="2000" dirty="0">
                <a:solidFill>
                  <a:schemeClr val="tx1"/>
                </a:solidFill>
                <a:sym typeface="+mn-ea"/>
              </a:rPr>
              <a:t> + " " + </a:t>
            </a:r>
            <a:r>
              <a:rPr lang="en-US" sz="2000" dirty="0" err="1">
                <a:solidFill>
                  <a:schemeClr val="tx1"/>
                </a:solidFill>
                <a:sym typeface="+mn-ea"/>
              </a:rPr>
              <a:t>this.lastName</a:t>
            </a:r>
            <a:r>
              <a:rPr lang="en-US" sz="2000" dirty="0">
                <a:solidFill>
                  <a:schemeClr val="tx1"/>
                </a:solidFill>
                <a:sym typeface="+mn-ea"/>
              </a:rPr>
              <a:t>;</a:t>
            </a:r>
            <a:br>
              <a:rPr lang="en-US" sz="2000" dirty="0">
                <a:solidFill>
                  <a:schemeClr val="tx1"/>
                </a:solidFill>
                <a:sym typeface="+mn-ea"/>
              </a:rPr>
            </a:br>
            <a:r>
              <a:rPr lang="en-US" sz="2000" dirty="0">
                <a:solidFill>
                  <a:schemeClr val="tx1"/>
                </a:solidFill>
                <a:sym typeface="+mn-ea"/>
              </a:rPr>
              <a:t>  }</a:t>
            </a:r>
            <a:br>
              <a:rPr lang="en-US" sz="2000" dirty="0">
                <a:solidFill>
                  <a:schemeClr val="tx1"/>
                </a:solidFill>
                <a:sym typeface="+mn-ea"/>
              </a:rPr>
            </a:br>
            <a:r>
              <a:rPr lang="en-US" sz="2000" dirty="0" smtClean="0">
                <a:solidFill>
                  <a:schemeClr val="tx1"/>
                </a:solidFill>
                <a:sym typeface="+mn-ea"/>
              </a:rPr>
              <a:t>};</a:t>
            </a:r>
            <a:endParaRPr lang="en-US" altLang="en-US" sz="2000" dirty="0" smtClean="0">
              <a:solidFill>
                <a:schemeClr val="tx1"/>
              </a:solidFill>
              <a:sym typeface="+mn-ea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467360" y="497840"/>
            <a:ext cx="10920730" cy="87439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ru-RU" altLang="en-US" sz="3600" b="1" dirty="0">
                <a:solidFill>
                  <a:schemeClr val="tx1"/>
                </a:solidFill>
                <a:sym typeface="+mn-ea"/>
              </a:rPr>
              <a:t>Подробнее про типы: объекты</a:t>
            </a:r>
            <a:endParaRPr lang="ru-RU" altLang="en-US" sz="3600" b="1" dirty="0" smtClean="0">
              <a:solidFill>
                <a:schemeClr val="tx1"/>
              </a:solidFill>
              <a:latin typeface="Calibri" panose="020F0502020204030204" charset="0"/>
              <a:ea typeface="Calibri" panose="020F0502020204030204" charset="0"/>
              <a:cs typeface="Calibri" panose="020F0502020204030204" charset="0"/>
              <a:sym typeface="+mn-ea"/>
            </a:endParaRPr>
          </a:p>
        </p:txBody>
      </p:sp>
      <p:sp>
        <p:nvSpPr>
          <p:cNvPr id="3" name="圆角矩形 5"/>
          <p:cNvSpPr/>
          <p:nvPr/>
        </p:nvSpPr>
        <p:spPr>
          <a:xfrm>
            <a:off x="6077585" y="1977390"/>
            <a:ext cx="5310505" cy="4496435"/>
          </a:xfrm>
          <a:prstGeom prst="roundRect">
            <a:avLst>
              <a:gd name="adj" fmla="val 805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285750" indent="-285750">
              <a:buFont typeface="Arial" panose="020B0604020202020204" pitchFamily="34" charset="0"/>
              <a:buChar char="•"/>
            </a:pPr>
            <a:endParaRPr lang="ru-RU" altLang="en-US" dirty="0" smtClean="0">
              <a:solidFill>
                <a:schemeClr val="tx1"/>
              </a:solidFill>
              <a:ea typeface="Calibri" panose="020F0502020204030204" charset="0"/>
              <a:cs typeface="+mn-lt"/>
              <a:sym typeface="+mn-ea"/>
            </a:endParaRPr>
          </a:p>
        </p:txBody>
      </p:sp>
      <p:pic>
        <p:nvPicPr>
          <p:cNvPr id="7" name="Изображение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9750" y="2319020"/>
            <a:ext cx="3686175" cy="2057400"/>
          </a:xfrm>
          <a:prstGeom prst="rect">
            <a:avLst/>
          </a:prstGeom>
        </p:spPr>
      </p:pic>
      <p:pic>
        <p:nvPicPr>
          <p:cNvPr id="8" name="Изображение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9665" y="4741545"/>
            <a:ext cx="2505710" cy="12979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0C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467360" y="1978025"/>
            <a:ext cx="5456555" cy="4495800"/>
          </a:xfrm>
          <a:prstGeom prst="roundRect">
            <a:avLst>
              <a:gd name="adj" fmla="val 805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 err="1">
                <a:solidFill>
                  <a:schemeClr val="tx1"/>
                </a:solidFill>
                <a:sym typeface="+mn-ea"/>
              </a:rPr>
              <a:t>Особый класс </a:t>
            </a:r>
            <a:r>
              <a:rPr lang="en-US" sz="2000" b="1" dirty="0" smtClean="0">
                <a:solidFill>
                  <a:schemeClr val="tx1"/>
                </a:solidFill>
                <a:sym typeface="+mn-ea"/>
              </a:rPr>
              <a:t>Map</a:t>
            </a:r>
            <a:endParaRPr lang="en-US" sz="2000" dirty="0" err="1">
              <a:solidFill>
                <a:schemeClr val="tx1"/>
              </a:solidFill>
              <a:sym typeface="+mn-ea"/>
            </a:endParaRPr>
          </a:p>
          <a:p>
            <a:pPr marL="0" indent="0">
              <a:buNone/>
            </a:pPr>
            <a:endParaRPr lang="en-US" sz="2000" dirty="0" err="1">
              <a:solidFill>
                <a:schemeClr val="tx1"/>
              </a:solidFill>
              <a:sym typeface="+mn-ea"/>
            </a:endParaRPr>
          </a:p>
          <a:p>
            <a:pPr marL="0" indent="0">
              <a:buNone/>
            </a:pPr>
            <a:r>
              <a:rPr lang="en-US" sz="2000" dirty="0" err="1">
                <a:solidFill>
                  <a:schemeClr val="tx1"/>
                </a:solidFill>
                <a:sym typeface="+mn-ea"/>
              </a:rPr>
              <a:t>const</a:t>
            </a:r>
            <a:r>
              <a:rPr lang="en-US" sz="2000" dirty="0">
                <a:solidFill>
                  <a:schemeClr val="tx1"/>
                </a:solidFill>
                <a:sym typeface="+mn-ea"/>
              </a:rPr>
              <a:t> fruits = new </a:t>
            </a:r>
            <a:r>
              <a:rPr lang="en-US" sz="2000" b="1" dirty="0">
                <a:solidFill>
                  <a:schemeClr val="tx1"/>
                </a:solidFill>
                <a:sym typeface="+mn-ea"/>
              </a:rPr>
              <a:t>Map</a:t>
            </a:r>
            <a:r>
              <a:rPr lang="en-US" sz="2000" dirty="0">
                <a:solidFill>
                  <a:schemeClr val="tx1"/>
                </a:solidFill>
                <a:sym typeface="+mn-ea"/>
              </a:rPr>
              <a:t>([</a:t>
            </a:r>
            <a:br>
              <a:rPr lang="en-US" sz="2000" dirty="0">
                <a:solidFill>
                  <a:schemeClr val="tx1"/>
                </a:solidFill>
                <a:sym typeface="+mn-ea"/>
              </a:rPr>
            </a:br>
            <a:r>
              <a:rPr lang="en-US" sz="2000" dirty="0">
                <a:solidFill>
                  <a:schemeClr val="tx1"/>
                </a:solidFill>
                <a:sym typeface="+mn-ea"/>
              </a:rPr>
              <a:t>  ["apples", 500],</a:t>
            </a:r>
            <a:br>
              <a:rPr lang="en-US" sz="2000" dirty="0">
                <a:solidFill>
                  <a:schemeClr val="tx1"/>
                </a:solidFill>
                <a:sym typeface="+mn-ea"/>
              </a:rPr>
            </a:br>
            <a:r>
              <a:rPr lang="en-US" sz="2000" dirty="0">
                <a:solidFill>
                  <a:schemeClr val="tx1"/>
                </a:solidFill>
                <a:sym typeface="+mn-ea"/>
              </a:rPr>
              <a:t>  ["bananas", 300],</a:t>
            </a:r>
            <a:br>
              <a:rPr lang="en-US" sz="2000" dirty="0">
                <a:solidFill>
                  <a:schemeClr val="tx1"/>
                </a:solidFill>
                <a:sym typeface="+mn-ea"/>
              </a:rPr>
            </a:br>
            <a:r>
              <a:rPr lang="en-US" sz="2000" dirty="0">
                <a:solidFill>
                  <a:schemeClr val="tx1"/>
                </a:solidFill>
                <a:sym typeface="+mn-ea"/>
              </a:rPr>
              <a:t>  ["oranges", 200]</a:t>
            </a:r>
            <a:br>
              <a:rPr lang="en-US" sz="2000" dirty="0">
                <a:solidFill>
                  <a:schemeClr val="tx1"/>
                </a:solidFill>
                <a:sym typeface="+mn-ea"/>
              </a:rPr>
            </a:br>
            <a:r>
              <a:rPr lang="en-US" sz="2000" dirty="0" smtClean="0">
                <a:solidFill>
                  <a:schemeClr val="tx1"/>
                </a:solidFill>
                <a:sym typeface="+mn-ea"/>
              </a:rPr>
              <a:t>]);</a:t>
            </a:r>
            <a:endParaRPr lang="en-US" sz="2000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2000" dirty="0" err="1">
                <a:solidFill>
                  <a:schemeClr val="tx1"/>
                </a:solidFill>
                <a:sym typeface="+mn-ea"/>
              </a:rPr>
              <a:t>fruits.</a:t>
            </a:r>
            <a:r>
              <a:rPr lang="en-US" sz="2000" b="1" dirty="0" err="1">
                <a:solidFill>
                  <a:schemeClr val="tx1"/>
                </a:solidFill>
                <a:sym typeface="+mn-ea"/>
              </a:rPr>
              <a:t>set</a:t>
            </a:r>
            <a:r>
              <a:rPr lang="en-US" sz="2000" dirty="0">
                <a:solidFill>
                  <a:schemeClr val="tx1"/>
                </a:solidFill>
                <a:sym typeface="+mn-ea"/>
              </a:rPr>
              <a:t>("apples", 200</a:t>
            </a:r>
            <a:r>
              <a:rPr lang="en-US" sz="2000" dirty="0" smtClean="0">
                <a:solidFill>
                  <a:schemeClr val="tx1"/>
                </a:solidFill>
                <a:sym typeface="+mn-ea"/>
              </a:rPr>
              <a:t>);</a:t>
            </a:r>
            <a:endParaRPr lang="en-US" sz="2000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2000" dirty="0" err="1">
                <a:solidFill>
                  <a:schemeClr val="tx1"/>
                </a:solidFill>
                <a:sym typeface="+mn-ea"/>
              </a:rPr>
              <a:t>fruits.</a:t>
            </a:r>
            <a:r>
              <a:rPr lang="en-US" sz="2000" b="1" dirty="0" err="1">
                <a:solidFill>
                  <a:schemeClr val="tx1"/>
                </a:solidFill>
                <a:sym typeface="+mn-ea"/>
              </a:rPr>
              <a:t>get</a:t>
            </a:r>
            <a:r>
              <a:rPr lang="en-US" sz="2000" dirty="0" smtClean="0">
                <a:solidFill>
                  <a:schemeClr val="tx1"/>
                </a:solidFill>
                <a:sym typeface="+mn-ea"/>
              </a:rPr>
              <a:t>("bananas");</a:t>
            </a:r>
            <a:r>
              <a:rPr lang="en-US" sz="2000" dirty="0">
                <a:solidFill>
                  <a:schemeClr val="tx1"/>
                </a:solidFill>
                <a:sym typeface="+mn-ea"/>
              </a:rPr>
              <a:t>   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sym typeface="+mn-ea"/>
              </a:rPr>
              <a:t> // </a:t>
            </a:r>
            <a:r>
              <a:rPr lang="en-US" sz="2000" dirty="0" smtClean="0">
                <a:solidFill>
                  <a:schemeClr val="bg1">
                    <a:lumMod val="50000"/>
                  </a:schemeClr>
                </a:solidFill>
                <a:sym typeface="+mn-ea"/>
              </a:rPr>
              <a:t>300</a:t>
            </a:r>
            <a:endParaRPr lang="en-US" sz="2000" b="1" dirty="0" smtClean="0">
              <a:solidFill>
                <a:schemeClr val="bg1">
                  <a:lumMod val="50000"/>
                </a:schemeClr>
              </a:solidFill>
              <a:sym typeface="+mn-ea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467360" y="497840"/>
            <a:ext cx="10920730" cy="87439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ru-RU" altLang="en-US" sz="3600" b="1" dirty="0">
                <a:solidFill>
                  <a:schemeClr val="tx1"/>
                </a:solidFill>
                <a:sym typeface="+mn-ea"/>
              </a:rPr>
              <a:t>Подробнее про типы: объекты</a:t>
            </a:r>
            <a:endParaRPr lang="ru-RU" altLang="en-US" sz="3600" b="1" dirty="0" smtClean="0">
              <a:solidFill>
                <a:schemeClr val="tx1"/>
              </a:solidFill>
              <a:latin typeface="Calibri" panose="020F0502020204030204" charset="0"/>
              <a:ea typeface="Calibri" panose="020F0502020204030204" charset="0"/>
              <a:cs typeface="Calibri" panose="020F0502020204030204" charset="0"/>
              <a:sym typeface="+mn-ea"/>
            </a:endParaRPr>
          </a:p>
        </p:txBody>
      </p:sp>
      <p:sp>
        <p:nvSpPr>
          <p:cNvPr id="3" name="圆角矩形 5"/>
          <p:cNvSpPr/>
          <p:nvPr/>
        </p:nvSpPr>
        <p:spPr>
          <a:xfrm>
            <a:off x="6077585" y="1977390"/>
            <a:ext cx="5310505" cy="4496435"/>
          </a:xfrm>
          <a:prstGeom prst="roundRect">
            <a:avLst>
              <a:gd name="adj" fmla="val 805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285750" indent="-285750">
              <a:buFont typeface="Arial" panose="020B0604020202020204" pitchFamily="34" charset="0"/>
              <a:buChar char="•"/>
            </a:pPr>
            <a:endParaRPr lang="ru-RU" altLang="en-US" dirty="0" smtClean="0">
              <a:solidFill>
                <a:schemeClr val="tx1"/>
              </a:solidFill>
              <a:ea typeface="Calibri" panose="020F0502020204030204" charset="0"/>
              <a:cs typeface="+mn-lt"/>
              <a:sym typeface="+mn-ea"/>
            </a:endParaRPr>
          </a:p>
        </p:txBody>
      </p:sp>
      <p:pic>
        <p:nvPicPr>
          <p:cNvPr id="5" name="Изображение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61175" y="2590165"/>
            <a:ext cx="3743325" cy="1504950"/>
          </a:xfrm>
          <a:prstGeom prst="rect">
            <a:avLst/>
          </a:prstGeom>
        </p:spPr>
      </p:pic>
      <p:pic>
        <p:nvPicPr>
          <p:cNvPr id="9" name="Изображение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8595" y="4760595"/>
            <a:ext cx="4388485" cy="91186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0C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467360" y="1978025"/>
            <a:ext cx="5456555" cy="4495800"/>
          </a:xfrm>
          <a:prstGeom prst="roundRect">
            <a:avLst>
              <a:gd name="adj" fmla="val 805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i="1" dirty="0">
                <a:solidFill>
                  <a:schemeClr val="tx1"/>
                </a:solidFill>
                <a:sym typeface="+mn-ea"/>
              </a:rPr>
              <a:t>Function declaration</a:t>
            </a:r>
            <a:endParaRPr lang="en-US" sz="2000" dirty="0">
              <a:solidFill>
                <a:schemeClr val="tx1"/>
              </a:solidFill>
              <a:sym typeface="+mn-ea"/>
            </a:endParaRP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sym typeface="+mn-ea"/>
              </a:rPr>
              <a:t>function </a:t>
            </a:r>
            <a:r>
              <a:rPr lang="en-US" sz="2000" b="1" dirty="0" err="1">
                <a:solidFill>
                  <a:schemeClr val="tx1"/>
                </a:solidFill>
                <a:sym typeface="+mn-ea"/>
              </a:rPr>
              <a:t>myFunction</a:t>
            </a:r>
            <a:r>
              <a:rPr lang="en-US" sz="2000" dirty="0">
                <a:solidFill>
                  <a:schemeClr val="tx1"/>
                </a:solidFill>
                <a:sym typeface="+mn-ea"/>
              </a:rPr>
              <a:t>(p1, p2) {</a:t>
            </a:r>
            <a:br>
              <a:rPr lang="en-US" sz="2000" dirty="0">
                <a:solidFill>
                  <a:schemeClr val="tx1"/>
                </a:solidFill>
                <a:sym typeface="+mn-ea"/>
              </a:rPr>
            </a:br>
            <a:r>
              <a:rPr lang="en-US" sz="2000" dirty="0">
                <a:solidFill>
                  <a:schemeClr val="tx1"/>
                </a:solidFill>
                <a:sym typeface="+mn-ea"/>
              </a:rPr>
              <a:t>  return p1 * p2;</a:t>
            </a:r>
            <a:br>
              <a:rPr lang="en-US" sz="2000" dirty="0">
                <a:solidFill>
                  <a:schemeClr val="tx1"/>
                </a:solidFill>
                <a:sym typeface="+mn-ea"/>
              </a:rPr>
            </a:br>
            <a:r>
              <a:rPr lang="en-US" sz="2000" dirty="0" smtClean="0">
                <a:solidFill>
                  <a:schemeClr val="tx1"/>
                </a:solidFill>
                <a:sym typeface="+mn-ea"/>
              </a:rPr>
              <a:t>}</a:t>
            </a:r>
            <a:endParaRPr lang="en-US" sz="2000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2000" dirty="0" err="1" smtClean="0">
              <a:solidFill>
                <a:schemeClr val="tx1"/>
              </a:solidFill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i="1" dirty="0" err="1" smtClean="0">
                <a:solidFill>
                  <a:schemeClr val="tx1"/>
                </a:solidFill>
                <a:sym typeface="+mn-ea"/>
              </a:rPr>
              <a:t>Function expression</a:t>
            </a:r>
            <a:endParaRPr lang="en-US" sz="2000" dirty="0" err="1" smtClean="0">
              <a:solidFill>
                <a:schemeClr val="tx1"/>
              </a:solidFill>
              <a:sym typeface="+mn-ea"/>
            </a:endParaRPr>
          </a:p>
          <a:p>
            <a:pPr marL="0" indent="0">
              <a:buNone/>
            </a:pPr>
            <a:r>
              <a:rPr lang="en-US" sz="2000" b="1" dirty="0" err="1" smtClean="0">
                <a:solidFill>
                  <a:schemeClr val="tx1"/>
                </a:solidFill>
                <a:sym typeface="+mn-ea"/>
              </a:rPr>
              <a:t>myFunction</a:t>
            </a:r>
            <a:r>
              <a:rPr lang="en-US" sz="2000" b="1" dirty="0" smtClean="0">
                <a:solidFill>
                  <a:schemeClr val="tx1"/>
                </a:solidFill>
                <a:sym typeface="+mn-ea"/>
              </a:rPr>
              <a:t> </a:t>
            </a:r>
            <a:r>
              <a:rPr lang="en-US" sz="2000" dirty="0" smtClean="0">
                <a:solidFill>
                  <a:schemeClr val="tx1"/>
                </a:solidFill>
                <a:sym typeface="+mn-ea"/>
              </a:rPr>
              <a:t>= </a:t>
            </a:r>
            <a:r>
              <a:rPr lang="en-US" sz="2000" dirty="0">
                <a:solidFill>
                  <a:schemeClr val="tx1"/>
                </a:solidFill>
                <a:sym typeface="+mn-ea"/>
              </a:rPr>
              <a:t>(p1, p2) </a:t>
            </a:r>
            <a:r>
              <a:rPr lang="en-US" sz="2000" dirty="0" smtClean="0">
                <a:solidFill>
                  <a:schemeClr val="tx1"/>
                </a:solidFill>
                <a:sym typeface="+mn-ea"/>
              </a:rPr>
              <a:t>=&gt; { return</a:t>
            </a:r>
            <a:r>
              <a:rPr lang="en-US" sz="2000" dirty="0">
                <a:solidFill>
                  <a:schemeClr val="tx1"/>
                </a:solidFill>
                <a:sym typeface="+mn-ea"/>
              </a:rPr>
              <a:t> p1 * p2</a:t>
            </a:r>
            <a:r>
              <a:rPr lang="en-US" sz="2000" dirty="0" smtClean="0">
                <a:solidFill>
                  <a:schemeClr val="tx1"/>
                </a:solidFill>
                <a:sym typeface="+mn-ea"/>
              </a:rPr>
              <a:t>; }</a:t>
            </a:r>
            <a:endParaRPr lang="en-US" sz="2000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sym typeface="+mn-ea"/>
              </a:rPr>
              <a:t>let x = </a:t>
            </a:r>
            <a:r>
              <a:rPr lang="en-US" sz="2000" b="1" dirty="0" err="1">
                <a:solidFill>
                  <a:schemeClr val="tx1"/>
                </a:solidFill>
                <a:sym typeface="+mn-ea"/>
              </a:rPr>
              <a:t>myFunction</a:t>
            </a:r>
            <a:r>
              <a:rPr lang="en-US" sz="2000" dirty="0">
                <a:solidFill>
                  <a:schemeClr val="tx1"/>
                </a:solidFill>
                <a:sym typeface="+mn-ea"/>
              </a:rPr>
              <a:t>(4, 3</a:t>
            </a:r>
            <a:r>
              <a:rPr lang="en-US" sz="2000" dirty="0" smtClean="0">
                <a:solidFill>
                  <a:schemeClr val="tx1"/>
                </a:solidFill>
                <a:sym typeface="+mn-ea"/>
              </a:rPr>
              <a:t>);</a:t>
            </a:r>
            <a:endParaRPr lang="en-US" sz="2000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2000" dirty="0" err="1">
                <a:solidFill>
                  <a:schemeClr val="tx1"/>
                </a:solidFill>
                <a:sym typeface="+mn-ea"/>
              </a:rPr>
              <a:t>async</a:t>
            </a:r>
            <a:r>
              <a:rPr lang="en-US" sz="2000" dirty="0">
                <a:solidFill>
                  <a:schemeClr val="tx1"/>
                </a:solidFill>
                <a:sym typeface="+mn-ea"/>
              </a:rPr>
              <a:t> function </a:t>
            </a:r>
            <a:r>
              <a:rPr lang="en-US" sz="2000" b="1" dirty="0" err="1">
                <a:solidFill>
                  <a:schemeClr val="tx1"/>
                </a:solidFill>
                <a:sym typeface="+mn-ea"/>
              </a:rPr>
              <a:t>myFunction</a:t>
            </a:r>
            <a:r>
              <a:rPr lang="en-US" sz="2000" dirty="0">
                <a:solidFill>
                  <a:schemeClr val="tx1"/>
                </a:solidFill>
                <a:sym typeface="+mn-ea"/>
              </a:rPr>
              <a:t>() {</a:t>
            </a:r>
            <a:br>
              <a:rPr lang="en-US" sz="2000" dirty="0">
                <a:solidFill>
                  <a:schemeClr val="tx1"/>
                </a:solidFill>
                <a:sym typeface="+mn-ea"/>
              </a:rPr>
            </a:br>
            <a:r>
              <a:rPr lang="en-US" sz="2000" dirty="0">
                <a:solidFill>
                  <a:schemeClr val="tx1"/>
                </a:solidFill>
                <a:sym typeface="+mn-ea"/>
              </a:rPr>
              <a:t>  return "Hello";</a:t>
            </a:r>
            <a:br>
              <a:rPr lang="en-US" sz="2000" dirty="0">
                <a:solidFill>
                  <a:schemeClr val="tx1"/>
                </a:solidFill>
                <a:sym typeface="+mn-ea"/>
              </a:rPr>
            </a:br>
            <a:r>
              <a:rPr lang="en-US" sz="2000" dirty="0">
                <a:solidFill>
                  <a:schemeClr val="tx1"/>
                </a:solidFill>
                <a:sym typeface="+mn-ea"/>
              </a:rPr>
              <a:t>}</a:t>
            </a:r>
            <a:endParaRPr lang="en-US" sz="2000" b="1" dirty="0" smtClean="0">
              <a:solidFill>
                <a:schemeClr val="tx1"/>
              </a:solidFill>
              <a:sym typeface="+mn-ea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467360" y="497840"/>
            <a:ext cx="10920730" cy="87439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ru-RU" altLang="en-US" sz="3600" b="1" dirty="0">
                <a:solidFill>
                  <a:schemeClr val="tx1"/>
                </a:solidFill>
                <a:sym typeface="+mn-ea"/>
              </a:rPr>
              <a:t>Подробнее про типы: функции</a:t>
            </a:r>
            <a:endParaRPr lang="en-US" altLang="ru-RU" sz="3600" b="1" dirty="0" smtClean="0">
              <a:solidFill>
                <a:schemeClr val="tx1"/>
              </a:solidFill>
              <a:latin typeface="Calibri" panose="020F0502020204030204" charset="0"/>
              <a:ea typeface="Calibri" panose="020F0502020204030204" charset="0"/>
              <a:cs typeface="Calibri" panose="020F0502020204030204" charset="0"/>
              <a:sym typeface="+mn-ea"/>
            </a:endParaRPr>
          </a:p>
        </p:txBody>
      </p:sp>
      <p:sp>
        <p:nvSpPr>
          <p:cNvPr id="3" name="圆角矩形 5"/>
          <p:cNvSpPr/>
          <p:nvPr/>
        </p:nvSpPr>
        <p:spPr>
          <a:xfrm>
            <a:off x="6077585" y="1977390"/>
            <a:ext cx="5310505" cy="4496435"/>
          </a:xfrm>
          <a:prstGeom prst="roundRect">
            <a:avLst>
              <a:gd name="adj" fmla="val 805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285750" indent="-285750">
              <a:buFont typeface="Arial" panose="020B0604020202020204" pitchFamily="34" charset="0"/>
              <a:buChar char="•"/>
            </a:pPr>
            <a:endParaRPr lang="ru-RU" altLang="en-US" dirty="0" smtClean="0">
              <a:solidFill>
                <a:schemeClr val="tx1"/>
              </a:solidFill>
              <a:ea typeface="Calibri" panose="020F0502020204030204" charset="0"/>
              <a:cs typeface="+mn-lt"/>
              <a:sym typeface="+mn-ea"/>
            </a:endParaRPr>
          </a:p>
        </p:txBody>
      </p:sp>
      <p:pic>
        <p:nvPicPr>
          <p:cNvPr id="7" name="Изображение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3915" y="2148840"/>
            <a:ext cx="2910840" cy="2560320"/>
          </a:xfrm>
          <a:prstGeom prst="rect">
            <a:avLst/>
          </a:prstGeom>
        </p:spPr>
      </p:pic>
      <p:pic>
        <p:nvPicPr>
          <p:cNvPr id="8" name="Изображение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8255" y="4805680"/>
            <a:ext cx="2209800" cy="143827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0C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467360" y="1978025"/>
            <a:ext cx="5456555" cy="4495800"/>
          </a:xfrm>
          <a:prstGeom prst="roundRect">
            <a:avLst>
              <a:gd name="adj" fmla="val 805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chemeClr val="tx1"/>
                </a:solidFill>
                <a:sym typeface="+mn-ea"/>
              </a:rPr>
              <a:t>document.getElementById</a:t>
            </a:r>
            <a:r>
              <a:rPr lang="en-US" dirty="0">
                <a:solidFill>
                  <a:schemeClr val="tx1"/>
                </a:solidFill>
                <a:sym typeface="+mn-ea"/>
              </a:rPr>
              <a:t>("demo").</a:t>
            </a:r>
            <a:r>
              <a:rPr lang="en-US" dirty="0" err="1">
                <a:solidFill>
                  <a:schemeClr val="tx1"/>
                </a:solidFill>
                <a:sym typeface="+mn-ea"/>
              </a:rPr>
              <a:t>innerHTML</a:t>
            </a:r>
            <a:r>
              <a:rPr lang="en-US" dirty="0">
                <a:solidFill>
                  <a:schemeClr val="tx1"/>
                </a:solidFill>
                <a:sym typeface="+mn-ea"/>
              </a:rPr>
              <a:t> = "Hello World!";</a:t>
            </a:r>
            <a:endParaRPr lang="ru-RU" b="1" dirty="0" smtClean="0">
              <a:solidFill>
                <a:schemeClr val="tx1"/>
              </a:solidFill>
              <a:sym typeface="+mn-ea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467360" y="497840"/>
            <a:ext cx="10920730" cy="87439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ru-RU" altLang="ru-RU" sz="3600" b="1" dirty="0" smtClean="0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  <a:sym typeface="+mn-ea"/>
              </a:rPr>
              <a:t>Взаимодействие с </a:t>
            </a:r>
            <a:r>
              <a:rPr lang="en-US" altLang="ru-RU" sz="3600" b="1" dirty="0" smtClean="0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  <a:sym typeface="+mn-ea"/>
              </a:rPr>
              <a:t>DOM</a:t>
            </a:r>
            <a:endParaRPr lang="en-US" altLang="ru-RU" sz="3600" b="1" dirty="0" smtClean="0">
              <a:solidFill>
                <a:schemeClr val="tx1"/>
              </a:solidFill>
              <a:latin typeface="Calibri" panose="020F0502020204030204" charset="0"/>
              <a:ea typeface="Calibri" panose="020F0502020204030204" charset="0"/>
              <a:cs typeface="Calibri" panose="020F0502020204030204" charset="0"/>
              <a:sym typeface="+mn-ea"/>
            </a:endParaRPr>
          </a:p>
        </p:txBody>
      </p:sp>
      <p:sp>
        <p:nvSpPr>
          <p:cNvPr id="3" name="圆角矩形 5"/>
          <p:cNvSpPr/>
          <p:nvPr/>
        </p:nvSpPr>
        <p:spPr>
          <a:xfrm>
            <a:off x="6077585" y="1977390"/>
            <a:ext cx="5310505" cy="4496435"/>
          </a:xfrm>
          <a:prstGeom prst="roundRect">
            <a:avLst>
              <a:gd name="adj" fmla="val 805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285750" indent="-285750">
              <a:buFont typeface="Arial" panose="020B0604020202020204" pitchFamily="34" charset="0"/>
              <a:buChar char="•"/>
            </a:pPr>
            <a:endParaRPr lang="ru-RU" altLang="en-US" dirty="0" smtClean="0">
              <a:solidFill>
                <a:schemeClr val="tx1"/>
              </a:solidFill>
              <a:ea typeface="Calibri" panose="020F0502020204030204" charset="0"/>
              <a:cs typeface="+mn-lt"/>
              <a:sym typeface="+mn-ea"/>
            </a:endParaRPr>
          </a:p>
        </p:txBody>
      </p:sp>
      <p:pic>
        <p:nvPicPr>
          <p:cNvPr id="1026" name="Picture 2" descr="DOM HTML tree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7805" y="3041015"/>
            <a:ext cx="4330700" cy="2370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0C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467360" y="1978025"/>
            <a:ext cx="5456555" cy="4495800"/>
          </a:xfrm>
          <a:prstGeom prst="roundRect">
            <a:avLst>
              <a:gd name="adj" fmla="val 805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r>
              <a:rPr lang="ru-RU" b="1" dirty="0" smtClean="0">
                <a:solidFill>
                  <a:schemeClr val="tx1"/>
                </a:solidFill>
                <a:sym typeface="+mn-ea"/>
              </a:rPr>
              <a:t>Обращение к элементу:</a:t>
            </a:r>
            <a:r>
              <a:rPr lang="ru-RU" dirty="0" smtClean="0">
                <a:solidFill>
                  <a:schemeClr val="tx1"/>
                </a:solidFill>
                <a:sym typeface="+mn-ea"/>
              </a:rPr>
              <a:t> </a:t>
            </a:r>
            <a:endParaRPr lang="ru-RU" dirty="0" smtClean="0">
              <a:solidFill>
                <a:schemeClr val="tx1"/>
              </a:solidFill>
              <a:sym typeface="+mn-ea"/>
            </a:endParaRPr>
          </a:p>
          <a:p>
            <a:pPr marL="0" indent="0">
              <a:buNone/>
            </a:pPr>
            <a:endParaRPr lang="ru-RU" dirty="0" smtClean="0">
              <a:solidFill>
                <a:schemeClr val="tx1"/>
              </a:solidFill>
              <a:sym typeface="+mn-ea"/>
            </a:endParaRPr>
          </a:p>
          <a:p>
            <a:pPr marL="0" indent="0">
              <a:buNone/>
            </a:pPr>
            <a:endParaRPr lang="en-US" dirty="0" smtClean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b="1" dirty="0" err="1" smtClean="0">
                <a:solidFill>
                  <a:schemeClr val="tx1"/>
                </a:solidFill>
                <a:sym typeface="+mn-ea"/>
              </a:rPr>
              <a:t>getElementById</a:t>
            </a:r>
            <a:r>
              <a:rPr lang="en-US" sz="1600" dirty="0">
                <a:solidFill>
                  <a:schemeClr val="tx1"/>
                </a:solidFill>
                <a:sym typeface="+mn-ea"/>
              </a:rPr>
              <a:t>(“someElemID”);</a:t>
            </a:r>
            <a:endParaRPr lang="en-US" sz="1600" dirty="0" smtClean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b="1" dirty="0" err="1" smtClean="0">
                <a:solidFill>
                  <a:schemeClr val="tx1"/>
                </a:solidFill>
                <a:sym typeface="+mn-ea"/>
              </a:rPr>
              <a:t>getElementsByTagName</a:t>
            </a:r>
            <a:r>
              <a:rPr lang="en-US" sz="1600" dirty="0">
                <a:solidFill>
                  <a:schemeClr val="tx1"/>
                </a:solidFill>
                <a:sym typeface="+mn-ea"/>
              </a:rPr>
              <a:t>(“div”);</a:t>
            </a:r>
            <a:endParaRPr lang="en-US" sz="1600" dirty="0" smtClean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b="1" dirty="0" err="1" smtClean="0">
                <a:solidFill>
                  <a:schemeClr val="tx1"/>
                </a:solidFill>
                <a:sym typeface="+mn-ea"/>
              </a:rPr>
              <a:t>getElementsByClassName</a:t>
            </a:r>
            <a:r>
              <a:rPr lang="en-US" sz="1600" dirty="0">
                <a:solidFill>
                  <a:schemeClr val="tx1"/>
                </a:solidFill>
                <a:sym typeface="+mn-ea"/>
              </a:rPr>
              <a:t>(“someElemClassName”);</a:t>
            </a:r>
            <a:endParaRPr lang="en-US" sz="1600" b="1" dirty="0" smtClean="0">
              <a:solidFill>
                <a:schemeClr val="tx1"/>
              </a:solidFill>
              <a:sym typeface="+mn-ea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467360" y="497840"/>
            <a:ext cx="10920730" cy="87439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ru-RU" altLang="ru-RU" sz="3600" b="1" dirty="0" smtClean="0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  <a:sym typeface="+mn-ea"/>
              </a:rPr>
              <a:t>Взаимодействие с </a:t>
            </a:r>
            <a:r>
              <a:rPr lang="en-US" altLang="ru-RU" sz="3600" b="1" dirty="0" smtClean="0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  <a:sym typeface="+mn-ea"/>
              </a:rPr>
              <a:t>DOM</a:t>
            </a:r>
            <a:endParaRPr lang="en-US" altLang="ru-RU" sz="3600" b="1" dirty="0" smtClean="0">
              <a:solidFill>
                <a:schemeClr val="tx1"/>
              </a:solidFill>
              <a:latin typeface="Calibri" panose="020F0502020204030204" charset="0"/>
              <a:ea typeface="Calibri" panose="020F0502020204030204" charset="0"/>
              <a:cs typeface="Calibri" panose="020F0502020204030204" charset="0"/>
              <a:sym typeface="+mn-ea"/>
            </a:endParaRPr>
          </a:p>
        </p:txBody>
      </p:sp>
      <p:sp>
        <p:nvSpPr>
          <p:cNvPr id="3" name="圆角矩形 5"/>
          <p:cNvSpPr/>
          <p:nvPr/>
        </p:nvSpPr>
        <p:spPr>
          <a:xfrm>
            <a:off x="6077585" y="1977390"/>
            <a:ext cx="5310505" cy="4496435"/>
          </a:xfrm>
          <a:prstGeom prst="roundRect">
            <a:avLst>
              <a:gd name="adj" fmla="val 805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indent="0">
              <a:buNone/>
            </a:pPr>
            <a:r>
              <a:rPr lang="ru-RU" b="1" dirty="0" smtClean="0">
                <a:solidFill>
                  <a:schemeClr val="tx1"/>
                </a:solidFill>
                <a:sym typeface="+mn-ea"/>
              </a:rPr>
              <a:t>Добавление и удаление:</a:t>
            </a:r>
            <a:r>
              <a:rPr lang="ru-RU" dirty="0" smtClean="0">
                <a:solidFill>
                  <a:schemeClr val="tx1"/>
                </a:solidFill>
                <a:sym typeface="+mn-ea"/>
              </a:rPr>
              <a:t> </a:t>
            </a:r>
            <a:endParaRPr lang="ru-RU" dirty="0" smtClean="0">
              <a:solidFill>
                <a:schemeClr val="tx1"/>
              </a:solidFill>
              <a:sym typeface="+mn-ea"/>
            </a:endParaRPr>
          </a:p>
          <a:p>
            <a:pPr marL="0" indent="0">
              <a:buNone/>
            </a:pPr>
            <a:endParaRPr lang="en-US" dirty="0" smtClean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 smtClean="0">
                <a:solidFill>
                  <a:schemeClr val="tx1"/>
                </a:solidFill>
                <a:sym typeface="+mn-ea"/>
              </a:rPr>
              <a:t>document.</a:t>
            </a:r>
            <a:r>
              <a:rPr lang="en-US" sz="1600" b="1" dirty="0" err="1" smtClean="0">
                <a:solidFill>
                  <a:schemeClr val="tx1"/>
                </a:solidFill>
                <a:sym typeface="+mn-ea"/>
              </a:rPr>
              <a:t>createElement</a:t>
            </a:r>
            <a:r>
              <a:rPr lang="en-US" sz="1600" dirty="0" smtClean="0">
                <a:solidFill>
                  <a:schemeClr val="tx1"/>
                </a:solidFill>
                <a:sym typeface="+mn-ea"/>
              </a:rPr>
              <a:t>(</a:t>
            </a:r>
            <a:r>
              <a:rPr lang="en-US" sz="1600" i="1" dirty="0" smtClean="0">
                <a:solidFill>
                  <a:schemeClr val="tx1"/>
                </a:solidFill>
                <a:sym typeface="+mn-ea"/>
              </a:rPr>
              <a:t>element</a:t>
            </a:r>
            <a:r>
              <a:rPr lang="en-US" sz="1600" dirty="0" smtClean="0">
                <a:solidFill>
                  <a:schemeClr val="tx1"/>
                </a:solidFill>
                <a:sym typeface="+mn-ea"/>
              </a:rPr>
              <a:t>);</a:t>
            </a:r>
            <a:endParaRPr lang="ru-RU" sz="1600" dirty="0" smtClean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tx1"/>
                </a:solidFill>
                <a:sym typeface="+mn-ea"/>
              </a:rPr>
              <a:t>document.</a:t>
            </a:r>
            <a:r>
              <a:rPr lang="en-US" sz="1600" b="1" dirty="0" err="1">
                <a:solidFill>
                  <a:schemeClr val="tx1"/>
                </a:solidFill>
                <a:sym typeface="+mn-ea"/>
              </a:rPr>
              <a:t>appendChild</a:t>
            </a:r>
            <a:r>
              <a:rPr lang="en-US" sz="1600" dirty="0">
                <a:solidFill>
                  <a:schemeClr val="tx1"/>
                </a:solidFill>
                <a:sym typeface="+mn-ea"/>
              </a:rPr>
              <a:t>(</a:t>
            </a:r>
            <a:r>
              <a:rPr lang="en-US" sz="1600" i="1" dirty="0">
                <a:solidFill>
                  <a:schemeClr val="tx1"/>
                </a:solidFill>
                <a:sym typeface="+mn-ea"/>
              </a:rPr>
              <a:t>element</a:t>
            </a:r>
            <a:r>
              <a:rPr lang="en-US" sz="1600" dirty="0" smtClean="0">
                <a:solidFill>
                  <a:schemeClr val="tx1"/>
                </a:solidFill>
                <a:sym typeface="+mn-ea"/>
              </a:rPr>
              <a:t>);</a:t>
            </a:r>
            <a:endParaRPr lang="ru-RU" sz="1600" dirty="0" smtClean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tx1"/>
                </a:solidFill>
                <a:sym typeface="+mn-ea"/>
              </a:rPr>
              <a:t>document.</a:t>
            </a:r>
            <a:r>
              <a:rPr lang="en-US" sz="1600" b="1" dirty="0" err="1">
                <a:solidFill>
                  <a:schemeClr val="tx1"/>
                </a:solidFill>
                <a:sym typeface="+mn-ea"/>
              </a:rPr>
              <a:t>replaceChild</a:t>
            </a:r>
            <a:r>
              <a:rPr lang="en-US" sz="1600" dirty="0">
                <a:solidFill>
                  <a:schemeClr val="tx1"/>
                </a:solidFill>
                <a:sym typeface="+mn-ea"/>
              </a:rPr>
              <a:t>(</a:t>
            </a:r>
            <a:r>
              <a:rPr lang="en-US" sz="1600" i="1" dirty="0">
                <a:solidFill>
                  <a:schemeClr val="tx1"/>
                </a:solidFill>
                <a:sym typeface="+mn-ea"/>
              </a:rPr>
              <a:t>new, old</a:t>
            </a:r>
            <a:r>
              <a:rPr lang="en-US" sz="1600" dirty="0">
                <a:solidFill>
                  <a:schemeClr val="tx1"/>
                </a:solidFill>
                <a:sym typeface="+mn-ea"/>
              </a:rPr>
              <a:t>);</a:t>
            </a:r>
            <a:endParaRPr lang="ru-RU" sz="1600" dirty="0" smtClean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tx1"/>
                </a:solidFill>
                <a:sym typeface="+mn-ea"/>
              </a:rPr>
              <a:t>document.</a:t>
            </a:r>
            <a:r>
              <a:rPr lang="en-US" sz="1600" b="1" dirty="0" err="1">
                <a:solidFill>
                  <a:schemeClr val="tx1"/>
                </a:solidFill>
                <a:sym typeface="+mn-ea"/>
              </a:rPr>
              <a:t>removeChild</a:t>
            </a:r>
            <a:r>
              <a:rPr lang="en-US" sz="1600" dirty="0">
                <a:solidFill>
                  <a:schemeClr val="tx1"/>
                </a:solidFill>
                <a:sym typeface="+mn-ea"/>
              </a:rPr>
              <a:t>(</a:t>
            </a:r>
            <a:r>
              <a:rPr lang="en-US" sz="1600" i="1" dirty="0">
                <a:solidFill>
                  <a:schemeClr val="tx1"/>
                </a:solidFill>
                <a:sym typeface="+mn-ea"/>
              </a:rPr>
              <a:t>element</a:t>
            </a:r>
            <a:r>
              <a:rPr lang="en-US" sz="1600" dirty="0" smtClean="0">
                <a:solidFill>
                  <a:schemeClr val="tx1"/>
                </a:solidFill>
                <a:sym typeface="+mn-ea"/>
              </a:rPr>
              <a:t>);</a:t>
            </a:r>
            <a:endParaRPr lang="ru-RU" sz="16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tx1"/>
                </a:solidFill>
                <a:sym typeface="+mn-ea"/>
              </a:rPr>
              <a:t>document.</a:t>
            </a:r>
            <a:r>
              <a:rPr lang="en-US" sz="1600" b="1" dirty="0" err="1">
                <a:solidFill>
                  <a:schemeClr val="tx1"/>
                </a:solidFill>
                <a:sym typeface="+mn-ea"/>
              </a:rPr>
              <a:t>write</a:t>
            </a:r>
            <a:r>
              <a:rPr lang="en-US" sz="1600" dirty="0">
                <a:solidFill>
                  <a:schemeClr val="tx1"/>
                </a:solidFill>
                <a:sym typeface="+mn-ea"/>
              </a:rPr>
              <a:t>(</a:t>
            </a:r>
            <a:r>
              <a:rPr lang="en-US" sz="1600" i="1" dirty="0">
                <a:solidFill>
                  <a:schemeClr val="tx1"/>
                </a:solidFill>
                <a:sym typeface="+mn-ea"/>
              </a:rPr>
              <a:t>text</a:t>
            </a:r>
            <a:r>
              <a:rPr lang="en-US" sz="1600" dirty="0">
                <a:solidFill>
                  <a:schemeClr val="tx1"/>
                </a:solidFill>
                <a:sym typeface="+mn-ea"/>
              </a:rPr>
              <a:t>);</a:t>
            </a:r>
            <a:endParaRPr lang="en-US" altLang="en-US" sz="1600" dirty="0" smtClean="0">
              <a:solidFill>
                <a:schemeClr val="tx1"/>
              </a:solidFill>
              <a:ea typeface="Calibri" panose="020F0502020204030204" charset="0"/>
              <a:cs typeface="+mn-lt"/>
              <a:sym typeface="+mn-e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0C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5923915" y="1978025"/>
            <a:ext cx="5456555" cy="4495800"/>
          </a:xfrm>
          <a:prstGeom prst="roundRect">
            <a:avLst>
              <a:gd name="adj" fmla="val 805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 smtClean="0">
                <a:solidFill>
                  <a:schemeClr val="tx1"/>
                </a:solidFill>
                <a:sym typeface="+mn-ea"/>
              </a:rPr>
              <a:t>document.body</a:t>
            </a:r>
            <a:endParaRPr lang="en-US" b="1" dirty="0" err="1" smtClean="0">
              <a:solidFill>
                <a:schemeClr val="tx1"/>
              </a:solidFill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b="1" dirty="0" smtClean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chemeClr val="tx1"/>
                </a:solidFill>
                <a:sym typeface="+mn-ea"/>
              </a:rPr>
              <a:t>parentNode</a:t>
            </a:r>
            <a:endParaRPr lang="en-US" b="1" dirty="0" err="1">
              <a:solidFill>
                <a:schemeClr val="tx1"/>
              </a:solidFill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chemeClr val="tx1"/>
                </a:solidFill>
                <a:sym typeface="+mn-ea"/>
              </a:rPr>
              <a:t>childNodes</a:t>
            </a:r>
            <a:r>
              <a:rPr lang="en-US" b="1" dirty="0">
                <a:solidFill>
                  <a:schemeClr val="tx1"/>
                </a:solidFill>
                <a:sym typeface="+mn-ea"/>
              </a:rPr>
              <a:t>[</a:t>
            </a:r>
            <a:r>
              <a:rPr lang="en-US" b="1" dirty="0" err="1">
                <a:solidFill>
                  <a:schemeClr val="tx1"/>
                </a:solidFill>
                <a:sym typeface="+mn-ea"/>
              </a:rPr>
              <a:t>nodenumber</a:t>
            </a:r>
            <a:r>
              <a:rPr lang="en-US" b="1" dirty="0">
                <a:solidFill>
                  <a:schemeClr val="tx1"/>
                </a:solidFill>
                <a:sym typeface="+mn-ea"/>
              </a:rPr>
              <a:t>]</a:t>
            </a:r>
            <a:endParaRPr lang="en-US" b="1" dirty="0">
              <a:solidFill>
                <a:schemeClr val="tx1"/>
              </a:solidFill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chemeClr val="tx1"/>
                </a:solidFill>
                <a:sym typeface="+mn-ea"/>
              </a:rPr>
              <a:t>firstChild</a:t>
            </a:r>
            <a:endParaRPr lang="en-US" b="1" dirty="0" err="1">
              <a:solidFill>
                <a:schemeClr val="tx1"/>
              </a:solidFill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chemeClr val="tx1"/>
                </a:solidFill>
                <a:sym typeface="+mn-ea"/>
              </a:rPr>
              <a:t>lastChild</a:t>
            </a:r>
            <a:endParaRPr lang="en-US" b="1" dirty="0" err="1">
              <a:solidFill>
                <a:schemeClr val="tx1"/>
              </a:solidFill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chemeClr val="tx1"/>
                </a:solidFill>
                <a:sym typeface="+mn-ea"/>
              </a:rPr>
              <a:t>nextSibling</a:t>
            </a:r>
            <a:endParaRPr lang="en-US" b="1" dirty="0" err="1">
              <a:solidFill>
                <a:schemeClr val="tx1"/>
              </a:solidFill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chemeClr val="tx1"/>
                </a:solidFill>
                <a:sym typeface="+mn-ea"/>
              </a:rPr>
              <a:t>previousSibling</a:t>
            </a:r>
            <a:endParaRPr lang="en-US" sz="1600" b="1" dirty="0" err="1" smtClean="0">
              <a:solidFill>
                <a:schemeClr val="tx1"/>
              </a:solidFill>
              <a:sym typeface="+mn-ea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898525" y="497840"/>
            <a:ext cx="3062605" cy="1633220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ru-RU" altLang="ru-RU" sz="3600" b="1" dirty="0" smtClean="0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  <a:sym typeface="+mn-ea"/>
              </a:rPr>
              <a:t>Переходы по </a:t>
            </a:r>
            <a:r>
              <a:rPr lang="en-US" altLang="ru-RU" sz="3600" b="1" dirty="0" smtClean="0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  <a:sym typeface="+mn-ea"/>
              </a:rPr>
              <a:t>DOM</a:t>
            </a:r>
            <a:endParaRPr lang="en-US" altLang="ru-RU" sz="3600" b="1" dirty="0" smtClean="0">
              <a:solidFill>
                <a:schemeClr val="tx1"/>
              </a:solidFill>
              <a:latin typeface="Calibri" panose="020F0502020204030204" charset="0"/>
              <a:ea typeface="Calibri" panose="020F0502020204030204" charset="0"/>
              <a:cs typeface="Calibri" panose="020F0502020204030204" charset="0"/>
              <a:sym typeface="+mn-e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0C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5923915" y="1978025"/>
            <a:ext cx="5456555" cy="4495800"/>
          </a:xfrm>
          <a:prstGeom prst="roundRect">
            <a:avLst>
              <a:gd name="adj" fmla="val 805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  <a:sym typeface="+mn-ea"/>
              </a:rPr>
              <a:t>&lt;h1 </a:t>
            </a:r>
            <a:r>
              <a:rPr lang="en-US" dirty="0" smtClean="0">
                <a:solidFill>
                  <a:schemeClr val="tx1"/>
                </a:solidFill>
                <a:sym typeface="+mn-ea"/>
              </a:rPr>
              <a:t>id=“hdr1” </a:t>
            </a:r>
            <a:r>
              <a:rPr lang="en-US" b="1" dirty="0" err="1" smtClean="0">
                <a:solidFill>
                  <a:schemeClr val="tx1"/>
                </a:solidFill>
                <a:sym typeface="+mn-ea"/>
              </a:rPr>
              <a:t>onclick</a:t>
            </a:r>
            <a:r>
              <a:rPr lang="en-US" dirty="0">
                <a:solidFill>
                  <a:schemeClr val="tx1"/>
                </a:solidFill>
                <a:sym typeface="+mn-ea"/>
              </a:rPr>
              <a:t>="</a:t>
            </a:r>
            <a:r>
              <a:rPr lang="en-US" dirty="0" err="1">
                <a:solidFill>
                  <a:schemeClr val="tx1"/>
                </a:solidFill>
                <a:sym typeface="+mn-ea"/>
              </a:rPr>
              <a:t>changeText</a:t>
            </a:r>
            <a:r>
              <a:rPr lang="en-US" dirty="0">
                <a:solidFill>
                  <a:schemeClr val="tx1"/>
                </a:solidFill>
                <a:sym typeface="+mn-ea"/>
              </a:rPr>
              <a:t>(this)"</a:t>
            </a:r>
            <a:r>
              <a:rPr lang="en-US" b="1" dirty="0">
                <a:solidFill>
                  <a:schemeClr val="tx1"/>
                </a:solidFill>
                <a:sym typeface="+mn-ea"/>
              </a:rPr>
              <a:t>&gt;</a:t>
            </a:r>
            <a:r>
              <a:rPr lang="en-US" dirty="0" smtClean="0">
                <a:solidFill>
                  <a:schemeClr val="tx1"/>
                </a:solidFill>
                <a:sym typeface="+mn-ea"/>
              </a:rPr>
              <a:t>Click!</a:t>
            </a:r>
            <a:r>
              <a:rPr lang="en-US" b="1" dirty="0" smtClean="0">
                <a:solidFill>
                  <a:schemeClr val="tx1"/>
                </a:solidFill>
                <a:sym typeface="+mn-ea"/>
              </a:rPr>
              <a:t>&lt;/</a:t>
            </a:r>
            <a:r>
              <a:rPr lang="en-US" b="1" dirty="0">
                <a:solidFill>
                  <a:schemeClr val="tx1"/>
                </a:solidFill>
                <a:sym typeface="+mn-ea"/>
              </a:rPr>
              <a:t>h1&gt;</a:t>
            </a:r>
            <a:br>
              <a:rPr lang="en-US" dirty="0">
                <a:solidFill>
                  <a:schemeClr val="tx1"/>
                </a:solidFill>
                <a:sym typeface="+mn-ea"/>
              </a:rPr>
            </a:br>
            <a:br>
              <a:rPr lang="en-US" dirty="0">
                <a:solidFill>
                  <a:schemeClr val="tx1"/>
                </a:solidFill>
                <a:sym typeface="+mn-ea"/>
              </a:rPr>
            </a:br>
            <a:r>
              <a:rPr lang="en-US" b="1" dirty="0">
                <a:solidFill>
                  <a:schemeClr val="tx1"/>
                </a:solidFill>
                <a:sym typeface="+mn-ea"/>
              </a:rPr>
              <a:t>&lt;script&gt;</a:t>
            </a:r>
            <a:br>
              <a:rPr lang="en-US" dirty="0">
                <a:solidFill>
                  <a:schemeClr val="tx1"/>
                </a:solidFill>
                <a:sym typeface="+mn-ea"/>
              </a:rPr>
            </a:br>
            <a:r>
              <a:rPr lang="en-US" dirty="0" smtClean="0">
                <a:solidFill>
                  <a:schemeClr val="tx1"/>
                </a:solidFill>
                <a:sym typeface="+mn-ea"/>
              </a:rPr>
              <a:t>function </a:t>
            </a:r>
            <a:r>
              <a:rPr lang="en-US" b="1" dirty="0" err="1" smtClean="0">
                <a:solidFill>
                  <a:schemeClr val="tx1"/>
                </a:solidFill>
                <a:sym typeface="+mn-ea"/>
              </a:rPr>
              <a:t>changeText</a:t>
            </a:r>
            <a:r>
              <a:rPr lang="en-US" dirty="0" smtClean="0">
                <a:solidFill>
                  <a:schemeClr val="tx1"/>
                </a:solidFill>
                <a:sym typeface="+mn-ea"/>
              </a:rPr>
              <a:t>(element) {</a:t>
            </a:r>
            <a:br>
              <a:rPr lang="en-US" dirty="0" smtClean="0">
                <a:solidFill>
                  <a:schemeClr val="tx1"/>
                </a:solidFill>
                <a:sym typeface="+mn-ea"/>
              </a:rPr>
            </a:br>
            <a:r>
              <a:rPr lang="en-US" dirty="0" smtClean="0">
                <a:solidFill>
                  <a:schemeClr val="tx1"/>
                </a:solidFill>
                <a:sym typeface="+mn-ea"/>
              </a:rPr>
              <a:t>  </a:t>
            </a:r>
            <a:r>
              <a:rPr lang="en-US" dirty="0" err="1" smtClean="0">
                <a:solidFill>
                  <a:schemeClr val="tx1"/>
                </a:solidFill>
                <a:sym typeface="+mn-ea"/>
              </a:rPr>
              <a:t>element.innerHTML</a:t>
            </a:r>
            <a:r>
              <a:rPr lang="en-US" dirty="0" smtClean="0">
                <a:solidFill>
                  <a:schemeClr val="tx1"/>
                </a:solidFill>
                <a:sym typeface="+mn-ea"/>
              </a:rPr>
              <a:t> = "</a:t>
            </a:r>
            <a:r>
              <a:rPr lang="en-US" dirty="0" err="1" smtClean="0">
                <a:solidFill>
                  <a:schemeClr val="tx1"/>
                </a:solidFill>
                <a:sym typeface="+mn-ea"/>
              </a:rPr>
              <a:t>Ooops</a:t>
            </a:r>
            <a:r>
              <a:rPr lang="en-US" dirty="0" smtClean="0">
                <a:solidFill>
                  <a:schemeClr val="tx1"/>
                </a:solidFill>
                <a:sym typeface="+mn-ea"/>
              </a:rPr>
              <a:t>!";</a:t>
            </a:r>
            <a:br>
              <a:rPr lang="en-US" dirty="0" smtClean="0">
                <a:solidFill>
                  <a:schemeClr val="tx1"/>
                </a:solidFill>
                <a:sym typeface="+mn-ea"/>
              </a:rPr>
            </a:br>
            <a:r>
              <a:rPr lang="en-US" dirty="0" smtClean="0">
                <a:solidFill>
                  <a:schemeClr val="tx1"/>
                </a:solidFill>
                <a:sym typeface="+mn-ea"/>
              </a:rPr>
              <a:t>}</a:t>
            </a:r>
            <a:br>
              <a:rPr lang="en-US" dirty="0">
                <a:solidFill>
                  <a:schemeClr val="tx1"/>
                </a:solidFill>
                <a:sym typeface="+mn-ea"/>
              </a:rPr>
            </a:br>
            <a:r>
              <a:rPr lang="en-US" b="1" dirty="0">
                <a:solidFill>
                  <a:schemeClr val="tx1"/>
                </a:solidFill>
                <a:sym typeface="+mn-ea"/>
              </a:rPr>
              <a:t>&lt;/script</a:t>
            </a:r>
            <a:r>
              <a:rPr lang="en-US" b="1" dirty="0" smtClean="0">
                <a:solidFill>
                  <a:schemeClr val="tx1"/>
                </a:solidFill>
                <a:sym typeface="+mn-ea"/>
              </a:rPr>
              <a:t>&gt;</a:t>
            </a:r>
            <a:endParaRPr lang="ru-RU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ru-RU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  <a:sym typeface="+mn-ea"/>
              </a:rPr>
              <a:t>&lt;script&gt;</a:t>
            </a:r>
            <a:br>
              <a:rPr lang="en-US" dirty="0">
                <a:solidFill>
                  <a:schemeClr val="tx1"/>
                </a:solidFill>
                <a:sym typeface="+mn-ea"/>
              </a:rPr>
            </a:br>
            <a:r>
              <a:rPr lang="en-US" sz="1600" dirty="0" err="1">
                <a:solidFill>
                  <a:schemeClr val="tx1"/>
                </a:solidFill>
                <a:sym typeface="+mn-ea"/>
              </a:rPr>
              <a:t>document.getElementById</a:t>
            </a:r>
            <a:r>
              <a:rPr lang="en-US" sz="1600" dirty="0" smtClean="0">
                <a:solidFill>
                  <a:schemeClr val="tx1"/>
                </a:solidFill>
                <a:sym typeface="+mn-ea"/>
              </a:rPr>
              <a:t>("hdr1 ").</a:t>
            </a:r>
            <a:r>
              <a:rPr lang="en-US" sz="1600" b="1" dirty="0" err="1">
                <a:solidFill>
                  <a:schemeClr val="tx1"/>
                </a:solidFill>
                <a:sym typeface="+mn-ea"/>
              </a:rPr>
              <a:t>onclick</a:t>
            </a:r>
            <a:r>
              <a:rPr lang="en-US" sz="1600" b="1" dirty="0">
                <a:solidFill>
                  <a:schemeClr val="tx1"/>
                </a:solidFill>
                <a:sym typeface="+mn-ea"/>
              </a:rPr>
              <a:t> </a:t>
            </a:r>
            <a:r>
              <a:rPr lang="en-US" sz="1600" dirty="0">
                <a:solidFill>
                  <a:schemeClr val="tx1"/>
                </a:solidFill>
                <a:sym typeface="+mn-ea"/>
              </a:rPr>
              <a:t>= </a:t>
            </a:r>
            <a:r>
              <a:rPr lang="en-US" sz="1600" dirty="0" err="1">
                <a:solidFill>
                  <a:schemeClr val="tx1"/>
                </a:solidFill>
                <a:sym typeface="+mn-ea"/>
              </a:rPr>
              <a:t>changeText</a:t>
            </a:r>
            <a:r>
              <a:rPr lang="en-US" sz="1600" dirty="0" smtClean="0">
                <a:solidFill>
                  <a:schemeClr val="tx1"/>
                </a:solidFill>
                <a:sym typeface="+mn-ea"/>
              </a:rPr>
              <a:t>;</a:t>
            </a:r>
            <a:br>
              <a:rPr lang="en-US" dirty="0">
                <a:solidFill>
                  <a:schemeClr val="tx1"/>
                </a:solidFill>
                <a:sym typeface="+mn-ea"/>
              </a:rPr>
            </a:br>
            <a:r>
              <a:rPr lang="en-US" b="1" dirty="0">
                <a:solidFill>
                  <a:schemeClr val="tx1"/>
                </a:solidFill>
                <a:sym typeface="+mn-ea"/>
              </a:rPr>
              <a:t>&lt;/script&gt;</a:t>
            </a:r>
            <a:endParaRPr lang="en-US" sz="1600" b="1" dirty="0" smtClean="0">
              <a:solidFill>
                <a:schemeClr val="tx1"/>
              </a:solidFill>
              <a:sym typeface="+mn-ea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898525" y="497840"/>
            <a:ext cx="3062605" cy="1633220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ru-RU" sz="3600" b="1" dirty="0" smtClean="0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  <a:sym typeface="+mn-ea"/>
              </a:rPr>
              <a:t>Обработка событий</a:t>
            </a:r>
            <a:endParaRPr lang="ru-RU" sz="3600" b="1" dirty="0" smtClean="0">
              <a:solidFill>
                <a:schemeClr val="tx1"/>
              </a:solidFill>
              <a:latin typeface="Calibri" panose="020F0502020204030204" charset="0"/>
              <a:ea typeface="Calibri" panose="020F0502020204030204" charset="0"/>
              <a:cs typeface="Calibri" panose="020F0502020204030204" charset="0"/>
              <a:sym typeface="+mn-e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0C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5923915" y="1978025"/>
            <a:ext cx="5456555" cy="4495800"/>
          </a:xfrm>
          <a:prstGeom prst="roundRect">
            <a:avLst>
              <a:gd name="adj" fmla="val 805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chemeClr val="tx1"/>
                </a:solidFill>
                <a:sym typeface="+mn-ea"/>
              </a:rPr>
              <a:t>onload</a:t>
            </a:r>
            <a:r>
              <a:rPr lang="en-US" b="1" dirty="0">
                <a:solidFill>
                  <a:schemeClr val="tx1"/>
                </a:solidFill>
                <a:sym typeface="+mn-ea"/>
              </a:rPr>
              <a:t>, </a:t>
            </a:r>
            <a:r>
              <a:rPr lang="en-US" b="1" dirty="0" err="1">
                <a:solidFill>
                  <a:schemeClr val="tx1"/>
                </a:solidFill>
                <a:sym typeface="+mn-ea"/>
              </a:rPr>
              <a:t>onunload</a:t>
            </a:r>
            <a:endParaRPr lang="en-US" b="1" dirty="0" err="1">
              <a:solidFill>
                <a:schemeClr val="tx1"/>
              </a:solidFill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chemeClr val="tx1"/>
                </a:solidFill>
                <a:sym typeface="+mn-ea"/>
              </a:rPr>
              <a:t>onchange</a:t>
            </a:r>
            <a:endParaRPr lang="en-US" b="1" dirty="0" err="1">
              <a:solidFill>
                <a:schemeClr val="tx1"/>
              </a:solidFill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chemeClr val="tx1"/>
                </a:solidFill>
                <a:sym typeface="+mn-ea"/>
              </a:rPr>
              <a:t>onmouseover</a:t>
            </a:r>
            <a:r>
              <a:rPr lang="en-US" b="1" dirty="0">
                <a:solidFill>
                  <a:schemeClr val="tx1"/>
                </a:solidFill>
                <a:sym typeface="+mn-ea"/>
              </a:rPr>
              <a:t>, </a:t>
            </a:r>
            <a:r>
              <a:rPr lang="en-US" b="1" dirty="0" err="1">
                <a:solidFill>
                  <a:schemeClr val="tx1"/>
                </a:solidFill>
                <a:sym typeface="+mn-ea"/>
              </a:rPr>
              <a:t>onmouseout</a:t>
            </a:r>
            <a:endParaRPr lang="en-US" b="1" dirty="0" err="1">
              <a:solidFill>
                <a:schemeClr val="tx1"/>
              </a:solidFill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chemeClr val="tx1"/>
                </a:solidFill>
                <a:sym typeface="+mn-ea"/>
              </a:rPr>
              <a:t>onclick</a:t>
            </a:r>
            <a:endParaRPr lang="en-US" b="1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i="1" dirty="0" err="1">
                <a:solidFill>
                  <a:schemeClr val="tx1"/>
                </a:solidFill>
                <a:sym typeface="+mn-ea"/>
              </a:rPr>
              <a:t>element</a:t>
            </a:r>
            <a:r>
              <a:rPr lang="en-US" dirty="0" err="1">
                <a:solidFill>
                  <a:schemeClr val="tx1"/>
                </a:solidFill>
                <a:sym typeface="+mn-ea"/>
              </a:rPr>
              <a:t>.</a:t>
            </a:r>
            <a:r>
              <a:rPr lang="en-US" b="1" dirty="0" err="1" smtClean="0">
                <a:solidFill>
                  <a:schemeClr val="tx1"/>
                </a:solidFill>
                <a:sym typeface="+mn-ea"/>
              </a:rPr>
              <a:t>addEventListener</a:t>
            </a:r>
            <a:r>
              <a:rPr lang="en-US" dirty="0" smtClean="0">
                <a:solidFill>
                  <a:schemeClr val="tx1"/>
                </a:solidFill>
                <a:sym typeface="+mn-ea"/>
              </a:rPr>
              <a:t>(“</a:t>
            </a:r>
            <a:r>
              <a:rPr lang="en-US" b="1" dirty="0" smtClean="0">
                <a:solidFill>
                  <a:schemeClr val="tx1"/>
                </a:solidFill>
                <a:sym typeface="+mn-ea"/>
              </a:rPr>
              <a:t>click</a:t>
            </a:r>
            <a:r>
              <a:rPr lang="en-US" dirty="0" smtClean="0">
                <a:solidFill>
                  <a:schemeClr val="tx1"/>
                </a:solidFill>
                <a:sym typeface="+mn-ea"/>
              </a:rPr>
              <a:t>”, </a:t>
            </a:r>
            <a:r>
              <a:rPr lang="en-US" dirty="0" err="1">
                <a:solidFill>
                  <a:schemeClr val="tx1"/>
                </a:solidFill>
                <a:sym typeface="+mn-ea"/>
              </a:rPr>
              <a:t>myFunction</a:t>
            </a:r>
            <a:r>
              <a:rPr lang="en-US" dirty="0">
                <a:solidFill>
                  <a:schemeClr val="tx1"/>
                </a:solidFill>
                <a:sym typeface="+mn-ea"/>
              </a:rPr>
              <a:t>);</a:t>
            </a:r>
            <a:endParaRPr lang="en-US" sz="1600" b="1" dirty="0" smtClean="0">
              <a:solidFill>
                <a:schemeClr val="tx1"/>
              </a:solidFill>
              <a:sym typeface="+mn-ea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898525" y="497840"/>
            <a:ext cx="3062605" cy="1633220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ru-RU" sz="3600" b="1" dirty="0" smtClean="0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  <a:sym typeface="+mn-ea"/>
              </a:rPr>
              <a:t>Основные события</a:t>
            </a:r>
            <a:endParaRPr lang="ru-RU" sz="3600" b="1" dirty="0" smtClean="0">
              <a:solidFill>
                <a:schemeClr val="tx1"/>
              </a:solidFill>
              <a:latin typeface="Calibri" panose="020F0502020204030204" charset="0"/>
              <a:ea typeface="Calibri" panose="020F0502020204030204" charset="0"/>
              <a:cs typeface="Calibri" panose="020F0502020204030204" charset="0"/>
              <a:sym typeface="+mn-e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0C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5923915" y="1978025"/>
            <a:ext cx="5456555" cy="4495800"/>
          </a:xfrm>
          <a:prstGeom prst="roundRect">
            <a:avLst>
              <a:gd name="adj" fmla="val 805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sym typeface="+mn-ea"/>
              </a:rPr>
              <a:t>w</a:t>
            </a:r>
            <a:r>
              <a:rPr lang="en-US" b="1" dirty="0" smtClean="0">
                <a:solidFill>
                  <a:schemeClr val="tx1"/>
                </a:solidFill>
                <a:sym typeface="+mn-ea"/>
              </a:rPr>
              <a:t>indow </a:t>
            </a:r>
            <a:r>
              <a:rPr lang="en-US" dirty="0" smtClean="0">
                <a:solidFill>
                  <a:schemeClr val="tx1"/>
                </a:solidFill>
                <a:sym typeface="+mn-ea"/>
              </a:rPr>
              <a:t>– </a:t>
            </a:r>
            <a:r>
              <a:rPr lang="ru-RU" dirty="0" smtClean="0">
                <a:solidFill>
                  <a:schemeClr val="tx1"/>
                </a:solidFill>
                <a:sym typeface="+mn-ea"/>
              </a:rPr>
              <a:t>объект окна браузера</a:t>
            </a:r>
            <a:endParaRPr lang="ru-RU" dirty="0" smtClean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schemeClr val="tx1"/>
                </a:solidFill>
                <a:sym typeface="+mn-ea"/>
              </a:rPr>
              <a:t>document</a:t>
            </a:r>
            <a:r>
              <a:rPr lang="ru-RU" b="1" dirty="0" smtClean="0">
                <a:solidFill>
                  <a:schemeClr val="tx1"/>
                </a:solidFill>
                <a:sym typeface="+mn-ea"/>
              </a:rPr>
              <a:t> </a:t>
            </a:r>
            <a:r>
              <a:rPr lang="ru-RU" dirty="0" smtClean="0">
                <a:solidFill>
                  <a:schemeClr val="tx1"/>
                </a:solidFill>
                <a:sym typeface="+mn-ea"/>
              </a:rPr>
              <a:t>– корень </a:t>
            </a:r>
            <a:r>
              <a:rPr lang="en-US" dirty="0" smtClean="0">
                <a:solidFill>
                  <a:schemeClr val="tx1"/>
                </a:solidFill>
                <a:sym typeface="+mn-ea"/>
              </a:rPr>
              <a:t>DOM</a:t>
            </a:r>
            <a:endParaRPr lang="ru-RU" dirty="0" smtClean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sym typeface="+mn-ea"/>
              </a:rPr>
              <a:t>l</a:t>
            </a:r>
            <a:r>
              <a:rPr lang="en-US" b="1" dirty="0" smtClean="0">
                <a:solidFill>
                  <a:schemeClr val="tx1"/>
                </a:solidFill>
                <a:sym typeface="+mn-ea"/>
              </a:rPr>
              <a:t>ocation</a:t>
            </a:r>
            <a:r>
              <a:rPr lang="ru-RU" b="1" dirty="0" smtClean="0">
                <a:solidFill>
                  <a:schemeClr val="tx1"/>
                </a:solidFill>
                <a:sym typeface="+mn-ea"/>
              </a:rPr>
              <a:t> </a:t>
            </a:r>
            <a:r>
              <a:rPr lang="ru-RU" dirty="0" smtClean="0">
                <a:solidFill>
                  <a:schemeClr val="tx1"/>
                </a:solidFill>
                <a:sym typeface="+mn-ea"/>
              </a:rPr>
              <a:t>– адресная строка</a:t>
            </a:r>
            <a:endParaRPr lang="ru-RU" dirty="0" smtClean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schemeClr val="tx1"/>
                </a:solidFill>
                <a:sym typeface="+mn-ea"/>
              </a:rPr>
              <a:t>history </a:t>
            </a:r>
            <a:r>
              <a:rPr lang="en-US" dirty="0" smtClean="0">
                <a:solidFill>
                  <a:schemeClr val="tx1"/>
                </a:solidFill>
                <a:sym typeface="+mn-ea"/>
              </a:rPr>
              <a:t>– </a:t>
            </a:r>
            <a:r>
              <a:rPr lang="ru-RU" dirty="0" smtClean="0">
                <a:solidFill>
                  <a:schemeClr val="tx1"/>
                </a:solidFill>
                <a:sym typeface="+mn-ea"/>
              </a:rPr>
              <a:t>история браузера</a:t>
            </a:r>
            <a:endParaRPr lang="en-US" dirty="0" smtClean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sym typeface="+mn-ea"/>
              </a:rPr>
              <a:t>c</a:t>
            </a:r>
            <a:r>
              <a:rPr lang="en-US" b="1" dirty="0" smtClean="0">
                <a:solidFill>
                  <a:schemeClr val="tx1"/>
                </a:solidFill>
                <a:sym typeface="+mn-ea"/>
              </a:rPr>
              <a:t>onsole</a:t>
            </a:r>
            <a:r>
              <a:rPr lang="ru-RU" b="1" dirty="0" smtClean="0">
                <a:solidFill>
                  <a:schemeClr val="tx1"/>
                </a:solidFill>
                <a:sym typeface="+mn-ea"/>
              </a:rPr>
              <a:t> </a:t>
            </a:r>
            <a:r>
              <a:rPr lang="ru-RU" dirty="0" smtClean="0">
                <a:solidFill>
                  <a:schemeClr val="tx1"/>
                </a:solidFill>
                <a:sym typeface="+mn-ea"/>
              </a:rPr>
              <a:t>– </a:t>
            </a:r>
            <a:r>
              <a:rPr lang="ru-RU" dirty="0" err="1" smtClean="0">
                <a:solidFill>
                  <a:schemeClr val="tx1"/>
                </a:solidFill>
                <a:sym typeface="+mn-ea"/>
              </a:rPr>
              <a:t>консолька</a:t>
            </a:r>
            <a:r>
              <a:rPr lang="ru-RU" dirty="0" smtClean="0">
                <a:solidFill>
                  <a:schemeClr val="tx1"/>
                </a:solidFill>
                <a:sym typeface="+mn-ea"/>
              </a:rPr>
              <a:t> браузера для отладки</a:t>
            </a:r>
            <a:endParaRPr lang="ru-RU" dirty="0" smtClean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sym typeface="+mn-ea"/>
              </a:rPr>
              <a:t>s</a:t>
            </a:r>
            <a:r>
              <a:rPr lang="en-US" b="1" dirty="0" smtClean="0">
                <a:solidFill>
                  <a:schemeClr val="tx1"/>
                </a:solidFill>
                <a:sym typeface="+mn-ea"/>
              </a:rPr>
              <a:t>creen</a:t>
            </a:r>
            <a:r>
              <a:rPr lang="ru-RU" b="1" dirty="0" smtClean="0">
                <a:solidFill>
                  <a:schemeClr val="tx1"/>
                </a:solidFill>
                <a:sym typeface="+mn-ea"/>
              </a:rPr>
              <a:t> </a:t>
            </a:r>
            <a:r>
              <a:rPr lang="ru-RU" dirty="0" smtClean="0">
                <a:solidFill>
                  <a:schemeClr val="tx1"/>
                </a:solidFill>
                <a:sym typeface="+mn-ea"/>
              </a:rPr>
              <a:t>– экран</a:t>
            </a:r>
            <a:endParaRPr lang="ru-RU" dirty="0" smtClean="0">
              <a:solidFill>
                <a:schemeClr val="tx1"/>
              </a:solidFill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1600" b="1" dirty="0" smtClean="0">
              <a:solidFill>
                <a:schemeClr val="tx1"/>
              </a:solidFill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1600" b="1" dirty="0" smtClean="0">
              <a:solidFill>
                <a:schemeClr val="tx1"/>
              </a:solidFill>
              <a:sym typeface="+mn-ea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ru-RU" sz="1600" b="1" dirty="0" smtClean="0">
                <a:solidFill>
                  <a:schemeClr val="tx1"/>
                </a:solidFill>
                <a:sym typeface="+mn-ea"/>
              </a:rPr>
              <a:t>И это ещё не все!</a:t>
            </a:r>
            <a:endParaRPr lang="ru-RU" sz="1600" b="1" dirty="0" smtClean="0">
              <a:solidFill>
                <a:schemeClr val="tx1"/>
              </a:solidFill>
              <a:sym typeface="+mn-ea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898525" y="497840"/>
            <a:ext cx="3062605" cy="1633220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ru-RU" altLang="ru-RU" sz="3600" b="1" dirty="0" smtClean="0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  <a:sym typeface="+mn-ea"/>
              </a:rPr>
              <a:t>Глобальные объекты</a:t>
            </a:r>
            <a:endParaRPr lang="ru-RU" altLang="ru-RU" sz="3600" b="1" dirty="0" smtClean="0">
              <a:solidFill>
                <a:schemeClr val="tx1"/>
              </a:solidFill>
              <a:latin typeface="Calibri" panose="020F0502020204030204" charset="0"/>
              <a:ea typeface="Calibri" panose="020F0502020204030204" charset="0"/>
              <a:cs typeface="Calibri" panose="020F0502020204030204" charset="0"/>
              <a:sym typeface="+mn-e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Изображение 10"/>
          <p:cNvPicPr/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325495" y="2335530"/>
            <a:ext cx="5541010" cy="3111500"/>
          </a:xfrm>
          <a:prstGeom prst="rect">
            <a:avLst/>
          </a:prstGeom>
        </p:spPr>
      </p:pic>
      <p:sp>
        <p:nvSpPr>
          <p:cNvPr id="2" name="Title 20"/>
          <p:cNvSpPr txBox="1"/>
          <p:nvPr/>
        </p:nvSpPr>
        <p:spPr>
          <a:xfrm>
            <a:off x="3220720" y="335598"/>
            <a:ext cx="5750560" cy="430530"/>
          </a:xfrm>
          <a:prstGeom prst="rect">
            <a:avLst/>
          </a:prstGeom>
        </p:spPr>
        <p:txBody>
          <a:bodyPr vert="horz" wrap="square" lIns="45720" tIns="0" rIns="45720" bIns="0" rtlCol="0" anchor="ctr">
            <a:sp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2900" kern="1200">
                <a:solidFill>
                  <a:schemeClr val="accent6"/>
                </a:solidFill>
                <a:latin typeface="Source Sans Pro ExtraLight"/>
                <a:ea typeface="+mj-ea"/>
                <a:cs typeface="Source Sans Pro ExtraLight"/>
              </a:defRPr>
            </a:lvl1pPr>
          </a:lstStyle>
          <a:p>
            <a:pPr algn="dist" defTabSz="228600"/>
            <a:r>
              <a:rPr lang="ru-RU" altLang="zh-CN" sz="2800" b="1" dirty="0" smtClean="0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Дополнительная литература</a:t>
            </a:r>
            <a:endParaRPr lang="ru-RU" altLang="zh-CN" sz="2800" b="1" dirty="0" smtClean="0">
              <a:solidFill>
                <a:schemeClr val="tx1"/>
              </a:solidFill>
              <a:latin typeface="Calibri" panose="020F0502020204030204" charset="0"/>
              <a:ea typeface="Calibri" panose="020F0502020204030204" charset="0"/>
              <a:cs typeface="Calibri" panose="020F0502020204030204" charset="0"/>
            </a:endParaRPr>
          </a:p>
        </p:txBody>
      </p:sp>
      <p:grpSp>
        <p:nvGrpSpPr>
          <p:cNvPr id="6" name="组合 5"/>
          <p:cNvGrpSpPr/>
          <p:nvPr>
            <p:custDataLst>
              <p:tags r:id="rId3"/>
            </p:custDataLst>
          </p:nvPr>
        </p:nvGrpSpPr>
        <p:grpSpPr>
          <a:xfrm>
            <a:off x="272956" y="1759926"/>
            <a:ext cx="11645454" cy="4477101"/>
            <a:chOff x="382137" y="1759926"/>
            <a:chExt cx="11645454" cy="4477101"/>
          </a:xfrm>
        </p:grpSpPr>
        <p:sp>
          <p:nvSpPr>
            <p:cNvPr id="4" name="矩形 3"/>
            <p:cNvSpPr/>
            <p:nvPr>
              <p:custDataLst>
                <p:tags r:id="rId4"/>
              </p:custDataLst>
            </p:nvPr>
          </p:nvSpPr>
          <p:spPr>
            <a:xfrm>
              <a:off x="382137" y="1760561"/>
              <a:ext cx="3346854" cy="4476466"/>
            </a:xfrm>
            <a:prstGeom prst="rect">
              <a:avLst/>
            </a:prstGeom>
            <a:solidFill>
              <a:srgbClr val="B0CFF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ea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5" name="矩形 4"/>
            <p:cNvSpPr/>
            <p:nvPr>
              <p:custDataLst>
                <p:tags r:id="rId5"/>
              </p:custDataLst>
            </p:nvPr>
          </p:nvSpPr>
          <p:spPr>
            <a:xfrm>
              <a:off x="8680737" y="1759926"/>
              <a:ext cx="3346854" cy="4476466"/>
            </a:xfrm>
            <a:prstGeom prst="rect">
              <a:avLst/>
            </a:prstGeom>
            <a:solidFill>
              <a:srgbClr val="F3D34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ea typeface="Calibri" panose="020F0502020204030204" charset="0"/>
                <a:cs typeface="Calibri" panose="020F0502020204030204" charset="0"/>
              </a:endParaRPr>
            </a:p>
          </p:txBody>
        </p:sp>
      </p:grpSp>
      <p:sp>
        <p:nvSpPr>
          <p:cNvPr id="7" name="TextBox 15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273050" y="3740150"/>
            <a:ext cx="3347720" cy="4140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Microsoft YaHei" panose="020B050302020402020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Microsoft YaHei" panose="020B050302020402020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Microsoft YaHei" panose="020B050302020402020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Microsoft YaHei" panose="020B050302020402020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Microsoft YaHei" panose="020B050302020402020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Microsoft YaHei" panose="020B050302020402020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Microsoft YaHei" panose="020B050302020402020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Microsoft YaHei" panose="020B050302020402020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Microsoft YaHei" panose="020B0503020204020204" charset="-122"/>
              </a:defRPr>
            </a:lvl9pPr>
          </a:lstStyle>
          <a:p>
            <a:pPr marL="342900" indent="-342900" algn="ctr" eaLnBrk="1" hangingPunct="1">
              <a:lnSpc>
                <a:spcPct val="150000"/>
              </a:lnSpc>
              <a:buAutoNum type="arabicPeriod"/>
            </a:pPr>
            <a:r>
              <a:rPr lang="en-US" altLang="ru-RU" sz="1400" dirty="0">
                <a:ea typeface="Calibri" panose="020F0502020204030204" charset="0"/>
                <a:cs typeface="Calibri" panose="020F0502020204030204" charset="0"/>
                <a:hlinkClick r:id="rId7" tooltip="" action="ppaction://hlinkfile"/>
              </a:rPr>
              <a:t>What is Frontend Development?</a:t>
            </a:r>
            <a:endParaRPr lang="en-US" altLang="ru-RU" sz="1400" dirty="0">
              <a:ea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4662" y="2335780"/>
            <a:ext cx="892464" cy="892464"/>
          </a:xfrm>
          <a:prstGeom prst="rect">
            <a:avLst/>
          </a:prstGeom>
        </p:spPr>
      </p:pic>
      <p:sp>
        <p:nvSpPr>
          <p:cNvPr id="9" name="TextBox 15"/>
          <p:cNvSpPr txBox="1"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8571865" y="3740150"/>
            <a:ext cx="3346450" cy="4140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Microsoft YaHei" panose="020B050302020402020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Microsoft YaHei" panose="020B050302020402020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Microsoft YaHei" panose="020B050302020402020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Microsoft YaHei" panose="020B050302020402020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Microsoft YaHei" panose="020B050302020402020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Microsoft YaHei" panose="020B050302020402020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Microsoft YaHei" panose="020B050302020402020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Microsoft YaHei" panose="020B050302020402020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Microsoft YaHei" panose="020B0503020204020204" charset="-122"/>
              </a:defRPr>
            </a:lvl9pPr>
          </a:lstStyle>
          <a:p>
            <a:pPr marL="342900" indent="-342900" algn="ctr" eaLnBrk="1" hangingPunct="1">
              <a:lnSpc>
                <a:spcPct val="150000"/>
              </a:lnSpc>
              <a:buAutoNum type="arabicPeriod"/>
            </a:pPr>
            <a:r>
              <a:rPr lang="en-US" altLang="ru-RU" sz="1400" dirty="0" smtClean="0">
                <a:ea typeface="Calibri" panose="020F0502020204030204" charset="0"/>
                <a:cs typeface="Calibri" panose="020F0502020204030204" charset="0"/>
                <a:hlinkClick r:id="rId11" tooltip="" action="ppaction://hlinkfile"/>
              </a:rPr>
              <a:t>JavaScript Roadmap</a:t>
            </a:r>
            <a:endParaRPr lang="en-US" altLang="ru-RU" sz="1400" dirty="0" smtClean="0">
              <a:ea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10" name="图片 9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4875" y="2335577"/>
            <a:ext cx="892464" cy="892464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52.4776377952756,&quot;left&quot;:21.492598425196853,&quot;top&quot;:138.62685039370078,&quot;width&quot;:917.0148818897638}"/>
</p:tagLst>
</file>

<file path=ppt/tags/tag2.xml><?xml version="1.0" encoding="utf-8"?>
<p:tagLst xmlns:p="http://schemas.openxmlformats.org/presentationml/2006/main">
  <p:tag name="KSO_WM_DIAGRAM_VIRTUALLY_FRAME" val="{&quot;height&quot;:352.4776377952756,&quot;left&quot;:21.492598425196853,&quot;top&quot;:138.62685039370078,&quot;width&quot;:917.0148818897638}"/>
</p:tagLst>
</file>

<file path=ppt/tags/tag3.xml><?xml version="1.0" encoding="utf-8"?>
<p:tagLst xmlns:p="http://schemas.openxmlformats.org/presentationml/2006/main">
  <p:tag name="KSO_WM_DIAGRAM_VIRTUALLY_FRAME" val="{&quot;height&quot;:352.4776377952756,&quot;left&quot;:21.492598425196853,&quot;top&quot;:138.62685039370078,&quot;width&quot;:917.0148818897638}"/>
</p:tagLst>
</file>

<file path=ppt/tags/tag4.xml><?xml version="1.0" encoding="utf-8"?>
<p:tagLst xmlns:p="http://schemas.openxmlformats.org/presentationml/2006/main">
  <p:tag name="KSO_WM_DIAGRAM_VIRTUALLY_FRAME" val="{&quot;height&quot;:352.4776377952756,&quot;left&quot;:21.492598425196853,&quot;top&quot;:138.62685039370078,&quot;width&quot;:917.0148818897638}"/>
</p:tagLst>
</file>

<file path=ppt/tags/tag5.xml><?xml version="1.0" encoding="utf-8"?>
<p:tagLst xmlns:p="http://schemas.openxmlformats.org/presentationml/2006/main">
  <p:tag name="KSO_WM_DIAGRAM_VIRTUALLY_FRAME" val="{&quot;height&quot;:352.4776377952756,&quot;left&quot;:21.492598425196853,&quot;top&quot;:138.62685039370078,&quot;width&quot;:917.0148818897638}"/>
</p:tagLst>
</file>

<file path=ppt/tags/tag6.xml><?xml version="1.0" encoding="utf-8"?>
<p:tagLst xmlns:p="http://schemas.openxmlformats.org/presentationml/2006/main">
  <p:tag name="KSO_WM_DIAGRAM_VIRTUALLY_FRAME" val="{&quot;height&quot;:352.4776377952756,&quot;left&quot;:21.492598425196853,&quot;top&quot;:138.62685039370078,&quot;width&quot;:917.0148818897638}"/>
</p:tagLst>
</file>

<file path=ppt/tags/tag7.xml><?xml version="1.0" encoding="utf-8"?>
<p:tagLst xmlns:p="http://schemas.openxmlformats.org/presentationml/2006/main">
  <p:tag name="KSO_WM_DIAGRAM_VIRTUALLY_FRAME" val="{&quot;height&quot;:352.4776377952756,&quot;left&quot;:21.492598425196853,&quot;top&quot;:138.62685039370078,&quot;width&quot;:917.0148818897638}"/>
</p:tagLst>
</file>

<file path=ppt/tags/tag8.xml><?xml version="1.0" encoding="utf-8"?>
<p:tagLst xmlns:p="http://schemas.openxmlformats.org/presentationml/2006/main">
  <p:tag name="KSO_WM_DIAGRAM_VIRTUALLY_FRAME" val="{&quot;height&quot;:352.4776377952756,&quot;left&quot;:21.492598425196853,&quot;top&quot;:138.62685039370078,&quot;width&quot;:917.0148818897638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4284</Words>
  <Application>WPS Presentation</Application>
  <PresentationFormat>宽屏</PresentationFormat>
  <Paragraphs>308</Paragraphs>
  <Slides>25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5" baseType="lpstr">
      <vt:lpstr>Arial</vt:lpstr>
      <vt:lpstr>SimSun</vt:lpstr>
      <vt:lpstr>Wingdings</vt:lpstr>
      <vt:lpstr>Calibri Light</vt:lpstr>
      <vt:lpstr>Calibri</vt:lpstr>
      <vt:lpstr>Source Sans Pro ExtraLight</vt:lpstr>
      <vt:lpstr>Wingdings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AvtoBBus</cp:lastModifiedBy>
  <cp:revision>88</cp:revision>
  <dcterms:created xsi:type="dcterms:W3CDTF">2025-07-23T00:59:00Z</dcterms:created>
  <dcterms:modified xsi:type="dcterms:W3CDTF">2025-11-17T08:41:50Z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1049-12.2.0.23155</vt:lpwstr>
  </property>
  <property fmtid="{D5CDD505-2E9C-101B-9397-08002B2CF9AE}" pid="3" name="ICV">
    <vt:lpwstr>4F1AE8E347154247878AA3D633F7AFCB_13</vt:lpwstr>
  </property>
</Properties>
</file>