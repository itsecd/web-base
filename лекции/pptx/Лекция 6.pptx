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9"/>
  </p:handoutMasterIdLst>
  <p:sldIdLst>
    <p:sldId id="256" r:id="rId3"/>
    <p:sldId id="259" r:id="rId4"/>
    <p:sldId id="260" r:id="rId5"/>
    <p:sldId id="310" r:id="rId6"/>
    <p:sldId id="330" r:id="rId8"/>
    <p:sldId id="331" r:id="rId9"/>
    <p:sldId id="332" r:id="rId10"/>
    <p:sldId id="335" r:id="rId11"/>
    <p:sldId id="345" r:id="rId12"/>
    <p:sldId id="344" r:id="rId13"/>
    <p:sldId id="352" r:id="rId14"/>
    <p:sldId id="354" r:id="rId15"/>
    <p:sldId id="355" r:id="rId16"/>
    <p:sldId id="356" r:id="rId17"/>
    <p:sldId id="351" r:id="rId18"/>
    <p:sldId id="336" r:id="rId19"/>
    <p:sldId id="337" r:id="rId20"/>
    <p:sldId id="339" r:id="rId21"/>
    <p:sldId id="341" r:id="rId22"/>
    <p:sldId id="342" r:id="rId23"/>
    <p:sldId id="343" r:id="rId24"/>
    <p:sldId id="347" r:id="rId25"/>
    <p:sldId id="349" r:id="rId26"/>
    <p:sldId id="350" r:id="rId27"/>
    <p:sldId id="287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347"/>
    <a:srgbClr val="FFB1A3"/>
    <a:srgbClr val="B0CFF8"/>
    <a:srgbClr val="F3D34B"/>
    <a:srgbClr val="EE82EE"/>
    <a:srgbClr val="F19352"/>
    <a:srgbClr val="E3F2FD"/>
    <a:srgbClr val="6BA7F2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hyperlink" Target="https://jsonplaceholder.typicode.com/post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6.xml"/><Relationship Id="rId7" Type="http://schemas.openxmlformats.org/officeDocument/2006/relationships/hyperlink" Target="https://roadmap.sh/frontend" TargetMode="Externa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2.jpeg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.xml"/><Relationship Id="rId11" Type="http://schemas.openxmlformats.org/officeDocument/2006/relationships/hyperlink" Target="https://roadmap.sh/javascript" TargetMode="Externa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8103310" y="629653"/>
            <a:ext cx="3779528" cy="37795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797" y="426332"/>
            <a:ext cx="6432096" cy="6432096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536889" y="1140979"/>
            <a:ext cx="809219" cy="809219"/>
          </a:xfrm>
          <a:prstGeom prst="ellipse">
            <a:avLst/>
          </a:prstGeom>
          <a:solidFill>
            <a:srgbClr val="F3D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black">
          <a:xfrm>
            <a:off x="573405" y="2296795"/>
            <a:ext cx="5485765" cy="16941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6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Продвинутый</a:t>
            </a:r>
            <a:endParaRPr lang="ru-RU" sz="6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JavaScript</a:t>
            </a:r>
            <a:endParaRPr lang="en-US" sz="6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555" y="3990975"/>
            <a:ext cx="124206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ru-RU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Лекция </a:t>
            </a:r>
            <a:r>
              <a:rPr lang="en-US" alt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6</a:t>
            </a:r>
            <a:endParaRPr lang="en-US" alt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7390"/>
            <a:ext cx="545655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2" indent="0">
              <a:buNone/>
            </a:pPr>
            <a:endParaRPr lang="ru-RU" altLang="en-US" sz="2400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ru-RU" altLang="en-US" sz="2400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ru-RU" altLang="en-US" sz="2400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Переменные и типы данных</a:t>
            </a:r>
            <a:endParaRPr lang="en-US" sz="2400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en-US" b="1" dirty="0">
              <a:solidFill>
                <a:schemeClr val="tx1"/>
              </a:solidFill>
              <a:sym typeface="+mn-ea"/>
            </a:endParaRPr>
          </a:p>
          <a:p>
            <a:pPr marL="342900" lvl="2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let</a:t>
            </a:r>
            <a:endParaRPr lang="ru-RU" b="1" dirty="0" smtClean="0">
              <a:solidFill>
                <a:schemeClr val="tx1"/>
              </a:solidFill>
              <a:sym typeface="+mn-ea"/>
            </a:endParaRPr>
          </a:p>
          <a:p>
            <a:pPr marL="342900" lvl="2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var</a:t>
            </a:r>
            <a:endParaRPr lang="ru-RU" b="1" dirty="0" smtClean="0">
              <a:solidFill>
                <a:schemeClr val="tx1"/>
              </a:solidFill>
              <a:sym typeface="+mn-ea"/>
            </a:endParaRPr>
          </a:p>
          <a:p>
            <a:pPr marL="342900" lvl="2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const</a:t>
            </a:r>
            <a:endParaRPr lang="ru-RU" b="1" dirty="0" smtClean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Целые числа</a:t>
            </a:r>
            <a:r>
              <a:rPr lang="en-US" altLang="ru-RU" b="1" dirty="0" smtClean="0">
                <a:solidFill>
                  <a:schemeClr val="tx1"/>
                </a:solidFill>
                <a:sym typeface="+mn-ea"/>
              </a:rPr>
              <a:t> | </a:t>
            </a:r>
            <a:r>
              <a:rPr lang="ru-RU" b="1" dirty="0" smtClean="0">
                <a:solidFill>
                  <a:schemeClr val="tx1"/>
                </a:solidFill>
                <a:sym typeface="+mn-ea"/>
              </a:rPr>
              <a:t>Дробные числа</a:t>
            </a:r>
            <a:endParaRPr lang="ru-RU" b="1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Логические</a:t>
            </a:r>
            <a:endParaRPr lang="ru-RU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Строки</a:t>
            </a:r>
            <a:endParaRPr lang="ru-RU" b="1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Массивы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Объекты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Функции</a:t>
            </a:r>
            <a:endParaRPr lang="en-US" b="1" dirty="0" smtClean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Освежим в памяти</a:t>
            </a:r>
            <a:endParaRPr lang="ru-RU" sz="36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lvl="0" algn="ctr">
              <a:buClrTx/>
              <a:buSzTx/>
              <a:buFontTx/>
            </a:pP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Функции </a:t>
            </a:r>
            <a:endParaRPr lang="ru-RU" altLang="en-US" sz="2400" b="1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tx1"/>
                </a:solidFill>
                <a:sym typeface="+mn-ea"/>
              </a:rPr>
              <a:t>Function declaration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function 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dirty="0">
                <a:solidFill>
                  <a:schemeClr val="tx1"/>
                </a:solidFill>
                <a:sym typeface="+mn-ea"/>
              </a:rPr>
              <a:t>(p1, p2) {</a:t>
            </a:r>
            <a:br>
              <a:rPr lang="en-US" dirty="0">
                <a:solidFill>
                  <a:schemeClr val="tx1"/>
                </a:solidFill>
                <a:sym typeface="+mn-ea"/>
              </a:rPr>
            </a:br>
            <a:r>
              <a:rPr lang="en-US" dirty="0">
                <a:solidFill>
                  <a:schemeClr val="tx1"/>
                </a:solidFill>
                <a:sym typeface="+mn-ea"/>
              </a:rPr>
              <a:t>  return p1 * p2;</a:t>
            </a:r>
            <a:br>
              <a:rPr lang="en-US" dirty="0">
                <a:solidFill>
                  <a:schemeClr val="tx1"/>
                </a:solidFill>
                <a:sym typeface="+mn-ea"/>
              </a:rPr>
            </a:br>
            <a:r>
              <a:rPr lang="en-US" dirty="0" smtClean="0">
                <a:solidFill>
                  <a:schemeClr val="tx1"/>
                </a:solidFill>
                <a:sym typeface="+mn-ea"/>
              </a:rPr>
              <a:t>}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 err="1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 err="1" smtClean="0">
                <a:solidFill>
                  <a:schemeClr val="tx1"/>
                </a:solidFill>
                <a:sym typeface="+mn-ea"/>
              </a:rPr>
              <a:t>Function expression</a:t>
            </a:r>
            <a:endParaRPr lang="en-US" dirty="0" err="1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= </a:t>
            </a:r>
            <a:r>
              <a:rPr lang="en-US" dirty="0">
                <a:solidFill>
                  <a:schemeClr val="tx1"/>
                </a:solidFill>
                <a:sym typeface="+mn-ea"/>
              </a:rPr>
              <a:t>(p1, p2)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=&gt; { return</a:t>
            </a:r>
            <a:r>
              <a:rPr lang="en-US" dirty="0">
                <a:solidFill>
                  <a:schemeClr val="tx1"/>
                </a:solidFill>
                <a:sym typeface="+mn-ea"/>
              </a:rPr>
              <a:t> p1 * p2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; }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let x =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dirty="0">
                <a:solidFill>
                  <a:schemeClr val="tx1"/>
                </a:solidFill>
                <a:sym typeface="+mn-ea"/>
              </a:rPr>
              <a:t>(4, 3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);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altLang="en-US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err="1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err="1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const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x = 3;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var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y = 5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.0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let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z;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y = 2;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z = x + y;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console.log(z); 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// 5</a:t>
            </a:r>
            <a:endParaRPr lang="en-US" sz="2000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  <a:p>
            <a:pPr marL="0" indent="457200">
              <a:buNone/>
            </a:pPr>
            <a:endParaRPr lang="en-US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z = “test” + z;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45720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console.log(z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); 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// “test5” 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Ещё раз про переменные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var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устаревший формат, обладает своими особенностями</a:t>
            </a: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let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современный формат </a:t>
            </a:r>
            <a:r>
              <a:rPr lang="ru-RU" altLang="en-US" dirty="0" smtClean="0">
                <a:solidFill>
                  <a:schemeClr val="bg1">
                    <a:lumMod val="6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(рекомендованный)</a:t>
            </a: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const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константы </a:t>
            </a:r>
            <a:r>
              <a:rPr lang="ru-RU" altLang="en-US" dirty="0" smtClean="0">
                <a:solidFill>
                  <a:schemeClr val="bg1">
                    <a:lumMod val="6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(но необычные)</a:t>
            </a:r>
            <a:endParaRPr lang="ru-RU" altLang="en-US" dirty="0" smtClean="0">
              <a:solidFill>
                <a:schemeClr val="bg1">
                  <a:lumMod val="6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function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test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() {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a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= 20;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var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= 100;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}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test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();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console.log(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a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);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20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console.log(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);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en-US" sz="2000" i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ReferenceError: b is not defined</a:t>
            </a:r>
            <a:endParaRPr lang="en-US" sz="2000" i="1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ru-RU" sz="2000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HOISTING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bg1">
                  <a:lumMod val="6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1026" name="Picture 2" descr="https://miro.medium.com/max/700/1*pUqWuCzYCP79tOm4gGzXIw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10" y="2425700"/>
            <a:ext cx="2828282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var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hoist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console.log(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hoist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);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 // </a:t>
            </a:r>
            <a:r>
              <a:rPr lang="en-US" sz="2000" i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undefined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hoist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=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'The variable has been hoisted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.';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function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hoist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() {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  console.log(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message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);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var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message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='Hoisting is all the rage!'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}</a:t>
            </a:r>
            <a:endParaRPr lang="en-US" sz="20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hoist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();</a:t>
            </a:r>
            <a:endParaRPr lang="en-US" altLang="ru-RU" sz="2000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HOISTING </a:t>
            </a:r>
            <a:r>
              <a:rPr lang="ru-RU" alt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и блоки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bg1">
                  <a:lumMod val="6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1026" name="Picture 2" descr="https://miro.medium.com/max/700/1*pUqWuCzYCP79tOm4gGzXIw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10" y="2425700"/>
            <a:ext cx="2828282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hoisted</a:t>
            </a:r>
            <a:r>
              <a:rPr lang="en-US" dirty="0">
                <a:solidFill>
                  <a:schemeClr val="tx1"/>
                </a:solidFill>
                <a:sym typeface="+mn-ea"/>
              </a:rPr>
              <a:t>();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"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This function has been hoisted."</a:t>
            </a:r>
            <a:endParaRPr lang="en-US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function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hoisted</a:t>
            </a:r>
            <a:r>
              <a:rPr lang="en-US" dirty="0">
                <a:solidFill>
                  <a:schemeClr val="tx1"/>
                </a:solidFill>
                <a:sym typeface="+mn-ea"/>
              </a:rPr>
              <a:t>() {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  console.log('This function has been hoisted.');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};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expression</a:t>
            </a:r>
            <a:r>
              <a:rPr lang="en-US" dirty="0">
                <a:solidFill>
                  <a:schemeClr val="tx1"/>
                </a:solidFill>
                <a:sym typeface="+mn-ea"/>
              </a:rPr>
              <a:t>();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 "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  <a:sym typeface="+mn-ea"/>
              </a:rPr>
              <a:t>TypeError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: expression is not a function</a:t>
            </a:r>
            <a:endParaRPr lang="en-US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sym typeface="+mn-ea"/>
              </a:rPr>
              <a:t>var</a:t>
            </a:r>
            <a:r>
              <a:rPr 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expression </a:t>
            </a:r>
            <a:r>
              <a:rPr lang="en-US" dirty="0">
                <a:solidFill>
                  <a:schemeClr val="tx1"/>
                </a:solidFill>
                <a:sym typeface="+mn-ea"/>
              </a:rPr>
              <a:t>= function() {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  console.log('Will this work?');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};</a:t>
            </a:r>
            <a:endParaRPr lang="en-US" altLang="ru-RU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HOISTING </a:t>
            </a:r>
            <a:r>
              <a:rPr lang="ru-RU" alt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и функции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bg1">
                  <a:lumMod val="6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1026" name="Picture 2" descr="https://miro.medium.com/max/700/1*pUqWuCzYCP79tOm4gGzXIw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10" y="2425700"/>
            <a:ext cx="2828282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'use strict';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let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mistypeVariable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;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mistypeVarible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= 17;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var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undefined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= 5;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var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Infinity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= 5;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const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= 5;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= 3;</a:t>
            </a:r>
            <a:endParaRPr lang="en-US" altLang="ru-RU" b="1" i="1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use strict</a:t>
            </a:r>
            <a:endParaRPr 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Конструкция 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`</a:t>
            </a:r>
            <a:r>
              <a:rPr lang="en-US" alt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use strict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`</a:t>
            </a:r>
            <a:r>
              <a:rPr lang="ru-RU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в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ключает </a:t>
            </a:r>
            <a:r>
              <a:rPr lang="ru-RU" u="sng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проверку кода по современному стандарту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без совместимости со старыми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браузерами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.</a:t>
            </a:r>
            <a:endParaRPr lang="ru-RU" altLang="ru-RU" dirty="0" smtClean="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ru-RU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ru-RU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Модули - всегда в </a:t>
            </a:r>
            <a:r>
              <a:rPr lang="en-US" alt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strict mode</a:t>
            </a:r>
            <a:r>
              <a:rPr lang="ru-RU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.</a:t>
            </a:r>
            <a:endParaRPr lang="ru-RU" altLang="en-US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Объемный код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–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&gt;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хочется разбить на части</a:t>
            </a:r>
            <a:r>
              <a:rPr lang="en-US" alt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;</a:t>
            </a:r>
            <a:endParaRPr lang="ru-RU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Части взаимосвязаны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иногда сложно</a:t>
            </a:r>
            <a:r>
              <a:rPr lang="en-US" alt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;</a:t>
            </a:r>
            <a:endParaRPr lang="ru-RU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Надо навести порядок в зависимостях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учесть асинхронность загрузки, цикличность</a:t>
            </a:r>
            <a:r>
              <a:rPr lang="en-US" alt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;</a:t>
            </a:r>
            <a:endParaRPr lang="ru-RU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Раньше - 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require.js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</a:t>
            </a:r>
            <a:r>
              <a:rPr lang="en-US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CommonJS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теперь в 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ES6</a:t>
            </a:r>
            <a:endParaRPr lang="en-US" altLang="ru-RU" sz="2000" b="1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Что такое модуль?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sayHi.js</a:t>
            </a:r>
            <a:endParaRPr lang="en-US" dirty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export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function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sayHi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(user) {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console.log(`Hello, ${user}!`);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}</a:t>
            </a:r>
            <a:endParaRPr lang="en-US" altLang="ru-RU" b="1" i="1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Модули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main.js</a:t>
            </a:r>
            <a:endParaRPr lang="en-US" dirty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import</a:t>
            </a:r>
            <a:r>
              <a:rPr lang="en-US" dirty="0">
                <a:solidFill>
                  <a:schemeClr val="tx1"/>
                </a:solidFill>
                <a:sym typeface="+mn-ea"/>
              </a:rPr>
              <a:t> {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dirty="0">
                <a:solidFill>
                  <a:schemeClr val="tx1"/>
                </a:solidFill>
                <a:sym typeface="+mn-ea"/>
              </a:rPr>
              <a:t>} from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'./sayHi.js'</a:t>
            </a:r>
            <a:r>
              <a:rPr lang="en-US" dirty="0">
                <a:solidFill>
                  <a:schemeClr val="tx1"/>
                </a:solidFill>
                <a:sym typeface="+mn-ea"/>
              </a:rPr>
              <a:t>;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dirty="0" smtClean="0">
                <a:solidFill>
                  <a:schemeClr val="tx1"/>
                </a:solidFill>
                <a:sym typeface="+mn-ea"/>
              </a:rPr>
              <a:t>console.log(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typeof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dirty="0">
                <a:solidFill>
                  <a:schemeClr val="tx1"/>
                </a:solidFill>
                <a:sym typeface="+mn-ea"/>
              </a:rPr>
              <a:t>);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function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dirty="0">
                <a:solidFill>
                  <a:schemeClr val="tx1"/>
                </a:solidFill>
                <a:sym typeface="+mn-ea"/>
              </a:rPr>
              <a:t>('John');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 // Hello, John!</a:t>
            </a:r>
            <a:endParaRPr lang="en-US" dirty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ru-RU" sz="2000" dirty="0" err="1">
                <a:solidFill>
                  <a:schemeClr val="tx1"/>
                </a:solidFill>
                <a:sym typeface="+mn-ea"/>
              </a:rPr>
              <a:t>Модули также можно встроить и в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HTML</a:t>
            </a:r>
            <a:endParaRPr lang="en-US" sz="2000" dirty="0" err="1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b="1" dirty="0" err="1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0" indent="0">
              <a:buNone/>
            </a:pPr>
            <a:endParaRPr lang="en-US" sz="2000" b="1" dirty="0" err="1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script type="module"&gt;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import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{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} from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'./say.js'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document.body.innerHTML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('John');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&lt;/script&gt;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40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Модули</a:t>
            </a:r>
            <a:endParaRPr lang="ru-RU" altLang="en-US" sz="40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myModule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.js</a:t>
            </a:r>
            <a:endParaRPr lang="en-US" dirty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экспорт массива</a:t>
            </a:r>
            <a:endParaRPr lang="en-US" sz="1400" dirty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export </a:t>
            </a: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let months = [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45720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'Jan', 'Feb', 'Mar',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45720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'Apr', 'Aug', 'Sep',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45720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'Oct', 'Nov', 'Dec'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];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dirty="0" smtClean="0">
                <a:solidFill>
                  <a:schemeClr val="bg1">
                    <a:lumMod val="50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// </a:t>
            </a:r>
            <a:r>
              <a:rPr lang="en-US" altLang="en-US" sz="1400" dirty="0" smtClean="0">
                <a:solidFill>
                  <a:schemeClr val="bg1">
                    <a:lumMod val="50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экспорт</a:t>
            </a:r>
            <a:r>
              <a:rPr lang="en-US" altLang="ru-RU" sz="1400" dirty="0" smtClean="0">
                <a:solidFill>
                  <a:schemeClr val="bg1">
                    <a:lumMod val="50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 </a:t>
            </a:r>
            <a:r>
              <a:rPr lang="en-US" altLang="en-US" sz="1400" dirty="0" smtClean="0">
                <a:solidFill>
                  <a:schemeClr val="bg1">
                    <a:lumMod val="50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константы</a:t>
            </a:r>
            <a:endParaRPr lang="en-US" altLang="en-US" sz="1400" dirty="0" smtClean="0">
              <a:solidFill>
                <a:schemeClr val="bg1">
                  <a:lumMod val="50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export </a:t>
            </a: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const MODULES_BECAME_STANDARD_YEAR = 2015;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экспорт класса</a:t>
            </a:r>
            <a:endParaRPr lang="en-US" sz="1400" dirty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export </a:t>
            </a: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class User {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    constructor(name) {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    this.name = name;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    }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}</a:t>
            </a:r>
            <a:endParaRPr lang="en-US" altLang="ru-RU" sz="1400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Экспорт из модуля / Импорт в модуль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main.js</a:t>
            </a:r>
            <a:endParaRPr lang="en-US" dirty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ru-RU" sz="1400" b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import </a:t>
            </a:r>
            <a:r>
              <a:rPr lang="en-US" altLang="ru-RU" sz="1400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{</a:t>
            </a:r>
            <a:endParaRPr lang="en-US" altLang="ru-RU" sz="1400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457200">
              <a:buNone/>
            </a:pPr>
            <a:r>
              <a:rPr lang="en-US" altLang="ru-RU" sz="1400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months,</a:t>
            </a:r>
            <a:endParaRPr lang="en-US" altLang="ru-RU" sz="1400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457200">
              <a:buNone/>
            </a:pPr>
            <a:r>
              <a:rPr lang="en-US" altLang="ru-RU" sz="1400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MODULES_BECAME_STANDART_YEAR,</a:t>
            </a:r>
            <a:endParaRPr lang="en-US" altLang="ru-RU" sz="1400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457200">
              <a:buNone/>
            </a:pPr>
            <a:r>
              <a:rPr lang="en-US" altLang="ru-RU" sz="1400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User</a:t>
            </a:r>
            <a:endParaRPr lang="en-US" altLang="ru-RU" sz="1400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sz="1400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} </a:t>
            </a:r>
            <a:r>
              <a:rPr lang="en-US" altLang="ru-RU" sz="1400" b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from './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myModule</a:t>
            </a:r>
            <a:r>
              <a:rPr lang="en-US" altLang="ru-RU" sz="1400" b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.js';</a:t>
            </a:r>
            <a:endParaRPr lang="en-US" altLang="ru-RU" sz="14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altLang="en-US" b="1" dirty="0">
                <a:solidFill>
                  <a:schemeClr val="tx1"/>
                </a:solidFill>
                <a:sym typeface="+mn-ea"/>
              </a:rPr>
              <a:t>Именованный экспорт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function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dirty="0">
                <a:solidFill>
                  <a:schemeClr val="tx1"/>
                </a:solidFill>
                <a:sym typeface="+mn-ea"/>
              </a:rPr>
              <a:t>(user) {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  alert(`Hello, ${user}!`);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}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function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sayBye</a:t>
            </a:r>
            <a:r>
              <a:rPr lang="en-US" dirty="0">
                <a:solidFill>
                  <a:schemeClr val="tx1"/>
                </a:solidFill>
                <a:sym typeface="+mn-ea"/>
              </a:rPr>
              <a:t>(user) {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  alert(`Bye, ${user}!`);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}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export </a:t>
            </a:r>
            <a:r>
              <a:rPr lang="en-US" dirty="0">
                <a:solidFill>
                  <a:schemeClr val="tx1"/>
                </a:solidFill>
                <a:sym typeface="+mn-ea"/>
              </a:rPr>
              <a:t>{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as 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hi</a:t>
            </a:r>
            <a:r>
              <a:rPr lang="ru-RU" alt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};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export </a:t>
            </a:r>
            <a:r>
              <a:rPr lang="en-US" dirty="0">
                <a:solidFill>
                  <a:schemeClr val="tx1"/>
                </a:solidFill>
                <a:sym typeface="+mn-ea"/>
              </a:rPr>
              <a:t>{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sayBye</a:t>
            </a:r>
            <a:r>
              <a:rPr lang="ru-RU" altLang="en-US" b="1" dirty="0" err="1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};</a:t>
            </a:r>
            <a:endParaRPr lang="en-US" altLang="ru-RU" sz="1400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Экспорт из модуля / Импорт в модуль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export default</a:t>
            </a:r>
            <a:endParaRPr lang="en-US" b="1" dirty="0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ru-RU" dirty="0" smtClean="0">
                <a:solidFill>
                  <a:schemeClr val="tx1"/>
                </a:solidFill>
                <a:sym typeface="+mn-ea"/>
              </a:rPr>
              <a:t>Только один на модуль</a:t>
            </a:r>
            <a:r>
              <a:rPr lang="en-US" altLang="ru-RU" dirty="0" smtClean="0">
                <a:solidFill>
                  <a:schemeClr val="tx1"/>
                </a:solidFill>
                <a:sym typeface="+mn-ea"/>
              </a:rPr>
              <a:t>!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При этом именованных может быть сколько угодно.</a:t>
            </a:r>
            <a:endParaRPr lang="ru-RU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export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default</a:t>
            </a:r>
            <a:r>
              <a:rPr 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class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ClassName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 { 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constructor</a:t>
            </a:r>
            <a:r>
              <a:rPr lang="en-US" dirty="0">
                <a:solidFill>
                  <a:schemeClr val="tx1"/>
                </a:solidFill>
                <a:sym typeface="+mn-ea"/>
              </a:rPr>
              <a:t>(name) {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    this.name = name;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  }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}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altLang="ru-RU" sz="14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altLang="en-US" b="1" dirty="0">
                <a:solidFill>
                  <a:schemeClr val="tx1"/>
                </a:solidFill>
                <a:sym typeface="+mn-ea"/>
              </a:rPr>
              <a:t>Именованный импорт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import </a:t>
            </a:r>
            <a:r>
              <a:rPr lang="en-US" dirty="0">
                <a:solidFill>
                  <a:schemeClr val="tx1"/>
                </a:solidFill>
                <a:sym typeface="+mn-ea"/>
              </a:rPr>
              <a:t>{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ru-RU" altLang="en-US" dirty="0" err="1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} from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 './say.js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';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chemeClr val="tx1"/>
                </a:solidFill>
                <a:sym typeface="+mn-ea"/>
              </a:rPr>
              <a:t>sayHi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en-US" dirty="0">
                <a:solidFill>
                  <a:schemeClr val="tx1"/>
                </a:solidFill>
                <a:sym typeface="+mn-ea"/>
              </a:rPr>
              <a:t>'John'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);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import </a:t>
            </a:r>
            <a:r>
              <a:rPr lang="en-US" dirty="0">
                <a:solidFill>
                  <a:schemeClr val="tx1"/>
                </a:solidFill>
                <a:sym typeface="+mn-ea"/>
              </a:rPr>
              <a:t>{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dirty="0">
                <a:solidFill>
                  <a:schemeClr val="tx1"/>
                </a:solidFill>
                <a:sym typeface="+mn-ea"/>
              </a:rPr>
              <a:t> as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hi</a:t>
            </a:r>
            <a:r>
              <a:rPr lang="en-US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sayBye</a:t>
            </a:r>
            <a:r>
              <a:rPr lang="en-US" dirty="0">
                <a:solidFill>
                  <a:schemeClr val="tx1"/>
                </a:solidFill>
                <a:sym typeface="+mn-ea"/>
              </a:rPr>
              <a:t> as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bye</a:t>
            </a:r>
            <a:r>
              <a:rPr lang="ru-RU" altLang="en-US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} from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'./say.js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';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hi('John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');</a:t>
            </a:r>
            <a:endParaRPr lang="en-US" altLang="ru-RU" sz="1400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Экспорт из модуля / Импорт в модуль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default</a:t>
            </a:r>
            <a:endParaRPr lang="en-US" b="1" dirty="0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import * as say</a:t>
            </a:r>
            <a:r>
              <a:rPr lang="en-US" dirty="0">
                <a:solidFill>
                  <a:schemeClr val="tx1"/>
                </a:solidFill>
                <a:sym typeface="+mn-ea"/>
              </a:rPr>
              <a:t> from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 './say.js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';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sym typeface="+mn-ea"/>
              </a:rPr>
              <a:t>say.sayHi</a:t>
            </a:r>
            <a:r>
              <a:rPr lang="en-US" dirty="0">
                <a:solidFill>
                  <a:schemeClr val="tx1"/>
                </a:solidFill>
                <a:sym typeface="+mn-ea"/>
              </a:rPr>
              <a:t>('John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');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import Use</a:t>
            </a:r>
            <a:r>
              <a:rPr lang="en-US" dirty="0">
                <a:solidFill>
                  <a:schemeClr val="tx1"/>
                </a:solidFill>
                <a:sym typeface="+mn-ea"/>
              </a:rPr>
              <a:t>r from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 './user.js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';</a:t>
            </a:r>
            <a:endParaRPr lang="ru-RU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sym typeface="+mn-ea"/>
              </a:rPr>
              <a:t>new </a:t>
            </a:r>
            <a:r>
              <a:rPr lang="en-US" dirty="0">
                <a:solidFill>
                  <a:schemeClr val="tx1"/>
                </a:solidFill>
                <a:sym typeface="+mn-ea"/>
              </a:rPr>
              <a:t>User('John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');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altLang="ru-RU" sz="14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Своя </a:t>
            </a:r>
            <a:r>
              <a:rPr lang="ru-RU" sz="2000" dirty="0">
                <a:solidFill>
                  <a:schemeClr val="tx1"/>
                </a:solidFill>
                <a:sym typeface="+mn-ea"/>
              </a:rPr>
              <a:t>область видимости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переменных</a:t>
            </a:r>
            <a:r>
              <a:rPr lang="en-US" altLang="ru-RU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Один скрипт – один модуль</a:t>
            </a:r>
            <a:r>
              <a:rPr lang="en-US" altLang="ru-RU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  <a:sym typeface="+mn-ea"/>
              </a:rPr>
              <a:t>Всегда в 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strict</a:t>
            </a: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mode;</a:t>
            </a:r>
            <a:endParaRPr lang="ru-RU" sz="20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Код </a:t>
            </a:r>
            <a:r>
              <a:rPr lang="ru-RU" sz="2000" dirty="0">
                <a:solidFill>
                  <a:schemeClr val="tx1"/>
                </a:solidFill>
                <a:sym typeface="+mn-ea"/>
              </a:rPr>
              <a:t>в модуле выполняется только один раз при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импорте</a:t>
            </a:r>
            <a:r>
              <a:rPr lang="en-US" altLang="ru-RU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В </a:t>
            </a:r>
            <a:r>
              <a:rPr lang="ru-RU" sz="2000" dirty="0">
                <a:solidFill>
                  <a:schemeClr val="tx1"/>
                </a:solidFill>
                <a:sym typeface="+mn-ea"/>
              </a:rPr>
              <a:t>модуле «</a:t>
            </a:r>
            <a:r>
              <a:rPr lang="ru-RU" sz="2000" b="1" dirty="0" err="1">
                <a:solidFill>
                  <a:schemeClr val="tx1"/>
                </a:solidFill>
                <a:sym typeface="+mn-ea"/>
              </a:rPr>
              <a:t>this</a:t>
            </a:r>
            <a:r>
              <a:rPr lang="ru-RU" sz="2000" dirty="0">
                <a:solidFill>
                  <a:schemeClr val="tx1"/>
                </a:solidFill>
                <a:sym typeface="+mn-ea"/>
              </a:rPr>
              <a:t>» не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определён</a:t>
            </a:r>
            <a:r>
              <a:rPr lang="en-US" altLang="ru-RU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  <a:sym typeface="+mn-ea"/>
              </a:rPr>
              <a:t>Модули, даже если загрузились быстро, ожидают полной загрузки HTML документа, и только затем выполняются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;</a:t>
            </a: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2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Преимущества модульности</a:t>
            </a:r>
            <a:endParaRPr lang="ru-RU" altLang="en-US" sz="32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var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ru-RU" sz="2000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promise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= 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new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ru-RU" sz="2000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Promise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function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resolve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reject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) {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В ней можно делать любые асинхронные операции,</a:t>
            </a:r>
            <a:endParaRPr lang="ru-RU" sz="2000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  // А когда они завершатся — нужно вызвать одно из:</a:t>
            </a:r>
            <a:endParaRPr lang="ru-RU" sz="2000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  //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sym typeface="+mn-ea"/>
              </a:rPr>
              <a:t>resolve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(результат) при успешном выполнении</a:t>
            </a:r>
            <a:endParaRPr lang="ru-RU" sz="2000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  //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sym typeface="+mn-ea"/>
              </a:rPr>
              <a:t>reject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(ошибка) при ошибке</a:t>
            </a:r>
            <a:endParaRPr lang="ru-RU" sz="2000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})</a:t>
            </a:r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promise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.then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onFulfilled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onRejected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)</a:t>
            </a: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Promise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let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promise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= new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Promise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((resolve, reject) =&gt; {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setTimeout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(() =&gt; {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   </a:t>
            </a:r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resolve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("result");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}, 1000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);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});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promise.then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result =&gt; {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    console.log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("Fulfilled: " + result);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result - </a:t>
            </a:r>
            <a:r>
              <a:rPr lang="ru-RU" sz="16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аргумент </a:t>
            </a:r>
            <a:r>
              <a:rPr lang="en-US" altLang="ru-RU" sz="16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            				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resolve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},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error =&gt; {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    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console.log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("Rejected: " + error);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error - аргумент 				reject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}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);</a:t>
            </a:r>
            <a:endParaRPr lang="en-US" altLang="ru-RU" sz="1600" b="1" i="1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Promise</a:t>
            </a:r>
            <a:endParaRPr 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endParaRPr lang="ru-RU" altLang="en-US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0" y="2453640"/>
            <a:ext cx="4130675" cy="195008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5" y="4828540"/>
            <a:ext cx="2562225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async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function 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myFunction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() {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  return "Hello";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</a:b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}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function 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myFunction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() {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  return 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Promise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.resolve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("Hello");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</a:b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}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myFunction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().then(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 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(x) =&gt; {  console.log(x); }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);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altLang="ru-RU" b="1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0" indent="0">
              <a:buNone/>
            </a:pPr>
            <a:r>
              <a:rPr lang="en-US" alt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Calibri" panose="020F0502020204030204" charset="0"/>
                <a:sym typeface="+mn-ea"/>
              </a:rPr>
              <a:t>async/await 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Calibri" panose="020F0502020204030204" charset="0"/>
                <a:sym typeface="+mn-ea"/>
              </a:rPr>
              <a:t>-</a:t>
            </a:r>
            <a:r>
              <a:rPr lang="ru-RU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Calibri" panose="020F0502020204030204" charset="0"/>
                <a:sym typeface="+mn-ea"/>
              </a:rPr>
              <a:t> это лишь 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Calibri" panose="020F0502020204030204" charset="0"/>
                <a:sym typeface="+mn-ea"/>
              </a:rPr>
              <a:t>“</a:t>
            </a:r>
            <a:r>
              <a:rPr lang="ru-RU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Calibri" panose="020F0502020204030204" charset="0"/>
                <a:sym typeface="+mn-ea"/>
              </a:rPr>
              <a:t>синтаксический сахар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Calibri" panose="020F0502020204030204" charset="0"/>
                <a:sym typeface="+mn-ea"/>
              </a:rPr>
              <a:t>”</a:t>
            </a:r>
            <a:endParaRPr lang="en-US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async / await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alt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fetch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("</a:t>
            </a:r>
            <a:r>
              <a:rPr lang="en-US" altLang="ru-RU" i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  <a:hlinkClick r:id="rId1" tooltip="" action="ppaction://hlinkfile"/>
              </a:rPr>
              <a:t>https://jsonplaceholder.typicode.com/posts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")</a:t>
            </a:r>
            <a:endParaRPr lang="en-US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  </a:t>
            </a:r>
            <a:r>
              <a:rPr lang="en-US" alt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.then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((r) =&gt; r.json())</a:t>
            </a:r>
            <a:endParaRPr lang="en-US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  </a:t>
            </a:r>
            <a:r>
              <a:rPr lang="en-US" alt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.then</a:t>
            </a:r>
            <a:r>
              <a:rPr lang="en-US" alt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((data) =&gt; console.log(data));</a:t>
            </a:r>
            <a:endParaRPr lang="en-US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en-US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fetch</a:t>
            </a:r>
            <a:endParaRPr 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endParaRPr lang="ru-RU" altLang="en-US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395" y="2900680"/>
            <a:ext cx="4286250" cy="78105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890" y="4358640"/>
            <a:ext cx="4747895" cy="16071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fetch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url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{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method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: 'POST',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*GET, POST, PUT, DELETE, etc.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mode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: '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cors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',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 // no-cors, *cors, same-origin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cache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: 'no-cache',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*default, no-cache, reload, force-cache, only-if-cached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credentials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: 'same-origin',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 // include, *same-origin, omit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headers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: {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  'Content-Type': 'application/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json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'     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},  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body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: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JSON.stringify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(data)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}).then( (response) =&gt; { ... });</a:t>
            </a:r>
            <a:endParaRPr lang="en-US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40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Что ещё может </a:t>
            </a:r>
            <a:r>
              <a:rPr lang="en-US" altLang="en-US" sz="40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fetch</a:t>
            </a:r>
            <a:endParaRPr lang="en-US" altLang="en-US" sz="40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altLang="ru-RU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// *</a:t>
            </a:r>
            <a:r>
              <a:rPr lang="ru-RU" altLang="ru-RU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много кода до этого и обязательно </a:t>
            </a:r>
            <a:r>
              <a:rPr lang="en-US" altLang="ru-RU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fetch(url)*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</a:t>
            </a: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sym typeface="+mn-ea"/>
              </a:rPr>
              <a:t>.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then</a:t>
            </a:r>
            <a:r>
              <a:rPr lang="en-US" dirty="0">
                <a:solidFill>
                  <a:schemeClr val="tx1"/>
                </a:solidFill>
                <a:sym typeface="+mn-ea"/>
              </a:rPr>
              <a:t>(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response </a:t>
            </a:r>
            <a:r>
              <a:rPr lang="en-US" dirty="0">
                <a:solidFill>
                  <a:schemeClr val="tx1"/>
                </a:solidFill>
                <a:sym typeface="+mn-ea"/>
              </a:rPr>
              <a:t>=&gt; 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response.</a:t>
            </a: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json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() </a:t>
            </a:r>
            <a:r>
              <a:rPr lang="en-US" dirty="0">
                <a:solidFill>
                  <a:schemeClr val="tx1"/>
                </a:solidFill>
                <a:sym typeface="+mn-ea"/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sym typeface="+mn-ea"/>
              </a:rPr>
              <a:t>let </a:t>
            </a: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json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= </a:t>
            </a: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JSON.parse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( text );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l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et 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text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= </a:t>
            </a: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JSON.stringify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( 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json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 );</a:t>
            </a: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Чтобы получить </a:t>
            </a:r>
            <a:r>
              <a:rPr lang="en-US" sz="32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JSON</a:t>
            </a:r>
            <a:endParaRPr lang="en-US" sz="32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fetch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url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.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then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 response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=&gt;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response.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text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() 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.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then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str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=&gt;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{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let parser = new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window.DOMParser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();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return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parser.parseFromString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str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, "text/xml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")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} 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.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then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(data =&gt; console.log(data));</a:t>
            </a:r>
            <a:endParaRPr lang="en-US" altLang="ru-RU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Чтобы получить </a:t>
            </a:r>
            <a:r>
              <a:rPr lang="en-US" sz="32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XML</a:t>
            </a:r>
            <a:endParaRPr lang="en-US" sz="32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sym typeface="+mn-ea"/>
              </a:rPr>
              <a:t>class 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User {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constructor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(name) {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    this.name = name;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  }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() {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    alert(this.name);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  }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}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let user = 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new User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("</a:t>
            </a:r>
            <a:r>
              <a:rPr lang="ru-RU" sz="1600" dirty="0">
                <a:solidFill>
                  <a:schemeClr val="tx1"/>
                </a:solidFill>
                <a:sym typeface="+mn-ea"/>
              </a:rPr>
              <a:t>Иван");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tx1"/>
                </a:solidFill>
                <a:sym typeface="+mn-ea"/>
              </a:rPr>
              <a:t>user.</a:t>
            </a:r>
            <a:r>
              <a:rPr lang="en-US" sz="1600" b="1" dirty="0" err="1">
                <a:solidFill>
                  <a:schemeClr val="tx1"/>
                </a:solidFill>
                <a:sym typeface="+mn-ea"/>
              </a:rPr>
              <a:t>sayHi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();</a:t>
            </a:r>
            <a:endParaRPr lang="en-US" altLang="ru-RU" sz="1600" b="1" i="1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Классы в </a:t>
            </a:r>
            <a:r>
              <a:rPr lang="en-US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JS</a:t>
            </a:r>
            <a:endParaRPr 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endParaRPr lang="ru-RU" altLang="en-US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505" y="4947285"/>
            <a:ext cx="4305300" cy="1104900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075" y="2276475"/>
            <a:ext cx="2295525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sym typeface="+mn-ea"/>
              </a:rPr>
              <a:t>Класс – это разновидность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функции</a:t>
            </a:r>
            <a:br>
              <a:rPr lang="ru-RU" dirty="0" smtClean="0">
                <a:solidFill>
                  <a:schemeClr val="tx1"/>
                </a:solidFill>
                <a:sym typeface="+mn-ea"/>
              </a:rPr>
            </a:br>
            <a:r>
              <a:rPr lang="ru-RU" dirty="0" smtClean="0">
                <a:solidFill>
                  <a:schemeClr val="tx1"/>
                </a:solidFill>
                <a:sym typeface="+mn-ea"/>
              </a:rPr>
              <a:t>	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alert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typeof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User</a:t>
            </a:r>
            <a:r>
              <a:rPr lang="en-US" dirty="0">
                <a:solidFill>
                  <a:schemeClr val="tx1"/>
                </a:solidFill>
                <a:sym typeface="+mn-ea"/>
              </a:rPr>
              <a:t>);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function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class User 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{...}</a:t>
            </a:r>
            <a:r>
              <a:rPr lang="ru-RU" dirty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создаёт </a:t>
            </a:r>
            <a:r>
              <a:rPr lang="ru-RU" dirty="0">
                <a:solidFill>
                  <a:schemeClr val="tx1"/>
                </a:solidFill>
                <a:sym typeface="+mn-ea"/>
              </a:rPr>
              <a:t>функцию с именем </a:t>
            </a:r>
            <a:r>
              <a:rPr lang="ru-RU" b="1" dirty="0" err="1" smtClean="0">
                <a:solidFill>
                  <a:schemeClr val="tx1"/>
                </a:solidFill>
                <a:sym typeface="+mn-ea"/>
              </a:rPr>
              <a:t>User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ru-RU" dirty="0">
                <a:solidFill>
                  <a:schemeClr val="tx1"/>
                </a:solidFill>
                <a:sym typeface="+mn-ea"/>
              </a:rPr>
              <a:t>код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берётся </a:t>
            </a:r>
            <a:r>
              <a:rPr lang="ru-RU" dirty="0">
                <a:solidFill>
                  <a:schemeClr val="tx1"/>
                </a:solidFill>
                <a:sym typeface="+mn-ea"/>
              </a:rPr>
              <a:t>из метода 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constructor</a:t>
            </a:r>
            <a:endParaRPr lang="en-US" b="1" dirty="0" smtClean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sym typeface="+mn-ea"/>
              </a:rPr>
              <a:t>В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нее неявно дописывается 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this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= 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{};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и 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return this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;</a:t>
            </a:r>
            <a:endParaRPr lang="en-US" b="1" dirty="0" smtClean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sym typeface="+mn-ea"/>
              </a:rPr>
              <a:t>Все методы и свойства сохраняются в </a:t>
            </a:r>
            <a:r>
              <a:rPr lang="ru-RU" b="1" dirty="0" err="1">
                <a:solidFill>
                  <a:schemeClr val="tx1"/>
                </a:solidFill>
                <a:sym typeface="+mn-ea"/>
              </a:rPr>
              <a:t>User.prototype</a:t>
            </a: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ru-RU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2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Что такое класс в </a:t>
            </a:r>
            <a:r>
              <a:rPr lang="en-US" sz="32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JS?</a:t>
            </a:r>
            <a:endParaRPr lang="en-US" sz="32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class 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User 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{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constructor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(name) {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 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 this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.name = name;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}</a:t>
            </a:r>
            <a:endParaRPr lang="en-US" sz="14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get name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() {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  return </a:t>
            </a:r>
            <a:r>
              <a:rPr lang="en-US" sz="1400" b="1" dirty="0" err="1">
                <a:solidFill>
                  <a:schemeClr val="tx1"/>
                </a:solidFill>
                <a:sym typeface="+mn-ea"/>
              </a:rPr>
              <a:t>this</a:t>
            </a:r>
            <a:r>
              <a:rPr lang="en-US" sz="1400" dirty="0" err="1">
                <a:solidFill>
                  <a:schemeClr val="tx1"/>
                </a:solidFill>
                <a:sym typeface="+mn-ea"/>
              </a:rPr>
              <a:t>._name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;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}</a:t>
            </a:r>
            <a:endParaRPr lang="en-US" sz="14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set name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(value) {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  if (</a:t>
            </a:r>
            <a:r>
              <a:rPr lang="en-US" sz="1400" dirty="0" err="1">
                <a:solidFill>
                  <a:schemeClr val="tx1"/>
                </a:solidFill>
                <a:sym typeface="+mn-ea"/>
              </a:rPr>
              <a:t>value.length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 &lt; 4) </a:t>
            </a:r>
            <a:r>
              <a:rPr lang="en-US" sz="1400" dirty="0" smtClean="0">
                <a:solidFill>
                  <a:schemeClr val="tx1"/>
                </a:solidFill>
                <a:sym typeface="+mn-ea"/>
              </a:rPr>
              <a:t>{</a:t>
            </a:r>
            <a:r>
              <a:rPr lang="ru-RU" sz="14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sym typeface="+mn-ea"/>
              </a:rPr>
              <a:t>alert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("</a:t>
            </a:r>
            <a:r>
              <a:rPr lang="ru-RU" sz="1400" dirty="0">
                <a:solidFill>
                  <a:schemeClr val="tx1"/>
                </a:solidFill>
                <a:sym typeface="+mn-ea"/>
              </a:rPr>
              <a:t>Имя слишком короткое</a:t>
            </a:r>
            <a:r>
              <a:rPr lang="ru-RU" sz="1400" dirty="0" smtClean="0">
                <a:solidFill>
                  <a:schemeClr val="tx1"/>
                </a:solidFill>
                <a:sym typeface="+mn-ea"/>
              </a:rPr>
              <a:t>."); </a:t>
            </a:r>
            <a:r>
              <a:rPr lang="en-US" sz="1400" dirty="0" smtClean="0">
                <a:solidFill>
                  <a:schemeClr val="tx1"/>
                </a:solidFill>
                <a:sym typeface="+mn-ea"/>
              </a:rPr>
              <a:t>return;</a:t>
            </a:r>
            <a:r>
              <a:rPr lang="ru-RU" sz="14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sym typeface="+mn-ea"/>
              </a:rPr>
              <a:t>}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sym typeface="+mn-ea"/>
              </a:rPr>
              <a:t>this</a:t>
            </a:r>
            <a:r>
              <a:rPr lang="en-US" sz="1400" dirty="0" err="1">
                <a:solidFill>
                  <a:schemeClr val="tx1"/>
                </a:solidFill>
                <a:sym typeface="+mn-ea"/>
              </a:rPr>
              <a:t>._name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 = value;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  }</a:t>
            </a:r>
            <a:endParaRPr lang="en-US" sz="14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}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let user = new 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User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("</a:t>
            </a:r>
            <a:r>
              <a:rPr lang="ru-RU" sz="1400" dirty="0">
                <a:solidFill>
                  <a:schemeClr val="tx1"/>
                </a:solidFill>
                <a:sym typeface="+mn-ea"/>
              </a:rPr>
              <a:t>Иван");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sym typeface="+mn-ea"/>
              </a:rPr>
              <a:t>alert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(user.name);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Иван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user = new </a:t>
            </a:r>
            <a:r>
              <a:rPr lang="en-US" sz="1400" b="1" dirty="0">
                <a:solidFill>
                  <a:schemeClr val="tx1"/>
                </a:solidFill>
                <a:sym typeface="+mn-ea"/>
              </a:rPr>
              <a:t>User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("");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Имя слишком короткое.</a:t>
            </a:r>
            <a:endParaRPr lang="ru-RU" altLang="ru-RU" sz="1400" b="1" i="1" dirty="0" smtClean="0">
              <a:solidFill>
                <a:schemeClr val="bg1">
                  <a:lumMod val="50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Геттеры и сеттеры</a:t>
            </a:r>
            <a:endParaRPr 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endParaRPr lang="ru-RU" altLang="en-US" dirty="0" smtClean="0">
              <a:solidFill>
                <a:schemeClr val="tx1">
                  <a:lumMod val="95000"/>
                  <a:lumOff val="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9135" y="3376295"/>
            <a:ext cx="2870200" cy="72199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865" y="4633595"/>
            <a:ext cx="2871470" cy="76073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525" y="3186430"/>
            <a:ext cx="1809750" cy="23545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Изображение 1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25495" y="2335530"/>
            <a:ext cx="5541010" cy="3111500"/>
          </a:xfrm>
          <a:prstGeom prst="rect">
            <a:avLst/>
          </a:prstGeom>
        </p:spPr>
      </p:pic>
      <p:sp>
        <p:nvSpPr>
          <p:cNvPr id="2" name="Title 20"/>
          <p:cNvSpPr txBox="1"/>
          <p:nvPr/>
        </p:nvSpPr>
        <p:spPr>
          <a:xfrm>
            <a:off x="3220720" y="335598"/>
            <a:ext cx="5750560" cy="430530"/>
          </a:xfrm>
          <a:prstGeom prst="rect">
            <a:avLst/>
          </a:prstGeom>
        </p:spPr>
        <p:txBody>
          <a:bodyPr vert="horz" wrap="square" lIns="45720" tIns="0" rIns="4572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dist" defTabSz="228600"/>
            <a:r>
              <a:rPr lang="ru-RU" altLang="zh-CN" sz="28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Дополнительная литература</a:t>
            </a:r>
            <a:endParaRPr lang="ru-RU" altLang="zh-CN" sz="28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272956" y="1759926"/>
            <a:ext cx="11645454" cy="4477101"/>
            <a:chOff x="382137" y="1759926"/>
            <a:chExt cx="11645454" cy="4477101"/>
          </a:xfrm>
        </p:grpSpPr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382137" y="1760561"/>
              <a:ext cx="3346854" cy="4476466"/>
            </a:xfrm>
            <a:prstGeom prst="rect">
              <a:avLst/>
            </a:prstGeom>
            <a:solidFill>
              <a:srgbClr val="B0C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8680737" y="1759926"/>
              <a:ext cx="3346854" cy="4476466"/>
            </a:xfrm>
            <a:prstGeom prst="rect">
              <a:avLst/>
            </a:prstGeom>
            <a:solidFill>
              <a:srgbClr val="F3D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7" name="TextBox 1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050" y="3740150"/>
            <a:ext cx="334772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9pPr>
          </a:lstStyle>
          <a:p>
            <a:pPr marL="342900" indent="-342900" algn="ctr" eaLnBrk="1" hangingPunct="1">
              <a:lnSpc>
                <a:spcPct val="150000"/>
              </a:lnSpc>
              <a:buAutoNum type="arabicPeriod"/>
            </a:pPr>
            <a:r>
              <a:rPr lang="en-US" altLang="ru-RU" sz="1400" dirty="0">
                <a:ea typeface="Calibri" panose="020F0502020204030204" charset="0"/>
                <a:cs typeface="Calibri" panose="020F0502020204030204" charset="0"/>
                <a:hlinkClick r:id="rId7" action="ppaction://hlinkfile"/>
              </a:rPr>
              <a:t>What is Frontend Development?</a:t>
            </a:r>
            <a:endParaRPr lang="en-US" altLang="ru-RU" sz="1400" dirty="0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62" y="2335780"/>
            <a:ext cx="892464" cy="892464"/>
          </a:xfrm>
          <a:prstGeom prst="rect">
            <a:avLst/>
          </a:prstGeom>
        </p:spPr>
      </p:pic>
      <p:sp>
        <p:nvSpPr>
          <p:cNvPr id="9" name="Text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571865" y="3740150"/>
            <a:ext cx="334645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9pPr>
          </a:lstStyle>
          <a:p>
            <a:pPr marL="342900" indent="-342900" algn="ctr" eaLnBrk="1" hangingPunct="1">
              <a:lnSpc>
                <a:spcPct val="150000"/>
              </a:lnSpc>
              <a:buAutoNum type="arabicPeriod"/>
            </a:pPr>
            <a:r>
              <a:rPr lang="en-US" altLang="ru-RU" sz="1400" dirty="0" smtClean="0">
                <a:ea typeface="Calibri" panose="020F0502020204030204" charset="0"/>
                <a:cs typeface="Calibri" panose="020F0502020204030204" charset="0"/>
                <a:hlinkClick r:id="rId11" action="ppaction://hlinkfile"/>
              </a:rPr>
              <a:t>JavaScript Roadmap</a:t>
            </a:r>
            <a:endParaRPr lang="en-US" altLang="ru-RU" sz="1400" dirty="0" smtClean="0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875" y="2335577"/>
            <a:ext cx="892464" cy="89246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2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3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4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5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6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7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8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5805</Words>
  <Application>WPS Presentation</Application>
  <PresentationFormat>宽屏</PresentationFormat>
  <Paragraphs>375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Source Sans Pro ExtraLight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AvtoBBus</cp:lastModifiedBy>
  <cp:revision>110</cp:revision>
  <dcterms:created xsi:type="dcterms:W3CDTF">2025-07-23T00:59:00Z</dcterms:created>
  <dcterms:modified xsi:type="dcterms:W3CDTF">2025-12-01T09:14:36Z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4F1AE8E347154247878AA3D633F7AFCB_13</vt:lpwstr>
  </property>
</Properties>
</file>