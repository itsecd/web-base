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3"/>
    <p:sldId id="357" r:id="rId4"/>
    <p:sldId id="358" r:id="rId5"/>
    <p:sldId id="259" r:id="rId6"/>
    <p:sldId id="260" r:id="rId7"/>
    <p:sldId id="359" r:id="rId8"/>
    <p:sldId id="360" r:id="rId9"/>
    <p:sldId id="361" r:id="rId10"/>
    <p:sldId id="362" r:id="rId11"/>
    <p:sldId id="363" r:id="rId12"/>
    <p:sldId id="364" r:id="rId13"/>
    <p:sldId id="365" r:id="rId14"/>
    <p:sldId id="366" r:id="rId15"/>
    <p:sldId id="367" r:id="rId16"/>
    <p:sldId id="368" r:id="rId17"/>
    <p:sldId id="370" r:id="rId18"/>
    <p:sldId id="371" r:id="rId19"/>
    <p:sldId id="287" r:id="rId20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6347"/>
    <a:srgbClr val="FFB1A3"/>
    <a:srgbClr val="B0CFF8"/>
    <a:srgbClr val="F3D34B"/>
    <a:srgbClr val="EE82EE"/>
    <a:srgbClr val="F19352"/>
    <a:srgbClr val="E3F2FD"/>
    <a:srgbClr val="6BA7F2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etbootstrap.com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png"/><Relationship Id="rId8" Type="http://schemas.openxmlformats.org/officeDocument/2006/relationships/tags" Target="../tags/tag6.xml"/><Relationship Id="rId7" Type="http://schemas.openxmlformats.org/officeDocument/2006/relationships/hyperlink" Target="https://react-bootstrap.github.io/" TargetMode="Externa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image" Target="../media/image35.jpeg"/><Relationship Id="rId13" Type="http://schemas.openxmlformats.org/officeDocument/2006/relationships/notesSlide" Target="../notesSlides/notesSlide1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8103310" y="629653"/>
            <a:ext cx="3779528" cy="37795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1797" y="426332"/>
            <a:ext cx="6432096" cy="6432096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>
          <a:xfrm>
            <a:off x="536889" y="1140979"/>
            <a:ext cx="809219" cy="809219"/>
          </a:xfrm>
          <a:prstGeom prst="ellipse">
            <a:avLst/>
          </a:prstGeom>
          <a:solidFill>
            <a:srgbClr val="F3D3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black">
          <a:xfrm>
            <a:off x="573405" y="2877185"/>
            <a:ext cx="5485765" cy="111379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no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Bootstrap</a:t>
            </a:r>
            <a:endParaRPr lang="en-US" sz="6000" b="1" dirty="0" smtClean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0555" y="3990975"/>
            <a:ext cx="1242060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/>
            <a:r>
              <a:rPr lang="ru-RU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Лекция </a:t>
            </a:r>
            <a:r>
              <a:rPr lang="en-US" altLang="ru-RU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7</a:t>
            </a:r>
            <a:endParaRPr lang="en-US" altLang="ru-RU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5443855" y="2057400"/>
            <a:ext cx="5944235" cy="417449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ru-RU" sz="2000" dirty="0" smtClean="0">
                <a:solidFill>
                  <a:schemeClr val="tx1"/>
                </a:solidFill>
                <a:sym typeface="+mn-ea"/>
              </a:rPr>
              <a:t>Фреймворк для адаптивных веб-приложений</a:t>
            </a:r>
            <a:endParaRPr lang="ru-RU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chemeClr val="tx1"/>
                </a:solidFill>
                <a:sym typeface="+mn-ea"/>
              </a:rPr>
              <a:t>HTML</a:t>
            </a:r>
            <a:r>
              <a:rPr lang="ru-RU" sz="2000" dirty="0" smtClean="0">
                <a:solidFill>
                  <a:schemeClr val="tx1"/>
                </a:solidFill>
                <a:sym typeface="+mn-ea"/>
              </a:rPr>
              <a:t> и 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CSS</a:t>
            </a:r>
            <a:r>
              <a:rPr lang="ru-RU" sz="2000" dirty="0" smtClean="0">
                <a:solidFill>
                  <a:schemeClr val="tx1"/>
                </a:solidFill>
                <a:sym typeface="+mn-ea"/>
              </a:rPr>
              <a:t> шаблоны, 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JS</a:t>
            </a:r>
            <a:r>
              <a:rPr lang="ru-RU" sz="2000" dirty="0">
                <a:solidFill>
                  <a:schemeClr val="tx1"/>
                </a:solidFill>
                <a:sym typeface="+mn-ea"/>
              </a:rPr>
              <a:t> </a:t>
            </a:r>
            <a:r>
              <a:rPr lang="ru-RU" sz="2000" dirty="0" smtClean="0">
                <a:solidFill>
                  <a:schemeClr val="tx1"/>
                </a:solidFill>
                <a:sym typeface="+mn-ea"/>
              </a:rPr>
              <a:t>модули.</a:t>
            </a:r>
            <a:endParaRPr lang="ru-RU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2000" dirty="0" smtClean="0">
                <a:solidFill>
                  <a:schemeClr val="tx1"/>
                </a:solidFill>
                <a:sym typeface="+mn-ea"/>
              </a:rPr>
              <a:t>Сейчас изучаем 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Bootstrap 4</a:t>
            </a:r>
            <a:r>
              <a:rPr lang="ru-RU" sz="2000" dirty="0" smtClean="0">
                <a:solidFill>
                  <a:schemeClr val="tx1"/>
                </a:solidFill>
                <a:sym typeface="+mn-ea"/>
              </a:rPr>
              <a:t> (2018)</a:t>
            </a:r>
            <a:endParaRPr lang="ru-RU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chemeClr val="tx1"/>
                </a:solidFill>
                <a:sym typeface="+mn-ea"/>
              </a:rPr>
              <a:t>Bootstrap 5 </a:t>
            </a:r>
            <a:r>
              <a:rPr lang="ru-RU" sz="2000" dirty="0" smtClean="0">
                <a:solidFill>
                  <a:schemeClr val="tx1"/>
                </a:solidFill>
                <a:sym typeface="+mn-ea"/>
              </a:rPr>
              <a:t>(2021) – </a:t>
            </a:r>
            <a:r>
              <a:rPr lang="ru-RU" sz="2000" dirty="0" err="1" smtClean="0">
                <a:solidFill>
                  <a:schemeClr val="tx1"/>
                </a:solidFill>
                <a:sym typeface="+mn-ea"/>
              </a:rPr>
              <a:t>числый</a:t>
            </a:r>
            <a:r>
              <a:rPr lang="ru-RU" sz="2000" dirty="0" smtClean="0">
                <a:solidFill>
                  <a:schemeClr val="tx1"/>
                </a:solidFill>
                <a:sym typeface="+mn-ea"/>
              </a:rPr>
              <a:t> 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JS</a:t>
            </a:r>
            <a:r>
              <a:rPr lang="ru-RU" sz="2000" dirty="0" smtClean="0">
                <a:solidFill>
                  <a:schemeClr val="tx1"/>
                </a:solidFill>
                <a:sym typeface="+mn-ea"/>
              </a:rPr>
              <a:t> вместо 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jQuery</a:t>
            </a:r>
            <a:r>
              <a:rPr lang="ru-RU" sz="2000" dirty="0" smtClean="0">
                <a:solidFill>
                  <a:schemeClr val="tx1"/>
                </a:solidFill>
                <a:sym typeface="+mn-ea"/>
              </a:rPr>
              <a:t>, всякие мелкие улучшения.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 </a:t>
            </a:r>
            <a:endParaRPr lang="ru-RU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chemeClr val="tx1"/>
                </a:solidFill>
                <a:sym typeface="+mn-ea"/>
              </a:rPr>
              <a:t>React Bootstrap – </a:t>
            </a:r>
            <a:r>
              <a:rPr lang="ru-RU" sz="2000" dirty="0" smtClean="0">
                <a:solidFill>
                  <a:schemeClr val="tx1"/>
                </a:solidFill>
                <a:sym typeface="+mn-ea"/>
              </a:rPr>
              <a:t>отдельный модуль.</a:t>
            </a:r>
            <a:endParaRPr lang="ru-RU" sz="2000" b="1" dirty="0" smtClean="0">
              <a:solidFill>
                <a:schemeClr val="tx1"/>
              </a:solidFill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7" name="圆角矩形 3"/>
          <p:cNvSpPr/>
          <p:nvPr/>
        </p:nvSpPr>
        <p:spPr>
          <a:xfrm>
            <a:off x="1062355" y="497840"/>
            <a:ext cx="3134360" cy="155892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altLang="ru-RU" sz="40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Что это?</a:t>
            </a:r>
            <a:endParaRPr lang="ru-RU" altLang="ru-RU" sz="40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5443855" y="2057400"/>
            <a:ext cx="5944235" cy="417449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err="1" smtClean="0">
                <a:solidFill>
                  <a:schemeClr val="tx1"/>
                </a:solidFill>
                <a:sym typeface="+mn-ea"/>
              </a:rPr>
              <a:t>Лейауты</a:t>
            </a:r>
            <a:endParaRPr lang="ru-RU" sz="2000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smtClean="0">
                <a:solidFill>
                  <a:schemeClr val="tx1"/>
                </a:solidFill>
                <a:sym typeface="+mn-ea"/>
              </a:rPr>
              <a:t>Формы, кнопки</a:t>
            </a:r>
            <a:endParaRPr lang="ru-RU" sz="2000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smtClean="0">
                <a:solidFill>
                  <a:schemeClr val="tx1"/>
                </a:solidFill>
                <a:sym typeface="+mn-ea"/>
              </a:rPr>
              <a:t>Таблички</a:t>
            </a:r>
            <a:endParaRPr lang="ru-RU" sz="2000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smtClean="0">
                <a:solidFill>
                  <a:schemeClr val="tx1"/>
                </a:solidFill>
                <a:sym typeface="+mn-ea"/>
              </a:rPr>
              <a:t>Навигационные меню</a:t>
            </a:r>
            <a:endParaRPr lang="ru-RU" sz="2000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err="1" smtClean="0">
                <a:solidFill>
                  <a:schemeClr val="tx1"/>
                </a:solidFill>
                <a:sym typeface="+mn-ea"/>
              </a:rPr>
              <a:t>Карусельки</a:t>
            </a:r>
            <a:endParaRPr lang="ru-RU" sz="2000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smtClean="0">
                <a:solidFill>
                  <a:schemeClr val="tx1"/>
                </a:solidFill>
                <a:sym typeface="+mn-ea"/>
              </a:rPr>
              <a:t>Модальные окна</a:t>
            </a:r>
            <a:endParaRPr lang="ru-RU" sz="2000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err="1" smtClean="0">
                <a:solidFill>
                  <a:schemeClr val="tx1"/>
                </a:solidFill>
                <a:sym typeface="+mn-ea"/>
              </a:rPr>
              <a:t>Типографика</a:t>
            </a:r>
            <a:endParaRPr lang="ru-RU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2000" dirty="0" smtClean="0">
                <a:solidFill>
                  <a:schemeClr val="tx1"/>
                </a:solidFill>
                <a:sym typeface="+mn-ea"/>
              </a:rPr>
              <a:t>И всё сразу автоматически – адаптивное</a:t>
            </a:r>
            <a:endParaRPr lang="ru-RU" sz="2000" b="1" dirty="0" smtClean="0">
              <a:solidFill>
                <a:schemeClr val="tx1"/>
              </a:solidFill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7" name="圆角矩形 3"/>
          <p:cNvSpPr/>
          <p:nvPr/>
        </p:nvSpPr>
        <p:spPr>
          <a:xfrm>
            <a:off x="1062355" y="497840"/>
            <a:ext cx="3134360" cy="155892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altLang="ru-RU" sz="40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Что входит?</a:t>
            </a:r>
            <a:endParaRPr lang="ru-RU" altLang="ru-RU" sz="40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67360" y="1977390"/>
            <a:ext cx="5456555" cy="4496435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>
              <a:buNone/>
            </a:pPr>
            <a:r>
              <a:rPr lang="ru-RU" altLang="en-US" sz="2400" b="1" dirty="0">
                <a:solidFill>
                  <a:schemeClr val="tx1"/>
                </a:solidFill>
                <a:sym typeface="+mn-ea"/>
              </a:rPr>
              <a:t>CDN</a:t>
            </a:r>
            <a:endParaRPr lang="en-US" altLang="ru-RU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lvl="0" indent="0" algn="ctr">
              <a:buNone/>
            </a:pPr>
            <a:endParaRPr lang="en-US" altLang="ru-RU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>
              <a:buNone/>
            </a:pPr>
            <a:r>
              <a:rPr lang="en-US" sz="1600" b="1" dirty="0" smtClean="0">
                <a:solidFill>
                  <a:schemeClr val="tx1"/>
                </a:solidFill>
                <a:sym typeface="+mn-ea"/>
              </a:rPr>
              <a:t>&lt;</a:t>
            </a:r>
            <a:r>
              <a:rPr lang="en-US" sz="1600" b="1" dirty="0">
                <a:solidFill>
                  <a:schemeClr val="tx1"/>
                </a:solidFill>
                <a:sym typeface="+mn-ea"/>
              </a:rPr>
              <a:t>link</a:t>
            </a:r>
            <a:r>
              <a:rPr lang="en-US" sz="1600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sz="1600" dirty="0" err="1">
                <a:solidFill>
                  <a:schemeClr val="tx1"/>
                </a:solidFill>
                <a:sym typeface="+mn-ea"/>
              </a:rPr>
              <a:t>rel</a:t>
            </a:r>
            <a:r>
              <a:rPr lang="en-US" sz="1600" dirty="0">
                <a:solidFill>
                  <a:schemeClr val="tx1"/>
                </a:solidFill>
                <a:sym typeface="+mn-ea"/>
              </a:rPr>
              <a:t>="stylesheet" </a:t>
            </a:r>
            <a:r>
              <a:rPr lang="en-US" sz="1600" dirty="0" err="1">
                <a:solidFill>
                  <a:schemeClr val="tx1"/>
                </a:solidFill>
                <a:sym typeface="+mn-ea"/>
              </a:rPr>
              <a:t>href</a:t>
            </a:r>
            <a:r>
              <a:rPr lang="en-US" sz="1600" dirty="0">
                <a:solidFill>
                  <a:schemeClr val="tx1"/>
                </a:solidFill>
                <a:sym typeface="+mn-ea"/>
              </a:rPr>
              <a:t>="https://cdn.jsdelivr.net/</a:t>
            </a:r>
            <a:r>
              <a:rPr lang="en-US" sz="1600" dirty="0" err="1">
                <a:solidFill>
                  <a:schemeClr val="tx1"/>
                </a:solidFill>
                <a:sym typeface="+mn-ea"/>
              </a:rPr>
              <a:t>npm</a:t>
            </a:r>
            <a:r>
              <a:rPr lang="en-US" sz="1600" dirty="0">
                <a:solidFill>
                  <a:schemeClr val="tx1"/>
                </a:solidFill>
                <a:sym typeface="+mn-ea"/>
              </a:rPr>
              <a:t>/bootstrap@4.6.1/</a:t>
            </a:r>
            <a:r>
              <a:rPr lang="en-US" sz="1600" dirty="0" err="1">
                <a:solidFill>
                  <a:schemeClr val="tx1"/>
                </a:solidFill>
                <a:sym typeface="+mn-ea"/>
              </a:rPr>
              <a:t>dist</a:t>
            </a:r>
            <a:r>
              <a:rPr lang="en-US" sz="1600" dirty="0">
                <a:solidFill>
                  <a:schemeClr val="tx1"/>
                </a:solidFill>
                <a:sym typeface="+mn-ea"/>
              </a:rPr>
              <a:t>/</a:t>
            </a:r>
            <a:r>
              <a:rPr lang="en-US" sz="1600" dirty="0" err="1">
                <a:solidFill>
                  <a:schemeClr val="tx1"/>
                </a:solidFill>
                <a:sym typeface="+mn-ea"/>
              </a:rPr>
              <a:t>css</a:t>
            </a:r>
            <a:r>
              <a:rPr lang="en-US" sz="1600" dirty="0">
                <a:solidFill>
                  <a:schemeClr val="tx1"/>
                </a:solidFill>
                <a:sym typeface="+mn-ea"/>
              </a:rPr>
              <a:t>/bootstrap.min.css"</a:t>
            </a:r>
            <a:r>
              <a:rPr lang="en-US" sz="1600" b="1" dirty="0">
                <a:solidFill>
                  <a:schemeClr val="tx1"/>
                </a:solidFill>
                <a:sym typeface="+mn-ea"/>
              </a:rPr>
              <a:t>&gt;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600" b="1" dirty="0" smtClean="0">
                <a:solidFill>
                  <a:schemeClr val="tx1"/>
                </a:solidFill>
                <a:sym typeface="+mn-ea"/>
              </a:rPr>
              <a:t>&lt;</a:t>
            </a:r>
            <a:r>
              <a:rPr lang="en-US" sz="1600" b="1" dirty="0">
                <a:solidFill>
                  <a:schemeClr val="tx1"/>
                </a:solidFill>
                <a:sym typeface="+mn-ea"/>
              </a:rPr>
              <a:t>script </a:t>
            </a:r>
            <a:r>
              <a:rPr lang="en-US" sz="1600" dirty="0" err="1">
                <a:solidFill>
                  <a:schemeClr val="tx1"/>
                </a:solidFill>
                <a:sym typeface="+mn-ea"/>
              </a:rPr>
              <a:t>src</a:t>
            </a:r>
            <a:r>
              <a:rPr lang="en-US" sz="1600" dirty="0">
                <a:solidFill>
                  <a:schemeClr val="tx1"/>
                </a:solidFill>
                <a:sym typeface="+mn-ea"/>
              </a:rPr>
              <a:t>="https://cdn.jsdelivr.net/</a:t>
            </a:r>
            <a:r>
              <a:rPr lang="en-US" sz="1600" dirty="0" err="1">
                <a:solidFill>
                  <a:schemeClr val="tx1"/>
                </a:solidFill>
                <a:sym typeface="+mn-ea"/>
              </a:rPr>
              <a:t>npm</a:t>
            </a:r>
            <a:r>
              <a:rPr lang="en-US" sz="1600" dirty="0">
                <a:solidFill>
                  <a:schemeClr val="tx1"/>
                </a:solidFill>
                <a:sym typeface="+mn-ea"/>
              </a:rPr>
              <a:t>/jquery@3.6.0/</a:t>
            </a:r>
            <a:r>
              <a:rPr lang="en-US" sz="1600" dirty="0" err="1">
                <a:solidFill>
                  <a:schemeClr val="tx1"/>
                </a:solidFill>
                <a:sym typeface="+mn-ea"/>
              </a:rPr>
              <a:t>dist</a:t>
            </a:r>
            <a:r>
              <a:rPr lang="en-US" sz="1600" dirty="0">
                <a:solidFill>
                  <a:schemeClr val="tx1"/>
                </a:solidFill>
                <a:sym typeface="+mn-ea"/>
              </a:rPr>
              <a:t>/jquery.slim.min.js"</a:t>
            </a:r>
            <a:r>
              <a:rPr lang="en-US" sz="1600" b="1" dirty="0">
                <a:solidFill>
                  <a:schemeClr val="tx1"/>
                </a:solidFill>
                <a:sym typeface="+mn-ea"/>
              </a:rPr>
              <a:t>&gt;&lt;/script&gt;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600" b="1" dirty="0" smtClean="0">
                <a:solidFill>
                  <a:schemeClr val="tx1"/>
                </a:solidFill>
                <a:sym typeface="+mn-ea"/>
              </a:rPr>
              <a:t>&lt;</a:t>
            </a:r>
            <a:r>
              <a:rPr lang="en-US" sz="1600" b="1" dirty="0">
                <a:solidFill>
                  <a:schemeClr val="tx1"/>
                </a:solidFill>
                <a:sym typeface="+mn-ea"/>
              </a:rPr>
              <a:t>script </a:t>
            </a:r>
            <a:r>
              <a:rPr lang="en-US" sz="1600" dirty="0" err="1">
                <a:solidFill>
                  <a:schemeClr val="tx1"/>
                </a:solidFill>
                <a:sym typeface="+mn-ea"/>
              </a:rPr>
              <a:t>src</a:t>
            </a:r>
            <a:r>
              <a:rPr lang="en-US" sz="1600" dirty="0">
                <a:solidFill>
                  <a:schemeClr val="tx1"/>
                </a:solidFill>
                <a:sym typeface="+mn-ea"/>
              </a:rPr>
              <a:t>="https://cdn.jsdelivr.net/</a:t>
            </a:r>
            <a:r>
              <a:rPr lang="en-US" sz="1600" dirty="0" err="1">
                <a:solidFill>
                  <a:schemeClr val="tx1"/>
                </a:solidFill>
                <a:sym typeface="+mn-ea"/>
              </a:rPr>
              <a:t>npm</a:t>
            </a:r>
            <a:r>
              <a:rPr lang="en-US" sz="1600" dirty="0">
                <a:solidFill>
                  <a:schemeClr val="tx1"/>
                </a:solidFill>
                <a:sym typeface="+mn-ea"/>
              </a:rPr>
              <a:t>/popper.js@1.16.1/</a:t>
            </a:r>
            <a:r>
              <a:rPr lang="en-US" sz="1600" dirty="0" err="1">
                <a:solidFill>
                  <a:schemeClr val="tx1"/>
                </a:solidFill>
                <a:sym typeface="+mn-ea"/>
              </a:rPr>
              <a:t>dist</a:t>
            </a:r>
            <a:r>
              <a:rPr lang="en-US" sz="1600" dirty="0">
                <a:solidFill>
                  <a:schemeClr val="tx1"/>
                </a:solidFill>
                <a:sym typeface="+mn-ea"/>
              </a:rPr>
              <a:t>/</a:t>
            </a:r>
            <a:r>
              <a:rPr lang="en-US" sz="1600" dirty="0" err="1">
                <a:solidFill>
                  <a:schemeClr val="tx1"/>
                </a:solidFill>
                <a:sym typeface="+mn-ea"/>
              </a:rPr>
              <a:t>umd</a:t>
            </a:r>
            <a:r>
              <a:rPr lang="en-US" sz="1600" dirty="0">
                <a:solidFill>
                  <a:schemeClr val="tx1"/>
                </a:solidFill>
                <a:sym typeface="+mn-ea"/>
              </a:rPr>
              <a:t>/popper.min.js"</a:t>
            </a:r>
            <a:r>
              <a:rPr lang="en-US" sz="1600" b="1" dirty="0">
                <a:solidFill>
                  <a:schemeClr val="tx1"/>
                </a:solidFill>
                <a:sym typeface="+mn-ea"/>
              </a:rPr>
              <a:t>&gt;&lt;/script&gt;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600" b="1" dirty="0" smtClean="0">
                <a:solidFill>
                  <a:schemeClr val="tx1"/>
                </a:solidFill>
                <a:sym typeface="+mn-ea"/>
              </a:rPr>
              <a:t>&lt;</a:t>
            </a:r>
            <a:r>
              <a:rPr lang="en-US" sz="1600" b="1" dirty="0">
                <a:solidFill>
                  <a:schemeClr val="tx1"/>
                </a:solidFill>
                <a:sym typeface="+mn-ea"/>
              </a:rPr>
              <a:t>script </a:t>
            </a:r>
            <a:r>
              <a:rPr lang="en-US" sz="1600" dirty="0" err="1">
                <a:solidFill>
                  <a:schemeClr val="tx1"/>
                </a:solidFill>
                <a:sym typeface="+mn-ea"/>
              </a:rPr>
              <a:t>src</a:t>
            </a:r>
            <a:r>
              <a:rPr lang="en-US" sz="1600" dirty="0">
                <a:solidFill>
                  <a:schemeClr val="tx1"/>
                </a:solidFill>
                <a:sym typeface="+mn-ea"/>
              </a:rPr>
              <a:t>="https://cdn.jsdelivr.net/</a:t>
            </a:r>
            <a:r>
              <a:rPr lang="en-US" sz="1600" dirty="0" err="1">
                <a:solidFill>
                  <a:schemeClr val="tx1"/>
                </a:solidFill>
                <a:sym typeface="+mn-ea"/>
              </a:rPr>
              <a:t>npm</a:t>
            </a:r>
            <a:r>
              <a:rPr lang="en-US" sz="1600" dirty="0">
                <a:solidFill>
                  <a:schemeClr val="tx1"/>
                </a:solidFill>
                <a:sym typeface="+mn-ea"/>
              </a:rPr>
              <a:t>/bootstrap@4.6.1/</a:t>
            </a:r>
            <a:r>
              <a:rPr lang="en-US" sz="1600" dirty="0" err="1">
                <a:solidFill>
                  <a:schemeClr val="tx1"/>
                </a:solidFill>
                <a:sym typeface="+mn-ea"/>
              </a:rPr>
              <a:t>dist</a:t>
            </a:r>
            <a:r>
              <a:rPr lang="en-US" sz="1600" dirty="0">
                <a:solidFill>
                  <a:schemeClr val="tx1"/>
                </a:solidFill>
                <a:sym typeface="+mn-ea"/>
              </a:rPr>
              <a:t>/</a:t>
            </a:r>
            <a:r>
              <a:rPr lang="en-US" sz="1600" dirty="0" err="1">
                <a:solidFill>
                  <a:schemeClr val="tx1"/>
                </a:solidFill>
                <a:sym typeface="+mn-ea"/>
              </a:rPr>
              <a:t>js</a:t>
            </a:r>
            <a:r>
              <a:rPr lang="en-US" sz="1600" dirty="0">
                <a:solidFill>
                  <a:schemeClr val="tx1"/>
                </a:solidFill>
                <a:sym typeface="+mn-ea"/>
              </a:rPr>
              <a:t>/bootstrap.bundle.min.js"</a:t>
            </a:r>
            <a:r>
              <a:rPr lang="en-US" sz="1600" b="1" dirty="0">
                <a:solidFill>
                  <a:schemeClr val="tx1"/>
                </a:solidFill>
                <a:sym typeface="+mn-ea"/>
              </a:rPr>
              <a:t>&gt;&lt;/script</a:t>
            </a:r>
            <a:r>
              <a:rPr lang="en-US" sz="1600" b="1" dirty="0" smtClean="0">
                <a:solidFill>
                  <a:schemeClr val="tx1"/>
                </a:solidFill>
                <a:sym typeface="+mn-ea"/>
              </a:rPr>
              <a:t>&gt;</a:t>
            </a:r>
            <a:endParaRPr lang="ru-RU" sz="1600" b="1" dirty="0" smtClean="0">
              <a:solidFill>
                <a:schemeClr val="tx1"/>
              </a:solidFill>
            </a:endParaRPr>
          </a:p>
          <a:p>
            <a:pPr marL="0" lvl="0" indent="0" algn="l">
              <a:buNone/>
            </a:pPr>
            <a:endParaRPr lang="ru-RU" altLang="ru-RU" sz="16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67360" y="497840"/>
            <a:ext cx="10920730" cy="8743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Подключение</a:t>
            </a:r>
            <a:endParaRPr lang="ru-RU" sz="3600" b="1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3" name="圆角矩形 5"/>
          <p:cNvSpPr/>
          <p:nvPr/>
        </p:nvSpPr>
        <p:spPr>
          <a:xfrm>
            <a:off x="6077585" y="1977390"/>
            <a:ext cx="5310505" cy="4496435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lvl="0" algn="ctr">
              <a:buClrTx/>
              <a:buSzTx/>
              <a:buFontTx/>
            </a:pPr>
            <a:r>
              <a:rPr lang="ru-RU" altLang="en-US" sz="2400" b="1" dirty="0">
                <a:solidFill>
                  <a:schemeClr val="tx1"/>
                </a:solidFill>
                <a:sym typeface="+mn-ea"/>
              </a:rPr>
              <a:t>Автономно</a:t>
            </a:r>
            <a:endParaRPr lang="ru-RU" altLang="en-US" sz="2400" b="1" dirty="0">
              <a:solidFill>
                <a:schemeClr val="tx1"/>
              </a:solidFill>
              <a:sym typeface="+mn-ea"/>
            </a:endParaRPr>
          </a:p>
          <a:p>
            <a:pPr marL="0" lvl="0" algn="ctr">
              <a:buClrTx/>
              <a:buSzTx/>
              <a:buFontTx/>
            </a:pPr>
            <a:endParaRPr lang="ru-RU" altLang="en-US" b="1" i="1" dirty="0">
              <a:solidFill>
                <a:schemeClr val="tx1"/>
              </a:solidFill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altLang="en-US" b="1" i="1" dirty="0">
              <a:solidFill>
                <a:schemeClr val="tx1"/>
              </a:solidFill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altLang="en-US" b="1" i="1" dirty="0">
              <a:solidFill>
                <a:schemeClr val="tx1"/>
              </a:solidFill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altLang="en-US" b="1" i="1" dirty="0">
              <a:solidFill>
                <a:schemeClr val="tx1"/>
              </a:solidFill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altLang="en-US" b="1" i="1" dirty="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r>
              <a:rPr lang="en-US" dirty="0">
                <a:sym typeface="+mn-ea"/>
                <a:hlinkClick r:id="rId1"/>
              </a:rPr>
              <a:t>https://getbootstrap.com</a:t>
            </a:r>
            <a:r>
              <a:rPr lang="en-US" dirty="0" smtClean="0">
                <a:sym typeface="+mn-ea"/>
                <a:hlinkClick r:id="rId1"/>
              </a:rPr>
              <a:t>/</a:t>
            </a:r>
            <a:r>
              <a:rPr lang="ru-RU" dirty="0">
                <a:solidFill>
                  <a:schemeClr val="tx1"/>
                </a:solidFill>
                <a:sym typeface="+mn-ea"/>
              </a:rPr>
              <a:t> </a:t>
            </a:r>
            <a:r>
              <a:rPr lang="ru-RU" dirty="0" smtClean="0">
                <a:solidFill>
                  <a:schemeClr val="tx1"/>
                </a:solidFill>
                <a:sym typeface="+mn-ea"/>
              </a:rPr>
              <a:t>- скачиваем файлы и размещаем на своем сайте</a:t>
            </a:r>
            <a:endParaRPr lang="ru-RU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altLang="en-US" b="1" dirty="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endParaRPr lang="ru-RU" altLang="en-US" b="1" dirty="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endParaRPr lang="ru-RU" altLang="en-US" b="1" dirty="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endParaRPr lang="ru-RU" altLang="en-US" b="1" dirty="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endParaRPr lang="ru-RU" altLang="en-US" b="1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67360" y="1978025"/>
            <a:ext cx="5456555" cy="449580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>
              <a:buFont typeface="Arial" panose="020B0604020202020204" pitchFamily="34" charset="0"/>
              <a:buNone/>
            </a:pPr>
            <a:r>
              <a:rPr lang="ru-RU" sz="2000" b="1" dirty="0" smtClean="0">
                <a:solidFill>
                  <a:schemeClr val="tx1"/>
                </a:solidFill>
                <a:sym typeface="+mn-ea"/>
              </a:rPr>
              <a:t>1. Строгий </a:t>
            </a:r>
            <a:r>
              <a:rPr lang="en-US" sz="2000" b="1" dirty="0" smtClean="0">
                <a:solidFill>
                  <a:schemeClr val="tx1"/>
                </a:solidFill>
                <a:sym typeface="+mn-ea"/>
              </a:rPr>
              <a:t>HTML5</a:t>
            </a:r>
            <a:r>
              <a:rPr lang="ru-RU" sz="2000" b="1" dirty="0" smtClean="0">
                <a:solidFill>
                  <a:schemeClr val="tx1"/>
                </a:solidFill>
                <a:sym typeface="+mn-ea"/>
              </a:rPr>
              <a:t>, добавляем </a:t>
            </a:r>
            <a:r>
              <a:rPr lang="en-US" sz="2000" b="1" dirty="0" smtClean="0">
                <a:solidFill>
                  <a:schemeClr val="tx1"/>
                </a:solidFill>
                <a:sym typeface="+mn-ea"/>
              </a:rPr>
              <a:t>DOCTYPE</a:t>
            </a:r>
            <a:endParaRPr lang="en-US" sz="2000" b="1" dirty="0" smtClean="0">
              <a:solidFill>
                <a:schemeClr val="tx1"/>
              </a:solidFill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altLang="ru-RU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altLang="ru-RU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altLang="ru-RU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altLang="ru-RU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altLang="ru-RU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altLang="ru-RU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altLang="ru-RU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altLang="ru-RU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altLang="ru-RU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altLang="ru-RU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altLang="ru-RU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altLang="ru-RU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67360" y="497840"/>
            <a:ext cx="10920730" cy="8743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altLang="ru-RU" sz="36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С чего все начинаем</a:t>
            </a:r>
            <a:endParaRPr lang="ru-RU" altLang="ru-RU" sz="36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3" name="圆角矩形 5"/>
          <p:cNvSpPr/>
          <p:nvPr/>
        </p:nvSpPr>
        <p:spPr>
          <a:xfrm>
            <a:off x="6077585" y="1977390"/>
            <a:ext cx="5310505" cy="4496435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indent="0" algn="ctr">
              <a:buNone/>
            </a:pPr>
            <a:r>
              <a:rPr lang="ru-RU" sz="2000" b="1" dirty="0" smtClean="0">
                <a:solidFill>
                  <a:schemeClr val="tx1"/>
                </a:solidFill>
                <a:sym typeface="+mn-ea"/>
              </a:rPr>
              <a:t>2. Параметры для адаптивности</a:t>
            </a:r>
            <a:endParaRPr lang="ru-RU" sz="2000" b="1" dirty="0" smtClean="0">
              <a:solidFill>
                <a:schemeClr val="tx1"/>
              </a:solidFill>
              <a:sym typeface="+mn-ea"/>
            </a:endParaRPr>
          </a:p>
          <a:p>
            <a:pPr marL="0" indent="0" algn="ctr">
              <a:buNone/>
            </a:pPr>
            <a:endParaRPr lang="ru-RU" altLang="en-US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 algn="ctr">
              <a:buNone/>
            </a:pPr>
            <a:endParaRPr lang="ru-RU" altLang="en-US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 algn="ctr">
              <a:buNone/>
            </a:pPr>
            <a:endParaRPr lang="ru-RU" altLang="en-US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 algn="ctr">
              <a:buNone/>
            </a:pPr>
            <a:endParaRPr lang="ru-RU" altLang="en-US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 algn="ctr">
              <a:buNone/>
            </a:pPr>
            <a:endParaRPr lang="ru-RU" altLang="en-US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 algn="ctr">
              <a:buNone/>
            </a:pPr>
            <a:endParaRPr lang="ru-RU" altLang="en-US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 algn="ctr">
              <a:buNone/>
            </a:pPr>
            <a:endParaRPr lang="ru-RU" altLang="en-US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 algn="ctr">
              <a:buNone/>
            </a:pPr>
            <a:endParaRPr lang="ru-RU" altLang="en-US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 algn="ctr">
              <a:buNone/>
            </a:pPr>
            <a:endParaRPr lang="ru-RU" altLang="en-US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 algn="ctr">
              <a:buNone/>
            </a:pPr>
            <a:endParaRPr lang="ru-RU" altLang="en-US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 algn="ctr">
              <a:buNone/>
            </a:pPr>
            <a:endParaRPr lang="ru-RU" altLang="en-US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 algn="ctr">
              <a:buNone/>
            </a:pPr>
            <a:endParaRPr lang="ru-RU" altLang="en-US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pic>
        <p:nvPicPr>
          <p:cNvPr id="5" name="Объект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8710" y="3429107"/>
            <a:ext cx="2744443" cy="1601907"/>
          </a:xfrm>
          <a:prstGeom prst="rect">
            <a:avLst/>
          </a:prstGeom>
        </p:spPr>
      </p:pic>
      <p:pic>
        <p:nvPicPr>
          <p:cNvPr id="7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415" y="4183380"/>
            <a:ext cx="4474845" cy="2019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67360" y="1978025"/>
            <a:ext cx="5456555" cy="449580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ru-RU" sz="2000" b="1" dirty="0" smtClean="0">
                <a:solidFill>
                  <a:schemeClr val="tx1"/>
                </a:solidFill>
                <a:sym typeface="+mn-ea"/>
              </a:rPr>
              <a:t>3. Добавляем контейнер</a:t>
            </a:r>
            <a:endParaRPr lang="ru-RU" sz="2000" b="1" dirty="0" smtClean="0">
              <a:solidFill>
                <a:schemeClr val="tx1"/>
              </a:solidFill>
              <a:sym typeface="+mn-ea"/>
            </a:endParaRPr>
          </a:p>
          <a:p>
            <a:pPr marL="0" indent="0" algn="ctr">
              <a:buNone/>
            </a:pPr>
            <a:endParaRPr lang="en-US" altLang="ru-RU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 algn="ctr">
              <a:buNone/>
            </a:pPr>
            <a:endParaRPr lang="en-US" altLang="ru-RU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 algn="ctr">
              <a:buNone/>
            </a:pPr>
            <a:endParaRPr lang="en-US" altLang="ru-RU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 algn="ctr">
              <a:buNone/>
            </a:pPr>
            <a:endParaRPr lang="en-US" altLang="ru-RU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 algn="ctr">
              <a:buNone/>
            </a:pPr>
            <a:endParaRPr lang="en-US" altLang="ru-RU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 algn="ctr">
              <a:buNone/>
            </a:pPr>
            <a:endParaRPr lang="en-US" altLang="ru-RU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 algn="ctr">
              <a:buNone/>
            </a:pPr>
            <a:endParaRPr lang="en-US" altLang="ru-RU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 algn="ctr">
              <a:buNone/>
            </a:pPr>
            <a:endParaRPr lang="en-US" altLang="ru-RU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 algn="ctr">
              <a:buNone/>
            </a:pPr>
            <a:endParaRPr lang="en-US" altLang="ru-RU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 algn="ctr">
              <a:buNone/>
            </a:pPr>
            <a:endParaRPr lang="en-US" altLang="ru-RU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 algn="ctr">
              <a:buNone/>
            </a:pPr>
            <a:endParaRPr lang="en-US" altLang="ru-RU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 algn="ctr">
              <a:buNone/>
            </a:pPr>
            <a:endParaRPr lang="en-US" altLang="ru-RU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67360" y="497840"/>
            <a:ext cx="10920730" cy="8743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altLang="ru-RU" sz="36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С чего все начинаем</a:t>
            </a:r>
            <a:endParaRPr lang="ru-RU" altLang="ru-RU" sz="36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3" name="圆角矩形 5"/>
          <p:cNvSpPr/>
          <p:nvPr/>
        </p:nvSpPr>
        <p:spPr>
          <a:xfrm>
            <a:off x="6077585" y="1977390"/>
            <a:ext cx="5310505" cy="4496435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indent="0" algn="ctr">
              <a:buNone/>
            </a:pPr>
            <a:endParaRPr lang="ru-RU" altLang="en-US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pic>
        <p:nvPicPr>
          <p:cNvPr id="8" name="Рисунок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3684" y="3759155"/>
            <a:ext cx="3003566" cy="933540"/>
          </a:xfrm>
          <a:prstGeom prst="rect">
            <a:avLst/>
          </a:prstGeom>
        </p:spPr>
      </p:pic>
      <p:pic>
        <p:nvPicPr>
          <p:cNvPr id="9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9070" y="2825115"/>
            <a:ext cx="4408170" cy="629920"/>
          </a:xfrm>
          <a:prstGeom prst="rect">
            <a:avLst/>
          </a:prstGeom>
        </p:spPr>
      </p:pic>
      <p:pic>
        <p:nvPicPr>
          <p:cNvPr id="10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9070" y="4829810"/>
            <a:ext cx="4408805" cy="80200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67360" y="1978025"/>
            <a:ext cx="5456555" cy="449580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ru-RU" sz="2000" dirty="0" smtClean="0">
                <a:solidFill>
                  <a:schemeClr val="tx1"/>
                </a:solidFill>
                <a:sym typeface="+mn-ea"/>
              </a:rPr>
              <a:t>Обычные: классы 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.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float-right</a:t>
            </a:r>
            <a:r>
              <a:rPr lang="ru-RU" sz="2000" dirty="0" smtClean="0">
                <a:solidFill>
                  <a:schemeClr val="tx1"/>
                </a:solidFill>
                <a:sym typeface="+mn-ea"/>
              </a:rPr>
              <a:t>, 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.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float-left</a:t>
            </a:r>
            <a:r>
              <a:rPr lang="ru-RU" sz="2000" dirty="0" smtClean="0">
                <a:solidFill>
                  <a:schemeClr val="tx1"/>
                </a:solidFill>
                <a:sym typeface="+mn-ea"/>
              </a:rPr>
              <a:t>, 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.</a:t>
            </a:r>
            <a:r>
              <a:rPr lang="en-US" sz="2000" dirty="0" err="1" smtClean="0">
                <a:solidFill>
                  <a:schemeClr val="tx1"/>
                </a:solidFill>
                <a:sym typeface="+mn-ea"/>
              </a:rPr>
              <a:t>clearfix</a:t>
            </a:r>
            <a:endParaRPr lang="en-US" sz="2000" dirty="0" err="1" smtClean="0">
              <a:solidFill>
                <a:schemeClr val="tx1"/>
              </a:solidFill>
              <a:sym typeface="+mn-ea"/>
            </a:endParaRPr>
          </a:p>
          <a:p>
            <a:pPr marL="0" indent="0" algn="ctr">
              <a:buNone/>
            </a:pPr>
            <a:endParaRPr lang="en-US" sz="2000" dirty="0" err="1" smtClean="0">
              <a:solidFill>
                <a:schemeClr val="tx1"/>
              </a:solidFill>
              <a:sym typeface="+mn-ea"/>
            </a:endParaRPr>
          </a:p>
          <a:p>
            <a:pPr marL="0" indent="0" algn="ctr">
              <a:buNone/>
            </a:pPr>
            <a:endParaRPr lang="en-US" sz="2000" dirty="0" err="1" smtClean="0">
              <a:solidFill>
                <a:schemeClr val="tx1"/>
              </a:solidFill>
              <a:sym typeface="+mn-ea"/>
            </a:endParaRPr>
          </a:p>
          <a:p>
            <a:pPr marL="0" indent="0" algn="ctr">
              <a:buNone/>
            </a:pPr>
            <a:endParaRPr lang="ru-RU" sz="2000" dirty="0" smtClean="0">
              <a:solidFill>
                <a:schemeClr val="tx1"/>
              </a:solidFill>
            </a:endParaRPr>
          </a:p>
          <a:p>
            <a:pPr marL="0" indent="0" algn="ctr">
              <a:buNone/>
            </a:pPr>
            <a:endParaRPr lang="en-US" altLang="ru-RU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 algn="ctr">
              <a:buNone/>
            </a:pPr>
            <a:endParaRPr lang="en-US" altLang="ru-RU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 algn="ctr">
              <a:buNone/>
            </a:pPr>
            <a:endParaRPr lang="en-US" altLang="ru-RU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 algn="ctr">
              <a:buNone/>
            </a:pPr>
            <a:endParaRPr lang="en-US" altLang="ru-RU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 algn="ctr">
              <a:buNone/>
            </a:pPr>
            <a:endParaRPr lang="en-US" altLang="ru-RU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 algn="ctr">
              <a:buNone/>
            </a:pPr>
            <a:endParaRPr lang="en-US" altLang="ru-RU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 algn="ctr">
              <a:buNone/>
            </a:pPr>
            <a:endParaRPr lang="en-US" altLang="ru-RU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67360" y="497840"/>
            <a:ext cx="10920730" cy="8743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 sz="36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Float | Clearfix</a:t>
            </a:r>
            <a:endParaRPr lang="en-US" altLang="ru-RU" sz="36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3" name="圆角矩形 5"/>
          <p:cNvSpPr/>
          <p:nvPr/>
        </p:nvSpPr>
        <p:spPr>
          <a:xfrm>
            <a:off x="6077585" y="1977390"/>
            <a:ext cx="5310505" cy="4496435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indent="0" algn="ctr">
              <a:buNone/>
            </a:pPr>
            <a:r>
              <a:rPr lang="ru-RU" sz="2000" dirty="0" smtClean="0">
                <a:solidFill>
                  <a:schemeClr val="tx1"/>
                </a:solidFill>
                <a:sym typeface="+mn-ea"/>
              </a:rPr>
              <a:t>Условные, адаптивные: </a:t>
            </a:r>
            <a:endParaRPr lang="ru-RU" sz="2000" dirty="0" smtClean="0">
              <a:solidFill>
                <a:schemeClr val="tx1"/>
              </a:solidFill>
              <a:sym typeface="+mn-ea"/>
            </a:endParaRPr>
          </a:p>
          <a:p>
            <a:pPr marL="0" indent="0" algn="ctr">
              <a:buNone/>
            </a:pPr>
            <a:r>
              <a:rPr lang="en-US" sz="2000" dirty="0" smtClean="0">
                <a:solidFill>
                  <a:schemeClr val="tx1"/>
                </a:solidFill>
                <a:sym typeface="+mn-ea"/>
              </a:rPr>
              <a:t>.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float-</a:t>
            </a:r>
            <a:r>
              <a:rPr lang="en-US" sz="2000" dirty="0" err="1" smtClean="0">
                <a:solidFill>
                  <a:schemeClr val="tx1"/>
                </a:solidFill>
                <a:sym typeface="+mn-ea"/>
              </a:rPr>
              <a:t>sm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-right</a:t>
            </a:r>
            <a:endParaRPr lang="en-US" sz="2000" dirty="0" smtClean="0">
              <a:solidFill>
                <a:schemeClr val="tx1"/>
              </a:solidFill>
              <a:sym typeface="+mn-ea"/>
            </a:endParaRPr>
          </a:p>
          <a:p>
            <a:pPr marL="0" indent="0" algn="ctr">
              <a:buNone/>
            </a:pPr>
            <a:endParaRPr lang="en-US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chemeClr val="tx1"/>
                </a:solidFill>
                <a:sym typeface="+mn-ea"/>
              </a:rPr>
              <a:t>       </a:t>
            </a:r>
            <a:r>
              <a:rPr lang="en-US" sz="1600" dirty="0" smtClean="0">
                <a:solidFill>
                  <a:schemeClr val="tx1"/>
                </a:solidFill>
                <a:sym typeface="+mn-ea"/>
              </a:rPr>
              <a:t> </a:t>
            </a:r>
            <a:r>
              <a:rPr lang="en-US" sz="1600" dirty="0" err="1" smtClean="0">
                <a:solidFill>
                  <a:schemeClr val="tx1"/>
                </a:solidFill>
                <a:sym typeface="+mn-ea"/>
              </a:rPr>
              <a:t>sm</a:t>
            </a:r>
            <a:r>
              <a:rPr lang="en-US" sz="1600" dirty="0" smtClean="0">
                <a:solidFill>
                  <a:schemeClr val="tx1"/>
                </a:solidFill>
                <a:sym typeface="+mn-ea"/>
              </a:rPr>
              <a:t>  &gt;=576px, </a:t>
            </a:r>
            <a:r>
              <a:rPr lang="en-US" sz="1600" dirty="0">
                <a:solidFill>
                  <a:schemeClr val="tx1"/>
                </a:solidFill>
                <a:sym typeface="+mn-ea"/>
              </a:rPr>
              <a:t>md </a:t>
            </a:r>
            <a:r>
              <a:rPr lang="en-US" sz="1600" dirty="0" smtClean="0">
                <a:solidFill>
                  <a:schemeClr val="tx1"/>
                </a:solidFill>
                <a:sym typeface="+mn-ea"/>
              </a:rPr>
              <a:t> &gt;=768px, </a:t>
            </a:r>
            <a:r>
              <a:rPr lang="en-US" sz="1600" dirty="0" err="1">
                <a:solidFill>
                  <a:schemeClr val="tx1"/>
                </a:solidFill>
                <a:sym typeface="+mn-ea"/>
              </a:rPr>
              <a:t>lg</a:t>
            </a:r>
            <a:r>
              <a:rPr lang="en-US" sz="1600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sz="1600" dirty="0" smtClean="0">
                <a:solidFill>
                  <a:schemeClr val="tx1"/>
                </a:solidFill>
                <a:sym typeface="+mn-ea"/>
              </a:rPr>
              <a:t> &gt;=992px, </a:t>
            </a:r>
            <a:r>
              <a:rPr lang="en-US" sz="1600" dirty="0">
                <a:solidFill>
                  <a:schemeClr val="tx1"/>
                </a:solidFill>
                <a:sym typeface="+mn-ea"/>
              </a:rPr>
              <a:t>xl </a:t>
            </a:r>
            <a:r>
              <a:rPr lang="en-US" sz="1600" dirty="0" smtClean="0">
                <a:solidFill>
                  <a:schemeClr val="tx1"/>
                </a:solidFill>
                <a:sym typeface="+mn-ea"/>
              </a:rPr>
              <a:t> &gt;=1200px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0" indent="0" algn="ctr">
              <a:buNone/>
            </a:pPr>
            <a:endParaRPr lang="en-US" altLang="en-US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 algn="ctr">
              <a:buNone/>
            </a:pPr>
            <a:endParaRPr lang="en-US" altLang="en-US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 algn="ctr">
              <a:buNone/>
            </a:pPr>
            <a:endParaRPr lang="en-US" altLang="en-US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 algn="ctr">
              <a:buNone/>
            </a:pPr>
            <a:endParaRPr lang="en-US" altLang="en-US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 algn="ctr">
              <a:buNone/>
            </a:pPr>
            <a:endParaRPr lang="en-US" altLang="en-US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 algn="ctr">
              <a:buNone/>
            </a:pPr>
            <a:endParaRPr lang="en-US" altLang="en-US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 algn="ctr">
              <a:buNone/>
            </a:pPr>
            <a:endParaRPr lang="en-US" altLang="en-US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 algn="ctr">
              <a:buNone/>
            </a:pPr>
            <a:endParaRPr lang="en-US" altLang="en-US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110" y="4024630"/>
            <a:ext cx="4559300" cy="4013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8745" y="4182745"/>
            <a:ext cx="4502785" cy="164528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67360" y="1978025"/>
            <a:ext cx="5456555" cy="449580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2000" dirty="0" smtClean="0">
                <a:solidFill>
                  <a:schemeClr val="tx1"/>
                </a:solidFill>
                <a:sym typeface="+mn-ea"/>
              </a:rPr>
              <a:t>.w-25</a:t>
            </a:r>
            <a:r>
              <a:rPr lang="ru-RU" sz="2000" dirty="0" smtClean="0">
                <a:solidFill>
                  <a:schemeClr val="tx1"/>
                </a:solidFill>
                <a:sym typeface="+mn-ea"/>
              </a:rPr>
              <a:t> 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 </a:t>
            </a:r>
            <a:r>
              <a:rPr lang="ru-RU" sz="2000" dirty="0" smtClean="0">
                <a:solidFill>
                  <a:schemeClr val="tx1"/>
                </a:solidFill>
                <a:sym typeface="+mn-ea"/>
              </a:rPr>
              <a:t>==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 </a:t>
            </a:r>
            <a:r>
              <a:rPr lang="ru-RU" sz="2000" dirty="0" smtClean="0">
                <a:solidFill>
                  <a:schemeClr val="tx1"/>
                </a:solidFill>
                <a:sym typeface="+mn-ea"/>
              </a:rPr>
              <a:t> 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width: 25%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chemeClr val="tx1"/>
                </a:solidFill>
                <a:sym typeface="+mn-ea"/>
              </a:rPr>
              <a:t>.mw-50  ==  max-width: 50%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chemeClr val="tx1"/>
                </a:solidFill>
                <a:sym typeface="+mn-ea"/>
              </a:rPr>
              <a:t>.h-75  ==  height: 75%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chemeClr val="tx1"/>
                </a:solidFill>
                <a:sym typeface="+mn-ea"/>
              </a:rPr>
              <a:t>.mh-100  ==  max-height: 100%</a:t>
            </a:r>
            <a:endParaRPr lang="ru-RU" sz="2000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endParaRPr lang="ru-RU" altLang="ru-RU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67360" y="497840"/>
            <a:ext cx="10920730" cy="8743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altLang="ru-RU" sz="36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Шаблонные размеры</a:t>
            </a:r>
            <a:endParaRPr lang="ru-RU" altLang="ru-RU" sz="36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3" name="圆角矩形 5"/>
          <p:cNvSpPr/>
          <p:nvPr/>
        </p:nvSpPr>
        <p:spPr>
          <a:xfrm>
            <a:off x="6077585" y="1977390"/>
            <a:ext cx="5310505" cy="4496435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indent="0" algn="ctr">
              <a:buNone/>
            </a:pPr>
            <a:endParaRPr lang="en-US" altLang="en-US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pic>
        <p:nvPicPr>
          <p:cNvPr id="8" name="Рисунок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3253" y="2403857"/>
            <a:ext cx="4172532" cy="1076475"/>
          </a:xfrm>
          <a:prstGeom prst="rect">
            <a:avLst/>
          </a:prstGeom>
        </p:spPr>
      </p:pic>
      <p:pic>
        <p:nvPicPr>
          <p:cNvPr id="9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3185" y="4512310"/>
            <a:ext cx="4413250" cy="11004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67360" y="1978025"/>
            <a:ext cx="5456555" cy="449580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ru-RU" altLang="ru-RU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67360" y="497840"/>
            <a:ext cx="10920730" cy="8743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altLang="ru-RU" sz="36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Шаблонные отступы</a:t>
            </a:r>
            <a:endParaRPr lang="ru-RU" altLang="ru-RU" sz="36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3" name="圆角矩形 5"/>
          <p:cNvSpPr/>
          <p:nvPr/>
        </p:nvSpPr>
        <p:spPr>
          <a:xfrm>
            <a:off x="6077585" y="1977390"/>
            <a:ext cx="5310505" cy="4496435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indent="0" algn="ctr">
              <a:buNone/>
            </a:pPr>
            <a:endParaRPr lang="en-US" altLang="en-US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2983" y="2604100"/>
            <a:ext cx="3005586" cy="676582"/>
          </a:xfrm>
          <a:prstGeom prst="rect">
            <a:avLst/>
          </a:prstGeom>
        </p:spPr>
      </p:pic>
      <p:pic>
        <p:nvPicPr>
          <p:cNvPr id="7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714" y="4051900"/>
            <a:ext cx="4132350" cy="1663144"/>
          </a:xfrm>
          <a:prstGeom prst="rect">
            <a:avLst/>
          </a:prstGeom>
        </p:spPr>
      </p:pic>
      <p:pic>
        <p:nvPicPr>
          <p:cNvPr id="10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9245" y="2535555"/>
            <a:ext cx="4146550" cy="1516380"/>
          </a:xfrm>
          <a:prstGeom prst="rect">
            <a:avLst/>
          </a:prstGeom>
        </p:spPr>
      </p:pic>
      <p:pic>
        <p:nvPicPr>
          <p:cNvPr id="11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5368" y="5215245"/>
            <a:ext cx="4220164" cy="21910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67360" y="1978025"/>
            <a:ext cx="5456555" cy="449580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ru-RU" altLang="ru-RU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67360" y="497840"/>
            <a:ext cx="10920730" cy="8743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altLang="ru-RU" sz="36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Шаблонные границы</a:t>
            </a:r>
            <a:endParaRPr lang="ru-RU" altLang="ru-RU" sz="36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3" name="圆角矩形 5"/>
          <p:cNvSpPr/>
          <p:nvPr/>
        </p:nvSpPr>
        <p:spPr>
          <a:xfrm>
            <a:off x="6077585" y="1977390"/>
            <a:ext cx="5310505" cy="4496435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indent="0" algn="ctr">
              <a:buNone/>
            </a:pPr>
            <a:endParaRPr lang="en-US" altLang="en-US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pic>
        <p:nvPicPr>
          <p:cNvPr id="8" name="Рисунок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9123" y="2367729"/>
            <a:ext cx="3270069" cy="1060779"/>
          </a:xfrm>
          <a:prstGeom prst="rect">
            <a:avLst/>
          </a:prstGeom>
        </p:spPr>
      </p:pic>
      <p:pic>
        <p:nvPicPr>
          <p:cNvPr id="9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203" y="4246156"/>
            <a:ext cx="3089177" cy="1633080"/>
          </a:xfrm>
          <a:prstGeom prst="rect">
            <a:avLst/>
          </a:prstGeom>
        </p:spPr>
      </p:pic>
      <p:pic>
        <p:nvPicPr>
          <p:cNvPr id="12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5214" y="2522146"/>
            <a:ext cx="4734586" cy="762106"/>
          </a:xfrm>
          <a:prstGeom prst="rect">
            <a:avLst/>
          </a:prstGeom>
        </p:spPr>
      </p:pic>
      <p:pic>
        <p:nvPicPr>
          <p:cNvPr id="13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9860" y="4783455"/>
            <a:ext cx="4599940" cy="4933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67360" y="1978025"/>
            <a:ext cx="5456555" cy="449580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2000" dirty="0" smtClean="0">
                <a:solidFill>
                  <a:schemeClr val="tx1"/>
                </a:solidFill>
                <a:sym typeface="+mn-ea"/>
              </a:rPr>
              <a:t>.</a:t>
            </a:r>
            <a:r>
              <a:rPr lang="en-US" sz="2000" dirty="0" err="1" smtClean="0">
                <a:solidFill>
                  <a:schemeClr val="tx1"/>
                </a:solidFill>
                <a:sym typeface="+mn-ea"/>
              </a:rPr>
              <a:t>bg</a:t>
            </a:r>
            <a:r>
              <a:rPr lang="ru-RU" sz="2000" dirty="0" smtClean="0">
                <a:solidFill>
                  <a:schemeClr val="tx1"/>
                </a:solidFill>
                <a:sym typeface="+mn-ea"/>
              </a:rPr>
              <a:t>-*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 – </a:t>
            </a:r>
            <a:r>
              <a:rPr lang="ru-RU" sz="2000" dirty="0" smtClean="0">
                <a:solidFill>
                  <a:schemeClr val="tx1"/>
                </a:solidFill>
                <a:sym typeface="+mn-ea"/>
              </a:rPr>
              <a:t>фон, 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.text-* </a:t>
            </a:r>
            <a:r>
              <a:rPr lang="ru-RU" sz="2000" dirty="0" smtClean="0">
                <a:solidFill>
                  <a:schemeClr val="tx1"/>
                </a:solidFill>
                <a:sym typeface="+mn-ea"/>
              </a:rPr>
              <a:t>- текст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chemeClr val="tx1"/>
                </a:solidFill>
                <a:sym typeface="+mn-ea"/>
              </a:rPr>
              <a:t>*-primary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, 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*-success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, 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*-info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, 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*-warning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, 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*-danger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, 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*-secondary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, 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*-dark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, 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*-light</a:t>
            </a:r>
            <a:endParaRPr lang="ru-RU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2000" dirty="0" smtClean="0">
                <a:solidFill>
                  <a:schemeClr val="tx1"/>
                </a:solidFill>
                <a:sym typeface="+mn-ea"/>
              </a:rPr>
              <a:t>Тени: 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shadow-none</a:t>
            </a:r>
            <a:r>
              <a:rPr lang="ru-RU" sz="2000" dirty="0" smtClean="0">
                <a:solidFill>
                  <a:schemeClr val="tx1"/>
                </a:solidFill>
                <a:sym typeface="+mn-ea"/>
              </a:rPr>
              <a:t>, 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shadow-</a:t>
            </a:r>
            <a:r>
              <a:rPr lang="en-US" sz="2000" dirty="0" err="1" smtClean="0">
                <a:solidFill>
                  <a:schemeClr val="tx1"/>
                </a:solidFill>
                <a:sym typeface="+mn-ea"/>
              </a:rPr>
              <a:t>sm</a:t>
            </a:r>
            <a:r>
              <a:rPr lang="ru-RU" sz="2000" dirty="0" smtClean="0">
                <a:solidFill>
                  <a:schemeClr val="tx1"/>
                </a:solidFill>
                <a:sym typeface="+mn-ea"/>
              </a:rPr>
              <a:t>, 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shadow</a:t>
            </a:r>
            <a:r>
              <a:rPr lang="ru-RU" sz="2000" dirty="0" smtClean="0">
                <a:solidFill>
                  <a:schemeClr val="tx1"/>
                </a:solidFill>
                <a:sym typeface="+mn-ea"/>
              </a:rPr>
              <a:t>,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 shadow-</a:t>
            </a:r>
            <a:r>
              <a:rPr lang="en-US" sz="2000" dirty="0" err="1">
                <a:solidFill>
                  <a:schemeClr val="tx1"/>
                </a:solidFill>
                <a:sym typeface="+mn-ea"/>
              </a:rPr>
              <a:t>lg</a:t>
            </a:r>
            <a:endParaRPr lang="ru-RU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altLang="ru-RU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67360" y="497840"/>
            <a:ext cx="10920730" cy="8743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altLang="ru-RU" sz="36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Шаблонные цвета</a:t>
            </a:r>
            <a:endParaRPr lang="ru-RU" altLang="ru-RU" sz="36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3" name="圆角矩形 5"/>
          <p:cNvSpPr/>
          <p:nvPr/>
        </p:nvSpPr>
        <p:spPr>
          <a:xfrm>
            <a:off x="6077585" y="1977390"/>
            <a:ext cx="5310505" cy="4496435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indent="0" algn="ctr">
              <a:buNone/>
            </a:pPr>
            <a:endParaRPr lang="en-US" altLang="en-US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pic>
        <p:nvPicPr>
          <p:cNvPr id="5" name="Рисунок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0000" y="3234690"/>
            <a:ext cx="4766310" cy="18548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67360" y="1978025"/>
            <a:ext cx="5456555" cy="449580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sym typeface="+mn-ea"/>
              </a:rPr>
              <a:t>.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table-striped</a:t>
            </a:r>
            <a:r>
              <a:rPr lang="ru-RU" sz="2000" dirty="0" smtClean="0">
                <a:solidFill>
                  <a:schemeClr val="tx1"/>
                </a:solidFill>
                <a:sym typeface="+mn-ea"/>
              </a:rPr>
              <a:t>  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.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table-bordered</a:t>
            </a:r>
            <a:r>
              <a:rPr lang="ru-RU" sz="2000" dirty="0" smtClean="0">
                <a:solidFill>
                  <a:schemeClr val="tx1"/>
                </a:solidFill>
                <a:sym typeface="+mn-ea"/>
              </a:rPr>
              <a:t>   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.table-borderless</a:t>
            </a:r>
            <a:endParaRPr lang="ru-RU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chemeClr val="tx1"/>
                </a:solidFill>
                <a:sym typeface="+mn-ea"/>
              </a:rPr>
              <a:t>.table-hover</a:t>
            </a:r>
            <a:r>
              <a:rPr lang="ru-RU" sz="2000" dirty="0" smtClean="0">
                <a:solidFill>
                  <a:schemeClr val="tx1"/>
                </a:solidFill>
                <a:sym typeface="+mn-ea"/>
              </a:rPr>
              <a:t>   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.table-dark</a:t>
            </a:r>
            <a:r>
              <a:rPr lang="ru-RU" sz="2000" dirty="0" smtClean="0">
                <a:solidFill>
                  <a:schemeClr val="tx1"/>
                </a:solidFill>
                <a:sym typeface="+mn-ea"/>
              </a:rPr>
              <a:t>  </a:t>
            </a:r>
            <a:endParaRPr lang="ru-RU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chemeClr val="tx1"/>
                </a:solidFill>
                <a:sym typeface="+mn-ea"/>
              </a:rPr>
              <a:t>.table-</a:t>
            </a:r>
            <a:r>
              <a:rPr lang="ru-RU" sz="2000" dirty="0" smtClean="0">
                <a:solidFill>
                  <a:schemeClr val="tx1"/>
                </a:solidFill>
                <a:sym typeface="+mn-ea"/>
              </a:rPr>
              <a:t>*  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.</a:t>
            </a:r>
            <a:r>
              <a:rPr lang="en-US" sz="2000" dirty="0" err="1" smtClean="0">
                <a:solidFill>
                  <a:schemeClr val="tx1"/>
                </a:solidFill>
                <a:sym typeface="+mn-ea"/>
              </a:rPr>
              <a:t>thead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-</a:t>
            </a:r>
            <a:r>
              <a:rPr lang="ru-RU" sz="2000" dirty="0" smtClean="0">
                <a:solidFill>
                  <a:schemeClr val="tx1"/>
                </a:solidFill>
                <a:sym typeface="+mn-ea"/>
              </a:rPr>
              <a:t>*   (*  == 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primary, success, info, 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warning, danger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, 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active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, 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secondary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, 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light</a:t>
            </a:r>
            <a:r>
              <a:rPr lang="ru-RU" sz="2000" dirty="0" smtClean="0">
                <a:solidFill>
                  <a:schemeClr val="tx1"/>
                </a:solidFill>
                <a:sym typeface="+mn-ea"/>
              </a:rPr>
              <a:t>, 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dark</a:t>
            </a:r>
            <a:r>
              <a:rPr lang="ru-RU" sz="2000" dirty="0" smtClean="0">
                <a:solidFill>
                  <a:schemeClr val="tx1"/>
                </a:solidFill>
                <a:sym typeface="+mn-ea"/>
              </a:rPr>
              <a:t>)</a:t>
            </a:r>
            <a:endParaRPr lang="ru-RU" sz="2000" dirty="0" smtClean="0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endParaRPr lang="ru-RU" altLang="ru-RU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>
              <a:buNone/>
            </a:pPr>
            <a:endParaRPr lang="ru-RU" altLang="ru-RU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>
              <a:buNone/>
            </a:pPr>
            <a:endParaRPr lang="ru-RU" altLang="ru-RU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>
              <a:buNone/>
            </a:pPr>
            <a:endParaRPr lang="ru-RU" altLang="ru-RU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>
              <a:buNone/>
            </a:pPr>
            <a:endParaRPr lang="ru-RU" altLang="ru-RU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>
              <a:buNone/>
            </a:pPr>
            <a:endParaRPr lang="ru-RU" altLang="ru-RU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>
              <a:buNone/>
            </a:pPr>
            <a:endParaRPr lang="ru-RU" altLang="ru-RU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67360" y="497840"/>
            <a:ext cx="10920730" cy="8743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altLang="ru-RU" sz="36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Таблицы</a:t>
            </a:r>
            <a:endParaRPr lang="ru-RU" altLang="ru-RU" sz="36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3" name="圆角矩形 5"/>
          <p:cNvSpPr/>
          <p:nvPr/>
        </p:nvSpPr>
        <p:spPr>
          <a:xfrm>
            <a:off x="6077585" y="1977390"/>
            <a:ext cx="5310505" cy="4496435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indent="0" algn="ctr">
              <a:buNone/>
            </a:pPr>
            <a:r>
              <a:rPr lang="en-US" sz="2000" dirty="0">
                <a:solidFill>
                  <a:schemeClr val="tx1"/>
                </a:solidFill>
                <a:sym typeface="+mn-ea"/>
              </a:rPr>
              <a:t>.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table-responsive</a:t>
            </a:r>
            <a:r>
              <a:rPr lang="ru-RU" sz="2000" dirty="0" smtClean="0">
                <a:solidFill>
                  <a:schemeClr val="tx1"/>
                </a:solidFill>
                <a:sym typeface="+mn-ea"/>
              </a:rPr>
              <a:t>-*  (*  == пусто, </a:t>
            </a:r>
            <a:r>
              <a:rPr lang="en-US" sz="2000" dirty="0" err="1" smtClean="0">
                <a:solidFill>
                  <a:schemeClr val="tx1"/>
                </a:solidFill>
                <a:sym typeface="+mn-ea"/>
              </a:rPr>
              <a:t>sm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, md, </a:t>
            </a:r>
            <a:r>
              <a:rPr lang="en-US" sz="2000" dirty="0" err="1" smtClean="0">
                <a:solidFill>
                  <a:schemeClr val="tx1"/>
                </a:solidFill>
                <a:sym typeface="+mn-ea"/>
              </a:rPr>
              <a:t>lg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, xl)</a:t>
            </a:r>
            <a:endParaRPr lang="en-US" sz="2000" dirty="0" smtClean="0">
              <a:solidFill>
                <a:schemeClr val="tx1"/>
              </a:solidFill>
              <a:sym typeface="+mn-ea"/>
            </a:endParaRPr>
          </a:p>
          <a:p>
            <a:pPr marL="0" indent="0" algn="ctr">
              <a:buNone/>
            </a:pPr>
            <a:endParaRPr lang="en-US" altLang="en-US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 algn="ctr">
              <a:buNone/>
            </a:pPr>
            <a:endParaRPr lang="en-US" altLang="en-US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 algn="ctr">
              <a:buNone/>
            </a:pPr>
            <a:endParaRPr lang="en-US" altLang="en-US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 algn="ctr">
              <a:buNone/>
            </a:pPr>
            <a:endParaRPr lang="en-US" altLang="en-US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 algn="ctr">
              <a:buNone/>
            </a:pPr>
            <a:endParaRPr lang="en-US" altLang="en-US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 algn="ctr">
              <a:buNone/>
            </a:pPr>
            <a:endParaRPr lang="en-US" altLang="en-US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 algn="ctr">
              <a:buNone/>
            </a:pPr>
            <a:endParaRPr lang="en-US" altLang="en-US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  <a:p>
            <a:pPr marL="0" indent="0" algn="ctr">
              <a:buNone/>
            </a:pPr>
            <a:endParaRPr lang="en-US" altLang="en-US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pic>
        <p:nvPicPr>
          <p:cNvPr id="7" name="Рисунок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190" y="4360545"/>
            <a:ext cx="4366895" cy="1181100"/>
          </a:xfrm>
          <a:prstGeom prst="rect">
            <a:avLst/>
          </a:prstGeom>
        </p:spPr>
      </p:pic>
      <p:pic>
        <p:nvPicPr>
          <p:cNvPr id="8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165" y="4360545"/>
            <a:ext cx="4665345" cy="99123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67360" y="1978025"/>
            <a:ext cx="5456555" cy="449580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 smtClean="0">
                <a:solidFill>
                  <a:schemeClr val="tx1"/>
                </a:solidFill>
                <a:sym typeface="+mn-ea"/>
              </a:rPr>
              <a:t>Оформление краев: 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.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rounded</a:t>
            </a:r>
            <a:r>
              <a:rPr lang="ru-RU" sz="2000" dirty="0" smtClean="0">
                <a:solidFill>
                  <a:schemeClr val="tx1"/>
                </a:solidFill>
                <a:sym typeface="+mn-ea"/>
              </a:rPr>
              <a:t> 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.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rounded-circle</a:t>
            </a:r>
            <a:r>
              <a:rPr lang="ru-RU" sz="2000" dirty="0" smtClean="0">
                <a:solidFill>
                  <a:schemeClr val="tx1"/>
                </a:solidFill>
                <a:sym typeface="+mn-ea"/>
              </a:rPr>
              <a:t> 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.</a:t>
            </a:r>
            <a:r>
              <a:rPr lang="en-US" sz="2000" dirty="0" err="1">
                <a:solidFill>
                  <a:schemeClr val="tx1"/>
                </a:solidFill>
                <a:sym typeface="+mn-ea"/>
              </a:rPr>
              <a:t>img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-thumbnail </a:t>
            </a:r>
            <a:endParaRPr lang="en-US" sz="2000" dirty="0">
              <a:solidFill>
                <a:schemeClr val="tx1"/>
              </a:solidFill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 smtClean="0">
                <a:solidFill>
                  <a:schemeClr val="tx1"/>
                </a:solidFill>
                <a:sym typeface="+mn-ea"/>
              </a:rPr>
              <a:t>Адаптивный размер:</a:t>
            </a:r>
            <a:r>
              <a:rPr lang="ru-RU" sz="2000" dirty="0" smtClean="0">
                <a:solidFill>
                  <a:schemeClr val="tx1"/>
                </a:solidFill>
                <a:sym typeface="+mn-ea"/>
              </a:rPr>
              <a:t> .</a:t>
            </a:r>
            <a:r>
              <a:rPr lang="en-US" sz="2000" dirty="0" err="1" smtClean="0">
                <a:solidFill>
                  <a:schemeClr val="tx1"/>
                </a:solidFill>
                <a:sym typeface="+mn-ea"/>
              </a:rPr>
              <a:t>img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-fluid</a:t>
            </a:r>
            <a:endParaRPr lang="ru-RU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altLang="ru-RU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67360" y="497840"/>
            <a:ext cx="10920730" cy="8743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altLang="ru-RU" sz="36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Картинки</a:t>
            </a:r>
            <a:endParaRPr lang="ru-RU" altLang="ru-RU" sz="36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3" name="圆角矩形 5"/>
          <p:cNvSpPr/>
          <p:nvPr/>
        </p:nvSpPr>
        <p:spPr>
          <a:xfrm>
            <a:off x="6077585" y="1977390"/>
            <a:ext cx="5310505" cy="4496435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indent="0" algn="ctr">
              <a:buNone/>
            </a:pPr>
            <a:endParaRPr lang="en-US" altLang="en-US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1595" y="3579495"/>
            <a:ext cx="4642485" cy="12928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67360" y="1978025"/>
            <a:ext cx="5456555" cy="449580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sym typeface="+mn-ea"/>
              </a:rPr>
              <a:t>&lt;h1&gt; - &lt;h6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&gt;</a:t>
            </a:r>
            <a:r>
              <a:rPr lang="ru-RU" sz="2000" dirty="0">
                <a:solidFill>
                  <a:schemeClr val="tx1"/>
                </a:solidFill>
                <a:sym typeface="+mn-ea"/>
              </a:rPr>
              <a:t> </a:t>
            </a:r>
            <a:r>
              <a:rPr lang="ru-RU" sz="2000" dirty="0" smtClean="0">
                <a:solidFill>
                  <a:schemeClr val="tx1"/>
                </a:solidFill>
                <a:sym typeface="+mn-ea"/>
              </a:rPr>
              <a:t>+  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.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display-</a:t>
            </a:r>
            <a:r>
              <a:rPr lang="ru-RU" sz="2000" dirty="0" smtClean="0">
                <a:solidFill>
                  <a:schemeClr val="tx1"/>
                </a:solidFill>
                <a:sym typeface="+mn-ea"/>
              </a:rPr>
              <a:t>*  (* == 1..4)</a:t>
            </a:r>
            <a:endParaRPr lang="ru-RU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2000" dirty="0" smtClean="0">
                <a:solidFill>
                  <a:schemeClr val="tx1"/>
                </a:solidFill>
                <a:sym typeface="+mn-ea"/>
              </a:rPr>
              <a:t>Особые семантические значения текста:</a:t>
            </a:r>
            <a:endParaRPr lang="ru-RU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chemeClr val="tx1"/>
                </a:solidFill>
                <a:sym typeface="+mn-ea"/>
              </a:rPr>
              <a:t>&lt;small&gt;</a:t>
            </a:r>
            <a:r>
              <a:rPr lang="ru-RU" sz="2000" dirty="0" smtClean="0">
                <a:solidFill>
                  <a:schemeClr val="tx1"/>
                </a:solidFill>
                <a:sym typeface="+mn-ea"/>
              </a:rPr>
              <a:t>, 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&lt;mark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&gt;</a:t>
            </a:r>
            <a:r>
              <a:rPr lang="ru-RU" sz="2000" dirty="0" smtClean="0">
                <a:solidFill>
                  <a:schemeClr val="tx1"/>
                </a:solidFill>
                <a:sym typeface="+mn-ea"/>
              </a:rPr>
              <a:t>, 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&lt;</a:t>
            </a:r>
            <a:r>
              <a:rPr lang="en-US" sz="2000" dirty="0" err="1">
                <a:solidFill>
                  <a:schemeClr val="tx1"/>
                </a:solidFill>
                <a:sym typeface="+mn-ea"/>
              </a:rPr>
              <a:t>abbr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&gt;</a:t>
            </a:r>
            <a:r>
              <a:rPr lang="ru-RU" sz="2000" dirty="0" smtClean="0">
                <a:solidFill>
                  <a:schemeClr val="tx1"/>
                </a:solidFill>
                <a:sym typeface="+mn-ea"/>
              </a:rPr>
              <a:t>, 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&lt;</a:t>
            </a:r>
            <a:r>
              <a:rPr lang="en-US" sz="2000" dirty="0" err="1">
                <a:solidFill>
                  <a:schemeClr val="tx1"/>
                </a:solidFill>
                <a:sym typeface="+mn-ea"/>
              </a:rPr>
              <a:t>blockquote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&gt;</a:t>
            </a:r>
            <a:r>
              <a:rPr lang="ru-RU" sz="2000" dirty="0" smtClean="0">
                <a:solidFill>
                  <a:schemeClr val="tx1"/>
                </a:solidFill>
                <a:sym typeface="+mn-ea"/>
              </a:rPr>
              <a:t>, 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&lt;code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&gt;</a:t>
            </a:r>
            <a:r>
              <a:rPr lang="ru-RU" sz="2000" dirty="0" smtClean="0">
                <a:solidFill>
                  <a:schemeClr val="tx1"/>
                </a:solidFill>
                <a:sym typeface="+mn-ea"/>
              </a:rPr>
              <a:t>, 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&lt;</a:t>
            </a:r>
            <a:r>
              <a:rPr lang="en-US" sz="2000" dirty="0" err="1">
                <a:solidFill>
                  <a:schemeClr val="tx1"/>
                </a:solidFill>
                <a:sym typeface="+mn-ea"/>
              </a:rPr>
              <a:t>kbd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&gt;</a:t>
            </a:r>
            <a:r>
              <a:rPr lang="ru-RU" sz="2000" dirty="0" smtClean="0">
                <a:solidFill>
                  <a:schemeClr val="tx1"/>
                </a:solidFill>
                <a:sym typeface="+mn-ea"/>
              </a:rPr>
              <a:t>, 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&lt;pre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&gt;</a:t>
            </a: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ru-RU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67360" y="497840"/>
            <a:ext cx="10920730" cy="8743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altLang="ru-RU" sz="36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Типографика</a:t>
            </a:r>
            <a:endParaRPr lang="ru-RU" altLang="ru-RU" sz="36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3" name="圆角矩形 5"/>
          <p:cNvSpPr/>
          <p:nvPr/>
        </p:nvSpPr>
        <p:spPr>
          <a:xfrm>
            <a:off x="6077585" y="1977390"/>
            <a:ext cx="5310505" cy="4496435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indent="0" algn="ctr">
              <a:buNone/>
            </a:pPr>
            <a:endParaRPr lang="en-US" altLang="en-US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pic>
        <p:nvPicPr>
          <p:cNvPr id="7" name="Рисунок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6548" y="3196787"/>
            <a:ext cx="2036427" cy="2057864"/>
          </a:xfrm>
          <a:prstGeom prst="rect">
            <a:avLst/>
          </a:prstGeom>
        </p:spPr>
      </p:pic>
      <p:pic>
        <p:nvPicPr>
          <p:cNvPr id="8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6135" y="2723611"/>
            <a:ext cx="1733277" cy="300548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67360" y="1978025"/>
            <a:ext cx="5456555" cy="449580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sym typeface="+mn-ea"/>
              </a:rPr>
              <a:t>&lt;button type="button" class="</a:t>
            </a:r>
            <a:r>
              <a:rPr lang="en-US" sz="2000" dirty="0" err="1">
                <a:solidFill>
                  <a:schemeClr val="tx1"/>
                </a:solidFill>
                <a:sym typeface="+mn-ea"/>
              </a:rPr>
              <a:t>btn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sz="2000" dirty="0" err="1">
                <a:solidFill>
                  <a:schemeClr val="tx1"/>
                </a:solidFill>
                <a:sym typeface="+mn-ea"/>
              </a:rPr>
              <a:t>btn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-primary </a:t>
            </a:r>
            <a:r>
              <a:rPr lang="en-US" sz="2000" dirty="0" err="1">
                <a:solidFill>
                  <a:schemeClr val="tx1"/>
                </a:solidFill>
                <a:sym typeface="+mn-ea"/>
              </a:rPr>
              <a:t>btn-lg</a:t>
            </a:r>
            <a:r>
              <a:rPr lang="en-US" sz="2000" dirty="0">
                <a:solidFill>
                  <a:schemeClr val="tx1"/>
                </a:solidFill>
                <a:sym typeface="+mn-ea"/>
              </a:rPr>
              <a:t>"&gt;Large&lt;/button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&gt;</a:t>
            </a:r>
            <a:endParaRPr lang="ru-RU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chemeClr val="tx1"/>
                </a:solidFill>
                <a:sym typeface="+mn-ea"/>
              </a:rPr>
              <a:t>.</a:t>
            </a:r>
            <a:r>
              <a:rPr lang="en-US" sz="2000" dirty="0" err="1" smtClean="0">
                <a:solidFill>
                  <a:schemeClr val="tx1"/>
                </a:solidFill>
                <a:sym typeface="+mn-ea"/>
              </a:rPr>
              <a:t>btn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-* </a:t>
            </a:r>
            <a:r>
              <a:rPr lang="ru-RU" sz="2000" dirty="0" smtClean="0">
                <a:solidFill>
                  <a:schemeClr val="tx1"/>
                </a:solidFill>
                <a:sym typeface="+mn-ea"/>
              </a:rPr>
              <a:t>  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.</a:t>
            </a:r>
            <a:r>
              <a:rPr lang="en-US" sz="2000" dirty="0" err="1" smtClean="0">
                <a:solidFill>
                  <a:schemeClr val="tx1"/>
                </a:solidFill>
                <a:sym typeface="+mn-ea"/>
              </a:rPr>
              <a:t>btn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-outline-</a:t>
            </a:r>
            <a:r>
              <a:rPr lang="ru-RU" sz="2000" dirty="0" smtClean="0">
                <a:solidFill>
                  <a:schemeClr val="tx1"/>
                </a:solidFill>
                <a:sym typeface="+mn-ea"/>
              </a:rPr>
              <a:t>*</a:t>
            </a:r>
            <a:r>
              <a:rPr lang="en-US" sz="2000" dirty="0" smtClean="0">
                <a:solidFill>
                  <a:schemeClr val="tx1"/>
                </a:solidFill>
                <a:sym typeface="+mn-ea"/>
              </a:rPr>
              <a:t>  (* == primary, secondary, success, info, warning, …)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ru-RU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67360" y="497840"/>
            <a:ext cx="10920730" cy="8743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altLang="ru-RU" sz="36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Кнопки</a:t>
            </a:r>
            <a:endParaRPr lang="ru-RU" altLang="ru-RU" sz="36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3" name="圆角矩形 5"/>
          <p:cNvSpPr/>
          <p:nvPr/>
        </p:nvSpPr>
        <p:spPr>
          <a:xfrm>
            <a:off x="6077585" y="1977390"/>
            <a:ext cx="5310505" cy="4496435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indent="0" algn="ctr">
              <a:buNone/>
            </a:pPr>
            <a:endParaRPr lang="en-US" altLang="en-US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1000" y="2995295"/>
            <a:ext cx="4003675" cy="234315"/>
          </a:xfrm>
          <a:prstGeom prst="rect">
            <a:avLst/>
          </a:prstGeom>
        </p:spPr>
      </p:pic>
      <p:pic>
        <p:nvPicPr>
          <p:cNvPr id="9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825" y="3688715"/>
            <a:ext cx="4264025" cy="2870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67360" y="1978025"/>
            <a:ext cx="5456555" cy="449580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endParaRPr lang="en-US" altLang="ru-RU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67360" y="497840"/>
            <a:ext cx="10920730" cy="8743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altLang="ru-RU" sz="36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Формы</a:t>
            </a:r>
            <a:endParaRPr lang="ru-RU" altLang="ru-RU" sz="36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3" name="圆角矩形 5"/>
          <p:cNvSpPr/>
          <p:nvPr/>
        </p:nvSpPr>
        <p:spPr>
          <a:xfrm>
            <a:off x="6077585" y="1977390"/>
            <a:ext cx="5310505" cy="4496435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indent="0" algn="ctr">
              <a:buNone/>
            </a:pPr>
            <a:endParaRPr lang="en-US" altLang="en-US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pic>
        <p:nvPicPr>
          <p:cNvPr id="7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5855" y="2464435"/>
            <a:ext cx="5054600" cy="153797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0475" y="4709795"/>
            <a:ext cx="4784090" cy="3905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" y="3117850"/>
            <a:ext cx="4494530" cy="221678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0C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67360" y="1978025"/>
            <a:ext cx="5456555" cy="4495800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endParaRPr lang="en-US" altLang="ru-RU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67360" y="497840"/>
            <a:ext cx="10920730" cy="87439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altLang="ru-RU" sz="36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  <a:t>Поля ввода</a:t>
            </a:r>
            <a:endParaRPr lang="ru-RU" altLang="ru-RU" sz="36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3" name="圆角矩形 5"/>
          <p:cNvSpPr/>
          <p:nvPr/>
        </p:nvSpPr>
        <p:spPr>
          <a:xfrm>
            <a:off x="6077585" y="1977390"/>
            <a:ext cx="5310505" cy="4496435"/>
          </a:xfrm>
          <a:prstGeom prst="roundRect">
            <a:avLst>
              <a:gd name="adj" fmla="val 80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indent="0" algn="ctr">
              <a:buNone/>
            </a:pPr>
            <a:endParaRPr lang="en-US" altLang="en-US" sz="2000" b="1" dirty="0" smtClean="0">
              <a:solidFill>
                <a:schemeClr val="tx1"/>
              </a:solidFill>
              <a:ea typeface="Calibri" panose="020F0502020204030204" charset="0"/>
              <a:cs typeface="+mn-lt"/>
              <a:sym typeface="+mn-ea"/>
            </a:endParaRPr>
          </a:p>
        </p:txBody>
      </p:sp>
      <p:pic>
        <p:nvPicPr>
          <p:cNvPr id="9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890" y="2794635"/>
            <a:ext cx="4087495" cy="344170"/>
          </a:xfrm>
          <a:prstGeom prst="rect">
            <a:avLst/>
          </a:prstGeom>
        </p:spPr>
      </p:pic>
      <p:pic>
        <p:nvPicPr>
          <p:cNvPr id="10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45" y="4441190"/>
            <a:ext cx="4351020" cy="857885"/>
          </a:xfrm>
          <a:prstGeom prst="rect">
            <a:avLst/>
          </a:prstGeom>
        </p:spPr>
      </p:pic>
      <p:pic>
        <p:nvPicPr>
          <p:cNvPr id="11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7820" y="3038279"/>
            <a:ext cx="2981741" cy="390580"/>
          </a:xfrm>
          <a:prstGeom prst="rect">
            <a:avLst/>
          </a:prstGeom>
        </p:spPr>
      </p:pic>
      <p:pic>
        <p:nvPicPr>
          <p:cNvPr id="12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0387" y="3716585"/>
            <a:ext cx="2943636" cy="390580"/>
          </a:xfrm>
          <a:prstGeom prst="rect">
            <a:avLst/>
          </a:prstGeom>
        </p:spPr>
      </p:pic>
      <p:pic>
        <p:nvPicPr>
          <p:cNvPr id="13" name="Рисунок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385" y="4728845"/>
            <a:ext cx="4701540" cy="8699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Изображение 10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325495" y="2335530"/>
            <a:ext cx="5541010" cy="3111500"/>
          </a:xfrm>
          <a:prstGeom prst="rect">
            <a:avLst/>
          </a:prstGeom>
        </p:spPr>
      </p:pic>
      <p:sp>
        <p:nvSpPr>
          <p:cNvPr id="2" name="Title 20"/>
          <p:cNvSpPr txBox="1"/>
          <p:nvPr/>
        </p:nvSpPr>
        <p:spPr>
          <a:xfrm>
            <a:off x="3220720" y="335598"/>
            <a:ext cx="5750560" cy="430530"/>
          </a:xfrm>
          <a:prstGeom prst="rect">
            <a:avLst/>
          </a:prstGeom>
        </p:spPr>
        <p:txBody>
          <a:bodyPr vert="horz" wrap="square" lIns="45720" tIns="0" rIns="45720" bIns="0" rtlCol="0" anchor="ctr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2900" kern="1200">
                <a:solidFill>
                  <a:schemeClr val="accent6"/>
                </a:solidFill>
                <a:latin typeface="Source Sans Pro ExtraLight"/>
                <a:ea typeface="+mj-ea"/>
                <a:cs typeface="Source Sans Pro ExtraLight"/>
              </a:defRPr>
            </a:lvl1pPr>
          </a:lstStyle>
          <a:p>
            <a:pPr algn="dist" defTabSz="228600"/>
            <a:r>
              <a:rPr lang="ru-RU" altLang="zh-CN" sz="2800" b="1" dirty="0" smtClean="0">
                <a:solidFill>
                  <a:schemeClr val="tx1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Дополнительная литература</a:t>
            </a:r>
            <a:endParaRPr lang="ru-RU" altLang="zh-CN" sz="2800" b="1" dirty="0" smtClean="0">
              <a:solidFill>
                <a:schemeClr val="tx1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6" name="组合 5"/>
          <p:cNvGrpSpPr/>
          <p:nvPr>
            <p:custDataLst>
              <p:tags r:id="rId3"/>
            </p:custDataLst>
          </p:nvPr>
        </p:nvGrpSpPr>
        <p:grpSpPr>
          <a:xfrm>
            <a:off x="272956" y="1759926"/>
            <a:ext cx="11645454" cy="4477101"/>
            <a:chOff x="382137" y="1759926"/>
            <a:chExt cx="11645454" cy="4477101"/>
          </a:xfrm>
        </p:grpSpPr>
        <p:sp>
          <p:nvSpPr>
            <p:cNvPr id="4" name="矩形 3"/>
            <p:cNvSpPr/>
            <p:nvPr>
              <p:custDataLst>
                <p:tags r:id="rId4"/>
              </p:custDataLst>
            </p:nvPr>
          </p:nvSpPr>
          <p:spPr>
            <a:xfrm>
              <a:off x="382137" y="1760561"/>
              <a:ext cx="3346854" cy="4476466"/>
            </a:xfrm>
            <a:prstGeom prst="rect">
              <a:avLst/>
            </a:prstGeom>
            <a:solidFill>
              <a:srgbClr val="B0CF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5" name="矩形 4"/>
            <p:cNvSpPr/>
            <p:nvPr>
              <p:custDataLst>
                <p:tags r:id="rId5"/>
              </p:custDataLst>
            </p:nvPr>
          </p:nvSpPr>
          <p:spPr>
            <a:xfrm>
              <a:off x="8680737" y="1759926"/>
              <a:ext cx="3346854" cy="4476466"/>
            </a:xfrm>
            <a:prstGeom prst="rect">
              <a:avLst/>
            </a:prstGeom>
            <a:solidFill>
              <a:srgbClr val="F3D3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7" name="TextBox 1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73050" y="3740150"/>
            <a:ext cx="3347720" cy="275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icrosoft YaHei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icrosoft YaHei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icrosoft YaHei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icrosoft YaHei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icrosoft YaHei" panose="020B050302020402020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Microsoft YaHei" panose="020B050302020402020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Microsoft YaHei" panose="020B050302020402020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Microsoft YaHei" panose="020B050302020402020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Microsoft YaHei" panose="020B0503020204020204" charset="-122"/>
              </a:defRPr>
            </a:lvl9pPr>
          </a:lstStyle>
          <a:p>
            <a:pPr marL="0" indent="0" algn="ctr">
              <a:buNone/>
            </a:pPr>
            <a:r>
              <a:rPr lang="ru-RU" sz="1200" dirty="0" smtClean="0">
                <a:sym typeface="+mn-ea"/>
              </a:rPr>
              <a:t>1. </a:t>
            </a:r>
            <a:r>
              <a:rPr lang="ru-RU" sz="1200" dirty="0" smtClean="0">
                <a:sym typeface="+mn-ea"/>
                <a:hlinkClick r:id="rId7"/>
              </a:rPr>
              <a:t> </a:t>
            </a:r>
            <a:r>
              <a:rPr lang="en-US" sz="1200" dirty="0">
                <a:sym typeface="+mn-ea"/>
                <a:hlinkClick r:id="rId7"/>
              </a:rPr>
              <a:t>https://www.w3schools.com/bootstrap4/ </a:t>
            </a:r>
            <a:endParaRPr lang="en-US" altLang="ru-RU" sz="1200" dirty="0">
              <a:ea typeface="Calibri" panose="020F0502020204030204" charset="0"/>
              <a:cs typeface="Calibri" panose="020F0502020204030204" charset="0"/>
              <a:sym typeface="+mn-ea"/>
              <a:hlinkClick r:id="rId7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662" y="2335780"/>
            <a:ext cx="892464" cy="892464"/>
          </a:xfrm>
          <a:prstGeom prst="rect">
            <a:avLst/>
          </a:prstGeom>
        </p:spPr>
      </p:pic>
      <p:sp>
        <p:nvSpPr>
          <p:cNvPr id="9" name="TextBox 15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8571865" y="3740150"/>
            <a:ext cx="3346450" cy="41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icrosoft YaHei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icrosoft YaHei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icrosoft YaHei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icrosoft YaHei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icrosoft YaHei" panose="020B050302020402020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Microsoft YaHei" panose="020B050302020402020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Microsoft YaHei" panose="020B050302020402020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Microsoft YaHei" panose="020B050302020402020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Microsoft YaHei" panose="020B0503020204020204" charset="-122"/>
              </a:defRPr>
            </a:lvl9pPr>
          </a:lstStyle>
          <a:p>
            <a:pPr marL="342900" indent="-342900" algn="ctr" eaLnBrk="1" hangingPunct="1">
              <a:lnSpc>
                <a:spcPct val="150000"/>
              </a:lnSpc>
              <a:buAutoNum type="arabicPeriod"/>
            </a:pPr>
            <a:r>
              <a:rPr lang="en-US" sz="1400" dirty="0" smtClean="0">
                <a:sym typeface="+mn-ea"/>
                <a:hlinkClick r:id="rId7"/>
              </a:rPr>
              <a:t>https://getbootstrap.com/</a:t>
            </a:r>
            <a:endParaRPr lang="en-US" altLang="ru-RU" sz="1400" dirty="0" smtClean="0">
              <a:ea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875" y="2335577"/>
            <a:ext cx="892464" cy="892464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52.4776377952756,&quot;left&quot;:21.492598425196853,&quot;top&quot;:138.62685039370078,&quot;width&quot;:917.0148818897638}"/>
</p:tagLst>
</file>

<file path=ppt/tags/tag2.xml><?xml version="1.0" encoding="utf-8"?>
<p:tagLst xmlns:p="http://schemas.openxmlformats.org/presentationml/2006/main">
  <p:tag name="KSO_WM_DIAGRAM_VIRTUALLY_FRAME" val="{&quot;height&quot;:352.4776377952756,&quot;left&quot;:21.492598425196853,&quot;top&quot;:138.62685039370078,&quot;width&quot;:917.0148818897638}"/>
</p:tagLst>
</file>

<file path=ppt/tags/tag3.xml><?xml version="1.0" encoding="utf-8"?>
<p:tagLst xmlns:p="http://schemas.openxmlformats.org/presentationml/2006/main">
  <p:tag name="KSO_WM_DIAGRAM_VIRTUALLY_FRAME" val="{&quot;height&quot;:352.4776377952756,&quot;left&quot;:21.492598425196853,&quot;top&quot;:138.62685039370078,&quot;width&quot;:917.0148818897638}"/>
</p:tagLst>
</file>

<file path=ppt/tags/tag4.xml><?xml version="1.0" encoding="utf-8"?>
<p:tagLst xmlns:p="http://schemas.openxmlformats.org/presentationml/2006/main">
  <p:tag name="KSO_WM_DIAGRAM_VIRTUALLY_FRAME" val="{&quot;height&quot;:352.4776377952756,&quot;left&quot;:21.492598425196853,&quot;top&quot;:138.62685039370078,&quot;width&quot;:917.0148818897638}"/>
</p:tagLst>
</file>

<file path=ppt/tags/tag5.xml><?xml version="1.0" encoding="utf-8"?>
<p:tagLst xmlns:p="http://schemas.openxmlformats.org/presentationml/2006/main">
  <p:tag name="KSO_WM_DIAGRAM_VIRTUALLY_FRAME" val="{&quot;height&quot;:352.4776377952756,&quot;left&quot;:21.492598425196853,&quot;top&quot;:138.62685039370078,&quot;width&quot;:917.0148818897638}"/>
</p:tagLst>
</file>

<file path=ppt/tags/tag6.xml><?xml version="1.0" encoding="utf-8"?>
<p:tagLst xmlns:p="http://schemas.openxmlformats.org/presentationml/2006/main">
  <p:tag name="KSO_WM_DIAGRAM_VIRTUALLY_FRAME" val="{&quot;height&quot;:352.4776377952756,&quot;left&quot;:21.492598425196853,&quot;top&quot;:138.62685039370078,&quot;width&quot;:917.0148818897638}"/>
</p:tagLst>
</file>

<file path=ppt/tags/tag7.xml><?xml version="1.0" encoding="utf-8"?>
<p:tagLst xmlns:p="http://schemas.openxmlformats.org/presentationml/2006/main">
  <p:tag name="KSO_WM_DIAGRAM_VIRTUALLY_FRAME" val="{&quot;height&quot;:352.4776377952756,&quot;left&quot;:21.492598425196853,&quot;top&quot;:138.62685039370078,&quot;width&quot;:917.0148818897638}"/>
</p:tagLst>
</file>

<file path=ppt/tags/tag8.xml><?xml version="1.0" encoding="utf-8"?>
<p:tagLst xmlns:p="http://schemas.openxmlformats.org/presentationml/2006/main">
  <p:tag name="KSO_WM_DIAGRAM_VIRTUALLY_FRAME" val="{&quot;height&quot;:352.4776377952756,&quot;left&quot;:21.492598425196853,&quot;top&quot;:138.62685039370078,&quot;width&quot;:917.014881889763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2179</Words>
  <Application>WPS Presentation</Application>
  <PresentationFormat>宽屏</PresentationFormat>
  <Paragraphs>201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Source Sans Pro ExtraLight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AvtoBBus</cp:lastModifiedBy>
  <cp:revision>114</cp:revision>
  <dcterms:created xsi:type="dcterms:W3CDTF">2025-07-23T00:59:00Z</dcterms:created>
  <dcterms:modified xsi:type="dcterms:W3CDTF">2025-12-15T07:21:09Z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1049-12.2.0.23155</vt:lpwstr>
  </property>
  <property fmtid="{D5CDD505-2E9C-101B-9397-08002B2CF9AE}" pid="3" name="ICV">
    <vt:lpwstr>4F1AE8E347154247878AA3D633F7AFCB_13</vt:lpwstr>
  </property>
</Properties>
</file>